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56C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CONSULTZ  //  LEGAL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Legal Matter Intelligence Command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a filed complaint to a partner-ready litigation strategy the same day — exposure, precedent, and deadline risk assessed before opposing counsel even responds.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CONSULTZ  //  ENTERPRISE LAB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C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100" kern="0" dirty="0">
                <a:solidFill>
                  <a:srgbClr val="8CA0A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ACTIVE MATTERS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54680" y="5120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C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$28.4M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154680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100" kern="0" dirty="0">
                <a:solidFill>
                  <a:srgbClr val="8CA0A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TOTAL EXPOSURE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0" y="5120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C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69280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100" kern="0" dirty="0">
                <a:solidFill>
                  <a:srgbClr val="8CA0A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HIGH-RISK MATTERS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83880" y="5120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C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78%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183880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100" kern="0" dirty="0">
                <a:solidFill>
                  <a:srgbClr val="8CA0A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CASE SUCCESS RATE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 new matter can sit on an associate's desk for days before anyone above them knows the exposure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Six specialist reviews — exposure, precedent, statute of limitations, jurisdiction risk, and more — normally happen one at a time, by hand, before a partner ever sees the numbers.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10789920" cy="761238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60904"/>
            <a:ext cx="82296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2697480"/>
            <a:ext cx="32918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First read is a full day of associate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697480"/>
            <a:ext cx="60350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Reading a complaint end to end, then researching precedent and exposure separately, is what a first-year associate spends a full day assembling — for every new matter.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86734"/>
            <a:ext cx="10789920" cy="761238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86734"/>
            <a:ext cx="82296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3623310"/>
            <a:ext cx="32918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Deadlines get calculated, not confirmed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3623310"/>
            <a:ext cx="60350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Statute-of-limitations and discovery deadlines are sometimes estimated from “typical” windows instead of the date actually stated in the source document — a malpractice exposure risk, not just an inconvenience.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12564"/>
            <a:ext cx="10789920" cy="761238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12564"/>
            <a:ext cx="82296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4549140"/>
            <a:ext cx="32918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Settlement authority requests arrive without context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4549140"/>
            <a:ext cx="60350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partner sees a dollar figure request without the underlying exposure math, precedent, or counterclaim risk that produced 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438394"/>
            <a:ext cx="10789920" cy="761238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438394"/>
            <a:ext cx="82296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5474970"/>
            <a:ext cx="32918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Portfolio-level exposure is invisible until asked for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5474970"/>
            <a:ext cx="60350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$28.4M in current exposure across 412 active matters exists only as a number someone has to manually roll up — not a live view.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LEGAL  //  02 —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CASE WALKTHROUGH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MARTINEZ ET AL. V. PACIFIC LOGISTICS CORP.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Wage &amp; Hour Class Action — 340 Plaintiffs, $8.4M Claimed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Filed May 15, 2026, Superior Court of California, Los Angeles County — the kind of matter that needs a strategy in front of a partner before mediation, not after.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CAUSE OF ACTION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8529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4D6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Wage &amp; Hour (FLSA + CA Labor Code)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246888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DAMAGES CLAIMED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46120" y="28529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$8.4M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DISCOVERY DEADLINE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41330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C25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September 1, 2026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374904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MEDIATION DATE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46120" y="41330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C25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August 15, 2026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38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SETTLEMENT AUTHORITY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54132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$2.1M (counsel rec.)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502920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5138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PLAINTIFFS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46120" y="54132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340 current/former employees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2468880"/>
            <a:ext cx="5699455" cy="3840480"/>
          </a:xfrm>
          <a:prstGeom prst="rect">
            <a:avLst/>
          </a:prstGeom>
          <a:solidFill>
            <a:srgbClr val="0A1520"/>
          </a:solidFill>
          <a:ln w="12700">
            <a:solidFill>
              <a:srgbClr val="B56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65176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NOTES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72200" y="3017520"/>
            <a:ext cx="52422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 alleged violations: unpaid overtime (CA Labor Code §510), missed meal periods on 5+ hour shifts, denied rest breaks on 3.5+ hour shifts, wage-statement deficiencies (§226), and waiting-time penalties on final wages.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deadline shown here is the date stated in the complaint itself — never calculated or estimated from a “typical” window. If a date isn't stated in the source document, the engine flags it as NOT STATED rather than guessing one.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LEGAL  //  03 —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THE ENGINES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Six engines fire the moment a matter is loaded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click, and every specialist review runs simultaneously — not sequentially, and not only when an associate gets to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76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60604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Exposure Analysis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306324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Quantifies total exposure — claimed damages, counterclaim risk, and estimated defense costs — for every open matter.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21480" y="214884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6072" y="2276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6072" y="260604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Precedent Research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86072" y="306324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Surfaces comparable rulings and settlement outcomes relevant to the cause of action and jurisdiction.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94320" y="214884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58912" y="2276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58912" y="260604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Statute of Limitations Check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58912" y="306324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Confirms filing and discovery deadlines against the source document only — never calculates or infers one from a standard window.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4714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480060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Jurisdiction Risk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3232" y="525780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Flags venue-specific exposure — e.g. California wage-and-hour claims carry different penalty structures than federal FLSA alone.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21480" y="434340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6072" y="44714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6072" y="480060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Settlement Authority Modeling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386072" y="525780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Compares requested settlement authority against modeled trial cost, so a partner sees the trade-off, not just a number.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94320" y="434340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58912" y="44714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58912" y="480060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Honesty Guard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058912" y="525780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Any missing or pending document is listed as a still-needed action, never treated as resolved — the same standard applied across every engine call.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LEGAL  //  04 —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412 active matters, by practice group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Litigation carries the deepest bench of open matters; Regulatory carries the fewest but the highest per-matter exposure.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32004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Litigation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440076"/>
            <a:ext cx="6035040" cy="457657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2440076"/>
            <a:ext cx="6035040" cy="457657"/>
          </a:xfrm>
          <a:prstGeom prst="rect">
            <a:avLst/>
          </a:prstGeom>
          <a:solidFill>
            <a:srgbClr val="B56C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0" y="2148840"/>
            <a:ext cx="14630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210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88970"/>
            <a:ext cx="32004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Employment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3480206"/>
            <a:ext cx="6035040" cy="457657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0" y="3480206"/>
            <a:ext cx="2816352" cy="457657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149840" y="3188970"/>
            <a:ext cx="14630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98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29100"/>
            <a:ext cx="32004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Contract / Vendor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4520336"/>
            <a:ext cx="6035040" cy="457657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520336"/>
            <a:ext cx="2528969" cy="457657"/>
          </a:xfrm>
          <a:prstGeom prst="rect">
            <a:avLst/>
          </a:prstGeom>
          <a:solidFill>
            <a:srgbClr val="E8C25A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0" y="4229100"/>
            <a:ext cx="14630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25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88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269230"/>
            <a:ext cx="32004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Regulatory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31920" y="5560466"/>
            <a:ext cx="6035040" cy="457657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25" name="Shape 23"/>
          <p:cNvSpPr/>
          <p:nvPr/>
        </p:nvSpPr>
        <p:spPr>
          <a:xfrm>
            <a:off x="3931920" y="5560466"/>
            <a:ext cx="459813" cy="457657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9840" y="5269230"/>
            <a:ext cx="14630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LEGAL  //  05 —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FINANCIAL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What sits behind the portfolio number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$28.4M isn't one figure — it's four live matters at very different stages, each with its own settlement math.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868680"/>
            <a:ext cx="4114800" cy="1737360"/>
          </a:xfrm>
          <a:prstGeom prst="rect">
            <a:avLst/>
          </a:prstGeom>
          <a:solidFill>
            <a:srgbClr val="111922"/>
          </a:solidFill>
          <a:ln w="12700">
            <a:solidFill>
              <a:srgbClr val="B56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TOTAL PORTFOLIO EXPOSURE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52360" y="1325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$28,400,000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Martinez v. Pacific Logistics — wage &amp; hour class action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89520" y="2880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$8.4M claimed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74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Pacific Systems v. Meridian Technology — breach of contract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$6.1M + $800K counterclaim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69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Tri-State Financial — CFPB / AZ AG regulatory inquiry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$5.2M penalty risk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63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Williams v. HealthSystems Corp. — EEOC wrongful termination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0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$850K settlement ask vs. $2.1M trial cost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257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Estimated defense costs, Meridian matter alone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89520" y="5257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$400,000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C707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Figures reflect counsel's own damages claims, counterclaims, and settlement-authority requests as stated in each matter's source documents.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LEGAL  //  06 —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COMPLIANCE &amp; EXCEPTIONS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Four matters, four different clocks running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deadline shown is a date stated in the source document — nothing here is a calculated estimate.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0789920" cy="893826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94560"/>
            <a:ext cx="73152" cy="89382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194560"/>
            <a:ext cx="1554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MARTINEZ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274320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Discovery Deadline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2194560"/>
            <a:ext cx="484632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Discovery cutoff September 1, 2026; mediation scheduled August 15, 2026. $2.1M settlement authority requested.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195560" y="2194560"/>
            <a:ext cx="105156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234690"/>
            <a:ext cx="10789920" cy="893826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34690"/>
            <a:ext cx="73152" cy="89382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234690"/>
            <a:ext cx="1554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TRI-STATE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68880" y="3234690"/>
            <a:ext cx="274320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Regulatory Response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3234690"/>
            <a:ext cx="484632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CFPB / AZ AG joint inquiry — 45-day response window, due July 15, 2026. Executive signature required within 48 hours of drafting.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95560" y="3234690"/>
            <a:ext cx="105156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274820"/>
            <a:ext cx="10789920" cy="893826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74820"/>
            <a:ext cx="73152" cy="893826"/>
          </a:xfrm>
          <a:prstGeom prst="rect">
            <a:avLst/>
          </a:prstGeom>
          <a:solidFill>
            <a:srgbClr val="E8C25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74820"/>
            <a:ext cx="1554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C25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WILLIAMS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68880" y="4274820"/>
            <a:ext cx="274320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EEOC Mediation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4274820"/>
            <a:ext cx="484632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EEOC mediation offered, response due June 30, 2026. Strong paper trail and documented pay gap noted as litigation risk.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195560" y="4274820"/>
            <a:ext cx="105156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C25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MEDIUM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314950"/>
            <a:ext cx="10789920" cy="893826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14950"/>
            <a:ext cx="73152" cy="893826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314950"/>
            <a:ext cx="1554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DC84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MERIDIAN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68880" y="5314950"/>
            <a:ext cx="274320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Early Resolution Window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5314950"/>
            <a:ext cx="484632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Mediation scheduled July 10, 2026 — flagged as an early resolution pathway rather than a risk.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195560" y="5314950"/>
            <a:ext cx="105156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DDC84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LEGAL  //  07 —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ESCALATION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From filed complaint to partner-ready strategy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fully-reasoned litigation strategy reaches a partner the same day a complaint is filed — with nothing re-typed along the way.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2526030" cy="329184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6888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88036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Legal War Room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225171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 matter loaded; all six engines fire at once with exposure, precedent, and deadline findings side by side.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92958" y="374904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6C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03270" y="2331720"/>
            <a:ext cx="2526030" cy="329184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0430" y="246888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40430" y="288036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Case Strategist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40430" y="3566160"/>
            <a:ext cx="225171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Synthesizes every engine finding into an actual litigation strategy — not a checklist of separate outputs.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47588" y="374904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6C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57900" y="2331720"/>
            <a:ext cx="2526030" cy="329184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5060" y="246888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5060" y="288036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Chief Strategist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95060" y="3566160"/>
            <a:ext cx="225171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One-click escalation to the partner-level view, full reasoning intact, nothing re-summarized from scratch.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02218" y="374904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6C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812530" y="2331720"/>
            <a:ext cx="2526030" cy="329184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9690" y="246888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49690" y="288036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Executive Portal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949690" y="3566160"/>
            <a:ext cx="225171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litigation exposure across every open matter, live — not a number the managing partner has to ask for.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LEGAL  //  08 —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EXECUTIVE PORTAL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Portfolio Command — real-time legal intelligence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same view the managing partner sees, live — no rollup requested, none manually assembled.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5059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ACTIVE MATTERS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412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37261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Litigation · Employment · Regulatory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21480" y="228600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4360" y="245059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TOTAL EXPOSURE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04360" y="278892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D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$28.4M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04360" y="37261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Current legal exposure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94320" y="228600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7200" y="245059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SETTLEMENT PIPELINE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7200" y="278892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84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73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077200" y="37261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Active opportunities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41198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57657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HIGH-RISK MATTERS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9149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25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585216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Executive visibility required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21480" y="441198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4360" y="457657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CASE SUCCESS 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04360" y="49149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84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78%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404360" y="585216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Portfolio weighted avg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94320" y="441198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77200" y="457657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REGULATORY CASES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7200" y="49149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D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077200" y="585216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Active investigations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LEGAL  //  09 —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Bring this to your own matter portfolio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Same six-engine model, wired to your matter management system.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3413760" cy="41148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7744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WAR ROOM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Pilot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3048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Matter intake + 6-engine analysis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Statute / deadline confirmation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Single practice group rollout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36720" y="2194560"/>
            <a:ext cx="3413760" cy="4114800"/>
          </a:xfrm>
          <a:prstGeom prst="rect">
            <a:avLst/>
          </a:prstGeom>
          <a:solidFill>
            <a:srgbClr val="0F1B12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9600" y="237744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DDC84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WAR ROOM + EXECUTIVE PORTAL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19600" y="278892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Standard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19600" y="3429000"/>
            <a:ext cx="3048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Everything in War Room Only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portfolio exposure for partners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Settlement authority modeling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Firm-wide rollout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24800" y="2194560"/>
            <a:ext cx="3413760" cy="41148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7680" y="237744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FULL ENTERPRISE LAB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07680" y="278892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Custom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07680" y="3429000"/>
            <a:ext cx="3048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Everything in Standard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Matter-management-system integration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 jurisdiction + practice-group configuration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Cross-vertical rollout (Legal + Insurance + Real Estate)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LEGAL  //  10 —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56C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56C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CONSULTZ  //  LEGAL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 litigation strategy the day the complaint lands — not weeks later.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TSM Consultz brings the same command-center model already live for Real Estate, Insurance, and Mortgage to your legal department.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3291840" cy="640080"/>
          </a:xfrm>
          <a:prstGeom prst="rect">
            <a:avLst/>
          </a:prstGeom>
          <a:solidFill>
            <a:srgbClr val="B56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00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LET'S TALK EXPOSURE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TSM Consultz — Legal Matter Intelligence Command</dc:title>
  <dc:subject>PptxGenJS Presentation</dc:subject>
  <dc:creator>TSM Consultz LLC</dc:creator>
  <cp:lastModifiedBy>TSM Consultz LLC</cp:lastModifiedBy>
  <cp:revision>1</cp:revision>
  <dcterms:created xsi:type="dcterms:W3CDTF">2026-08-22T16:07:33Z</dcterms:created>
  <dcterms:modified xsi:type="dcterms:W3CDTF">2026-08-22T16:07:33Z</dcterms:modified>
</cp:coreProperties>
</file>