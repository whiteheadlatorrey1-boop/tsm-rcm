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pic>
        <p:nvPicPr>
          <p:cNvPr id="16" name="Image 0" descr="/home/claude/work/gen/icons_out/FaHome_00D4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3444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INTELLIGENCE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18745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Purchase Agreement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to Closing-Ready Decision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658368" y="3794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Six AI engines take a purchase agreement, appraisal, or loan file from raw document to a ranked executive dispatch — in under 90 seconds.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006840" y="19659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1" name="Image 1" descr="/home/claude/work/gen/icons_out/FaExclamationTriangle_F070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836" y="2212848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006840" y="26791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LEFT ON THE TABLE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9006840" y="2880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703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$250K–$900K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914400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 year, avg. brokerage — blown deals, appraisal gaps, TRID fines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235440" y="3931920"/>
            <a:ext cx="2148840" cy="0"/>
          </a:xfrm>
          <a:prstGeom prst="line">
            <a:avLst/>
          </a:prstGeom>
          <a:noFill/>
          <a:ln w="12700">
            <a:solidFill>
              <a:srgbClr val="18243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006840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8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90 sec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9144000" y="44531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avg. time to a full 6-engine assessment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21792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Prospect walkthrough  ·  synthetic case data  ·  live engine demo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INTELLIGENCE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Risk hides in the file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until the deal is dead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21792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19" name="Image 0" descr="/home/claude/work/gen/icons_out/FaSearchDollar_F070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65176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77824" y="32918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Appraisal gaps kill contracts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77824" y="393192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Value comes in below contract price and the clock on the buyer’s decision starts immediately.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456432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3" name="Image 1" descr="/home/claude/work/gen/icons_out/FaBalanceScale_F03A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65176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12464" y="32918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TRID / RESPA exposure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3712464" y="393192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Disclosure timing and fee-tolerance violations sit undetected until a compliance audit.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291072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7" name="Image 2" descr="/home/claude/work/gen/icons_out/FaClipboardList_F4A8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65176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547104" y="32918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Underwriting conditions stall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547104" y="393192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Loan conditions pile up in inboxes while closing dates keep slipping.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9125712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31" name="Image 3" descr="/home/claude/work/gen/icons_out/FaKey_9A70F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2651760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381744" y="32918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Title defects surface late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381744" y="393192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Liens, easements, and ownership gaps appear days before a scheduled closing.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INTELLIGENCE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LIVE WALKTHROUGH CASE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121 Maple Street, Phoenix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Synthetic prospect scenario — mid-size brokerage, active pipeline, disputed appraisal gap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1874520"/>
            <a:ext cx="2395728" cy="1234440"/>
          </a:xfrm>
          <a:prstGeom prst="roundRect">
            <a:avLst>
              <a:gd name="adj" fmla="val 592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0116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68/100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8952" y="249631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RISK SCORE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58952" y="274320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elevated — act this week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27832" y="1874520"/>
            <a:ext cx="2395728" cy="1234440"/>
          </a:xfrm>
          <a:prstGeom prst="roundRect">
            <a:avLst>
              <a:gd name="adj" fmla="val 592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0116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703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$34.0K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364992" y="249631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APPRAISAL GAP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64992" y="274320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value below contract price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33872" y="1874520"/>
            <a:ext cx="2395728" cy="1234440"/>
          </a:xfrm>
          <a:prstGeom prst="roundRect">
            <a:avLst>
              <a:gd name="adj" fmla="val 592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71032" y="20116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3A3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 flags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971032" y="249631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TRID / COMPLIANCE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971032" y="274320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disclosure timing review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439912" y="1874520"/>
            <a:ext cx="2395728" cy="1234440"/>
          </a:xfrm>
          <a:prstGeom prst="roundRect">
            <a:avLst>
              <a:gd name="adj" fmla="val 592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77072" y="20116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B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14 days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577072" y="249631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CLOSE DATE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577072" y="274320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contract closing window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792" y="3429000"/>
            <a:ext cx="10213848" cy="2514600"/>
          </a:xfrm>
          <a:prstGeom prst="roundRect">
            <a:avLst>
              <a:gd name="adj" fmla="val 2909"/>
            </a:avLst>
          </a:prstGeom>
          <a:solidFill>
            <a:srgbClr val="0A0F0A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36" name="Image 0" descr="/home/claude/work/gen/icons_out/FaFileContract_00D4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3721608"/>
            <a:ext cx="329184" cy="329184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371600" y="37033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SOURCE DOCUMENT — PURCHASE AGREEMENT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96112" y="42976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Contract price $468,000 against an appraised value of $434,000 — a $34,000 gap. Seller is unwilling to reduce price; buyer has requested a gap-coverage strategy.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Earnest money of $9,360 is at risk if financing falls through inside the 14-day closing window; 2 similar appraisal gaps are open on other active pipeline deals this quarter.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INTELLIGENCE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Six engines, one neural pipeline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Fire all six on a single document — each engine builds on what the last one found.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2148840"/>
            <a:ext cx="1656588" cy="3566160"/>
          </a:xfrm>
          <a:prstGeom prst="roundRect">
            <a:avLst>
              <a:gd name="adj" fmla="val 441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313432"/>
            <a:ext cx="1382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E1</a:t>
            </a:r>
            <a:endParaRPr lang="en-US" sz="1000" dirty="0"/>
          </a:p>
        </p:txBody>
      </p:sp>
      <p:pic>
        <p:nvPicPr>
          <p:cNvPr id="21" name="Image 0" descr="/home/claude/work/gen/icons_out/FaFileContract_00D4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062" y="2651760"/>
            <a:ext cx="384048" cy="38404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" y="320040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Document Intel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49808" y="3840480"/>
            <a:ext cx="14005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Extracts parties, dates, amounts, deadlines, and loan terms from the purchase agreement.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479548" y="2148840"/>
            <a:ext cx="1656588" cy="3566160"/>
          </a:xfrm>
          <a:prstGeom prst="roundRect">
            <a:avLst>
              <a:gd name="adj" fmla="val 441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16708" y="2313432"/>
            <a:ext cx="1382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E2</a:t>
            </a:r>
            <a:endParaRPr lang="en-US" sz="1000" dirty="0"/>
          </a:p>
        </p:txBody>
      </p:sp>
      <p:pic>
        <p:nvPicPr>
          <p:cNvPr id="26" name="Image 1" descr="/home/claude/work/gen/icons_out/FaSearchDollar_F070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818" y="2651760"/>
            <a:ext cx="384048" cy="3840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589276" y="320040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Valuation Engine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2607564" y="3840480"/>
            <a:ext cx="14005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Runs a BPO-grade comp analysis and flags appraisal gaps against contract price in real time.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337304" y="2148840"/>
            <a:ext cx="1656588" cy="3566160"/>
          </a:xfrm>
          <a:prstGeom prst="roundRect">
            <a:avLst>
              <a:gd name="adj" fmla="val 441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474464" y="2313432"/>
            <a:ext cx="1382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E3</a:t>
            </a:r>
            <a:endParaRPr lang="en-US" sz="1000" dirty="0"/>
          </a:p>
        </p:txBody>
      </p:sp>
      <p:pic>
        <p:nvPicPr>
          <p:cNvPr id="31" name="Image 2" descr="/home/claude/work/gen/icons_out/FaBalanceScale_F4A8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574" y="2651760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447032" y="320040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Underwriting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4465320" y="3840480"/>
            <a:ext cx="14005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Models DSCR, loan conditions, and pull-through risk across the active loan file.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195060" y="2148840"/>
            <a:ext cx="1656588" cy="3566160"/>
          </a:xfrm>
          <a:prstGeom prst="roundRect">
            <a:avLst>
              <a:gd name="adj" fmla="val 441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332220" y="2313432"/>
            <a:ext cx="1382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E4</a:t>
            </a:r>
            <a:endParaRPr lang="en-US" sz="1000" dirty="0"/>
          </a:p>
        </p:txBody>
      </p:sp>
      <p:pic>
        <p:nvPicPr>
          <p:cNvPr id="36" name="Image 3" descr="/home/claude/work/gen/icons_out/FaKey_9A70F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330" y="2651760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304788" y="320040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Title &amp; Closing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6323076" y="3840480"/>
            <a:ext cx="14005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Identifies liens, easements, and closing-readiness gaps before they surface at the table.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8052816" y="2148840"/>
            <a:ext cx="1656588" cy="3566160"/>
          </a:xfrm>
          <a:prstGeom prst="roundRect">
            <a:avLst>
              <a:gd name="adj" fmla="val 441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8189976" y="2313432"/>
            <a:ext cx="1382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E5</a:t>
            </a:r>
            <a:endParaRPr lang="en-US" sz="1000" dirty="0"/>
          </a:p>
        </p:txBody>
      </p:sp>
      <p:pic>
        <p:nvPicPr>
          <p:cNvPr id="41" name="Image 4" descr="/home/claude/work/gen/icons_out/FaShieldAlt_00E87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9086" y="2651760"/>
            <a:ext cx="384048" cy="38404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8162544" y="320040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43" name="Text 36"/>
          <p:cNvSpPr/>
          <p:nvPr/>
        </p:nvSpPr>
        <p:spPr>
          <a:xfrm>
            <a:off x="8180832" y="3840480"/>
            <a:ext cx="14005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Checks TRID, RESPA, HMDA, and FinCEN/AML disclosure timing and fee-tolerance rules.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9910572" y="2148840"/>
            <a:ext cx="1656588" cy="3566160"/>
          </a:xfrm>
          <a:prstGeom prst="roundRect">
            <a:avLst>
              <a:gd name="adj" fmla="val 4416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10047732" y="2313432"/>
            <a:ext cx="1382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E6</a:t>
            </a:r>
            <a:endParaRPr lang="en-US" sz="1000" dirty="0"/>
          </a:p>
        </p:txBody>
      </p:sp>
      <p:pic>
        <p:nvPicPr>
          <p:cNvPr id="46" name="Image 5" descr="/home/claude/work/gen/icons_out/FaBell_9A70F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6842" y="2651760"/>
            <a:ext cx="384048" cy="38404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0020300" y="320040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BNCA Exec</a:t>
            </a:r>
            <a:endParaRPr lang="en-US" sz="1250" dirty="0"/>
          </a:p>
        </p:txBody>
      </p:sp>
      <p:sp>
        <p:nvSpPr>
          <p:cNvPr id="48" name="Text 40"/>
          <p:cNvSpPr/>
          <p:nvPr/>
        </p:nvSpPr>
        <p:spPr>
          <a:xfrm>
            <a:off x="10038588" y="3840480"/>
            <a:ext cx="14005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Synthesizes a ranked dispatch, executive summary, and priority owner actions.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INTELLIGENCE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E4 OUTPUT · TITLE &amp; CLOSING COMMAND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Deadlines don’t wait for an agent’s inbox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2148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703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55% OF OPEN CLOSING EXPOSURE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GAP-121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51760" y="2532888"/>
            <a:ext cx="7040880" cy="16459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21" name="Shape 19"/>
          <p:cNvSpPr/>
          <p:nvPr/>
        </p:nvSpPr>
        <p:spPr>
          <a:xfrm>
            <a:off x="2651760" y="2532888"/>
            <a:ext cx="3872484" cy="164592"/>
          </a:xfrm>
          <a:prstGeom prst="rect">
            <a:avLst/>
          </a:prstGeom>
          <a:solidFill>
            <a:srgbClr val="F07030"/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24048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$34.0K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28620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Appraisal gap — 121 Maple St, disputed by seller, buyer decision pending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200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3A3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30% OF OPEN CLOSING EXPOSURE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TRID-02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651760" y="3584448"/>
            <a:ext cx="7040880" cy="16459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27" name="Shape 25"/>
          <p:cNvSpPr/>
          <p:nvPr/>
        </p:nvSpPr>
        <p:spPr>
          <a:xfrm>
            <a:off x="2651760" y="3584448"/>
            <a:ext cx="2112264" cy="164592"/>
          </a:xfrm>
          <a:prstGeom prst="rect">
            <a:avLst/>
          </a:prstGeom>
          <a:solidFill>
            <a:srgbClr val="F03A3A"/>
          </a:solidFill>
          <a:ln/>
        </p:spPr>
      </p:sp>
      <p:sp>
        <p:nvSpPr>
          <p:cNvPr id="28" name="Text 26"/>
          <p:cNvSpPr/>
          <p:nvPr/>
        </p:nvSpPr>
        <p:spPr>
          <a:xfrm>
            <a:off x="9829800" y="34564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 flags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39136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Closing Disclosure delivery timing — 3-day review window at risk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70F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15% OF OPEN CLOSING EXPOSURE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TITLE-09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651760" y="4636008"/>
            <a:ext cx="7040880" cy="16459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3" name="Shape 31"/>
          <p:cNvSpPr/>
          <p:nvPr/>
        </p:nvSpPr>
        <p:spPr>
          <a:xfrm>
            <a:off x="2651760" y="4636008"/>
            <a:ext cx="1056132" cy="164592"/>
          </a:xfrm>
          <a:prstGeom prst="rect">
            <a:avLst/>
          </a:prstGeom>
          <a:solidFill>
            <a:srgbClr val="9A70F0"/>
          </a:solidFill>
          <a:ln/>
        </p:spPr>
      </p:sp>
      <p:sp>
        <p:nvSpPr>
          <p:cNvPr id="34" name="Text 32"/>
          <p:cNvSpPr/>
          <p:nvPr/>
        </p:nvSpPr>
        <p:spPr>
          <a:xfrm>
            <a:off x="9829800" y="45079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14 days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96519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Title commitment review — pending clearance before scheduled close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5394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6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Synthetic figures for walkthrough purposes — live engine run replaces these with your actual documents.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INTELLIGENCE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E3 OUTPUT · FINANCIAL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Every day past the appraisal compounds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21792" y="2331720"/>
            <a:ext cx="4892040" cy="3566160"/>
          </a:xfrm>
          <a:prstGeom prst="roundRect">
            <a:avLst>
              <a:gd name="adj" fmla="val 2051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19" name="Image 0" descr="/home/claude/work/gen/icons_out/FaSearchDollar_F070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651760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96112" y="32004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TOTAL FINANCIAL EXPOSURE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96112" y="347472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703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$34,000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896112" y="42519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appraisal gap across 1 disputed contract, this pipeline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96112" y="4754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Earnest money at risk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685032" y="4754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$9.4K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96112" y="5120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Days into closing window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685032" y="5120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6 / 14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96112" y="5486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Similar gaps, other pipeline deals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685032" y="5486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 open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742432" y="2331720"/>
            <a:ext cx="5093208" cy="3566160"/>
          </a:xfrm>
          <a:prstGeom prst="roundRect">
            <a:avLst>
              <a:gd name="adj" fmla="val 2051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30" name="Image 1" descr="/home/claude/work/gen/icons_out/FaClock_F03A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2624328"/>
            <a:ext cx="310896" cy="31089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428232" y="2624328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CE9F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CLOSING WINDOW · APPRAISAL GAP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6016752" y="3044952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6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14-day contract close date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016752" y="3529584"/>
            <a:ext cx="91440" cy="91440"/>
          </a:xfrm>
          <a:prstGeom prst="ellipse">
            <a:avLst/>
          </a:prstGeom>
          <a:solidFill>
            <a:srgbClr val="4A664A"/>
          </a:solidFill>
          <a:ln/>
        </p:spPr>
      </p:sp>
      <p:sp>
        <p:nvSpPr>
          <p:cNvPr id="34" name="Text 30"/>
          <p:cNvSpPr/>
          <p:nvPr/>
        </p:nvSpPr>
        <p:spPr>
          <a:xfrm>
            <a:off x="6245352" y="347472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Purchase agreement signed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281160" y="3474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Day 0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016752" y="3986784"/>
            <a:ext cx="91440" cy="91440"/>
          </a:xfrm>
          <a:prstGeom prst="ellipse">
            <a:avLst/>
          </a:prstGeom>
          <a:solidFill>
            <a:srgbClr val="F07030"/>
          </a:solidFill>
          <a:ln/>
        </p:spPr>
      </p:sp>
      <p:sp>
        <p:nvSpPr>
          <p:cNvPr id="37" name="Text 33"/>
          <p:cNvSpPr/>
          <p:nvPr/>
        </p:nvSpPr>
        <p:spPr>
          <a:xfrm>
            <a:off x="6245352" y="393192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Appraisal received — $34K gap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928116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0703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Day 6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016752" y="4443984"/>
            <a:ext cx="91440" cy="91440"/>
          </a:xfrm>
          <a:prstGeom prst="ellipse">
            <a:avLst/>
          </a:prstGeom>
          <a:solidFill>
            <a:srgbClr val="F4A800"/>
          </a:solidFill>
          <a:ln/>
        </p:spPr>
      </p:sp>
      <p:sp>
        <p:nvSpPr>
          <p:cNvPr id="40" name="Text 36"/>
          <p:cNvSpPr/>
          <p:nvPr/>
        </p:nvSpPr>
        <p:spPr>
          <a:xfrm>
            <a:off x="6245352" y="438912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Buyer decision deadline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9281160" y="4389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4A80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Day 10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6016752" y="4901184"/>
            <a:ext cx="91440" cy="91440"/>
          </a:xfrm>
          <a:prstGeom prst="ellipse">
            <a:avLst/>
          </a:prstGeom>
          <a:solidFill>
            <a:srgbClr val="F03A3A"/>
          </a:solidFill>
          <a:ln/>
        </p:spPr>
      </p:sp>
      <p:sp>
        <p:nvSpPr>
          <p:cNvPr id="43" name="Text 39"/>
          <p:cNvSpPr/>
          <p:nvPr/>
        </p:nvSpPr>
        <p:spPr>
          <a:xfrm>
            <a:off x="6245352" y="484632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Scheduled closing date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9281160" y="4846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03A3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Day 14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INTELLIGENCE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E5 OUTPUT · COMPLIANCE SHIELD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TRID gaps, surfaced before the audit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21792" y="2331720"/>
            <a:ext cx="6263640" cy="3566160"/>
          </a:xfrm>
          <a:prstGeom prst="roundRect">
            <a:avLst>
              <a:gd name="adj" fmla="val 2051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56032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COMPLIANCE FLAGS — THIS AUDIT CYCLE</a:t>
            </a:r>
            <a:endParaRPr lang="en-US" sz="900" dirty="0"/>
          </a:p>
        </p:txBody>
      </p:sp>
      <p:pic>
        <p:nvPicPr>
          <p:cNvPr id="20" name="Image 0" descr="/home/claude/work/gen/icons_out/FaExclamationTriangle_F4A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301752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07592" y="299008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Closing Disclosure — 3-day review window at risk on 1 active file</a:t>
            </a:r>
            <a:endParaRPr lang="en-US" sz="1100" dirty="0"/>
          </a:p>
        </p:txBody>
      </p:sp>
      <p:pic>
        <p:nvPicPr>
          <p:cNvPr id="22" name="Image 1" descr="/home/claude/work/gen/icons_out/FaExclamationTriangle_F4A8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584448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07592" y="355701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Fee tolerance — loan estimate variance flagged for re-disclosure</a:t>
            </a:r>
            <a:endParaRPr lang="en-US" sz="1100" dirty="0"/>
          </a:p>
        </p:txBody>
      </p:sp>
      <p:pic>
        <p:nvPicPr>
          <p:cNvPr id="24" name="Image 2" descr="/home/claude/work/gen/icons_out/FaCheckCircle_00E87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151376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07592" y="4123944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HMDA reporting — data fields complete, on schedule</a:t>
            </a:r>
            <a:endParaRPr lang="en-US" sz="1100" dirty="0"/>
          </a:p>
        </p:txBody>
      </p:sp>
      <p:pic>
        <p:nvPicPr>
          <p:cNvPr id="26" name="Image 3" descr="/home/claude/work/gen/icons_out/FaCheckCircle_00E87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718304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07592" y="469087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FinCEN / AML screening — no open flags this cycle</a:t>
            </a:r>
            <a:endParaRPr lang="en-US" sz="1100" dirty="0"/>
          </a:p>
        </p:txBody>
      </p:sp>
      <p:pic>
        <p:nvPicPr>
          <p:cNvPr id="28" name="Image 4" descr="/home/claude/work/gen/icons_out/FaCheckCircle_00E87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28523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07592" y="52578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RESPA Section 8 — no referral-fee violations detected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114032" y="2331720"/>
            <a:ext cx="3721608" cy="3566160"/>
          </a:xfrm>
          <a:prstGeom prst="roundRect">
            <a:avLst>
              <a:gd name="adj" fmla="val 2051"/>
            </a:avLst>
          </a:prstGeom>
          <a:solidFill>
            <a:srgbClr val="0A0F0A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370064" y="258775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4A80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7370064" y="3017520"/>
            <a:ext cx="3209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single TRID violation can trigger rescission rights and six-figure statutory damages — and most brokerages find out at audit, not before it.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E5 runs the same checklist a regulator would, continuously, so gaps get fixed on your schedule instead of theirs.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INTELLIGENCE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E6 OUTPUT · BNCA EXECUTIVE DISPATCH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The right owner, the right priority, automatically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21792" y="2286000"/>
            <a:ext cx="10213848" cy="1005840"/>
          </a:xfrm>
          <a:prstGeom prst="roundRect">
            <a:avLst>
              <a:gd name="adj" fmla="val 727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19" name="Image 0" descr="/home/claude/work/gen/icons_out/FaUserTie_00D4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63040" y="2450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Listing / Buyer Agent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463040" y="27249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121 Maple St gap-coverage strategy — buyer decision due in 4 days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464040" y="2578608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03A3A">
              <a:alpha val="15000"/>
            </a:srgbClr>
          </a:solidFill>
          <a:ln w="12700">
            <a:solidFill>
              <a:srgbClr val="F03A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64040" y="25786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3A3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URGENT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21792" y="3474720"/>
            <a:ext cx="10213848" cy="1005840"/>
          </a:xfrm>
          <a:prstGeom prst="roundRect">
            <a:avLst>
              <a:gd name="adj" fmla="val 727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5" name="Image 1" descr="/home/claude/work/gen/icons_out/FaShieldAlt_00E87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49040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46304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Compliance Officer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463040" y="39136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Closing Disclosure re-issue — 3-day review window at risk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9464040" y="3767328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07030">
              <a:alpha val="15000"/>
            </a:srgbClr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464040" y="3767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703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HIGH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621792" y="4663440"/>
            <a:ext cx="10213848" cy="1005840"/>
          </a:xfrm>
          <a:prstGeom prst="roundRect">
            <a:avLst>
              <a:gd name="adj" fmla="val 727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31" name="Image 2" descr="/home/claude/work/gen/icons_out/FaKey_9A70F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463040" y="4828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Title / Escrow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1463040" y="51023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Title commitment clearance — confirm before scheduled close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9464040" y="4956048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4A800">
              <a:alpha val="15000"/>
            </a:srgbClr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464040" y="4956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80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REVIEW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INTELLIGENCE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ABOVE THE WAR ROOM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One executive view across the whole pipeline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Executive Portal rolls every war-room run into a single broker-facing decision queue.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21031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28600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B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$8.4M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" y="2816352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PIPELINE VOLUME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31520" y="318211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30-day estimate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843784" y="21031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53512" y="228600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8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71%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953512" y="2816352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PULL-THROUGH RATE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953512" y="318211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contract to close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65776" y="21031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5504" y="228600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703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$34K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75504" y="2816352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DOLLAR RISK EXPOSURE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175504" y="318211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 appraisal gaps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287768" y="21031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97496" y="228600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3A3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97496" y="2816352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TRID VIOLATIONS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397496" y="318211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 this cycle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509760" y="21031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19488" y="228600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619488" y="2816352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CLOSINGS THIS WEEK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619488" y="318211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scheduled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1792" y="3794760"/>
            <a:ext cx="10213848" cy="2103120"/>
          </a:xfrm>
          <a:prstGeom prst="roundRect">
            <a:avLst>
              <a:gd name="adj" fmla="val 3478"/>
            </a:avLst>
          </a:prstGeom>
          <a:solidFill>
            <a:srgbClr val="0A0F0A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40" name="Image 0" descr="/home/claude/work/gen/icons_out/FaBell_FFD7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050792"/>
            <a:ext cx="292608" cy="29260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280160" y="40507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D70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BNCA RECOMMENDED ACTION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868680" y="4507992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121 Maple St is the largest single item in this quarter’s open exposure, and the buyer’s decision window closes in 4 days. Sending the gap-coverage options today keeps the contract alive without asking the seller to re-negotiate — and clears the largest line item on this week’s risk sheet.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INTELLIGENCE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ROI in plain language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21792" y="21488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377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MANUAL COORDINATION TODAY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" y="2697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703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$5,000–$8,000/mo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96112" y="3383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across MLS, DocuSign, spreadsheets, and email — tracking appraisals, TRID timing, title status, and pipeline by hand.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21488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0A0F0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2377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E87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SUITE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97880" y="2697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8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$1,250–$1,750/mo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897880" y="3383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Foundation or Growth tier — deal rescue pack, valuation engine, TRID/RESPA compliance, title tracking, BNCA exec dispatch.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" y="4663440"/>
            <a:ext cx="10213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0D4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recovered appraisal-gap deal covers 6–12 months of subscription cost.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" y="5166360"/>
            <a:ext cx="10213848" cy="1005840"/>
          </a:xfrm>
          <a:prstGeom prst="roundRect">
            <a:avLst>
              <a:gd name="adj" fmla="val 7273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530352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3A3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WHAT'S LOST BEHIND 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6112" y="560527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$250K–$900K/year, average brokerage — blown deals, missed disclosure windows, title surprises caught too late. One avoided TRID violation pays for the platform 3 years over.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INTELLIGENCE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249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54203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97180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40156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83133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26110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90872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50408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80176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9944"/>
            <a:ext cx="12188952" cy="4572"/>
          </a:xfrm>
          <a:prstGeom prst="rect">
            <a:avLst/>
          </a:prstGeom>
          <a:solidFill>
            <a:srgbClr val="182430"/>
          </a:solidFill>
          <a:ln/>
        </p:spPr>
      </p:sp>
      <p:pic>
        <p:nvPicPr>
          <p:cNvPr id="16" name="Image 0" descr="/home/claude/work/gen/icons_out/FaHome_00D4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3444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B8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INTELLIGENCE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18288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At this point, it’s just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how you want to start.</a:t>
            </a:r>
            <a:endParaRPr lang="en-US" sz="3200" dirty="0"/>
          </a:p>
        </p:txBody>
      </p:sp>
      <p:sp>
        <p:nvSpPr>
          <p:cNvPr id="19" name="Shape 16"/>
          <p:cNvSpPr/>
          <p:nvPr/>
        </p:nvSpPr>
        <p:spPr>
          <a:xfrm>
            <a:off x="621792" y="37033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0" name="Image 1" descr="/home/claude/work/gen/icons_out/FaBolt_00E87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995928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77824" y="457200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30-day pilot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77824" y="5074920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 the 6-engine pipeline live on your own pipeline documents, no commitment.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123944" y="37033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4" name="Image 2" descr="/home/claude/work/gen/icons_out/FaChartLine_00D4B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3995928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79976" y="457200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Live team walkthrough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379976" y="5074920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working session with your agents on their actual open contracts.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626096" y="37033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070C10"/>
          </a:solidFill>
          <a:ln w="12700">
            <a:solidFill>
              <a:srgbClr val="182430"/>
            </a:solidFill>
            <a:prstDash val="solid"/>
          </a:ln>
        </p:spPr>
      </p:sp>
      <p:pic>
        <p:nvPicPr>
          <p:cNvPr id="28" name="Image 3" descr="/home/claude/work/gen/icons_out/FaBell_9A70F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3995928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882128" y="457200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E9F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Straight to onboarding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882128" y="5074920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B4C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Ready to move now — we can have your first office live within a week.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REAL ESTATE INTELLIGENCE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64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2026-08-22T15:50:39Z</dcterms:created>
  <dcterms:modified xsi:type="dcterms:W3CDTF">2026-08-22T15:50:39Z</dcterms:modified>
</cp:coreProperties>
</file>