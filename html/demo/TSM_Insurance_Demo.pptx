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pic>
        <p:nvPicPr>
          <p:cNvPr id="16" name="Image 0" descr="/home/claude/work/gen/icons_out/FaUserShield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18745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Claim File to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Carrier-Ready Decision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658368" y="3794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Six AI engines take a claim, policy review, or ERA batch from raw document to a ranked executive dispatch — in under 90 seconds.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006840" y="19659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1" name="Image 1" descr="/home/claude/work/gen/icons_out/FaExclamationTriangle_F070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836" y="221284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006840" y="26791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LEFT ON THE TABLE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006840" y="2880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$300K–$1.1M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91440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 year, avg. agency — denied claims, coverage gaps, SIU delays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235440" y="3931920"/>
            <a:ext cx="2148840" cy="0"/>
          </a:xfrm>
          <a:prstGeom prst="line">
            <a:avLst/>
          </a:prstGeom>
          <a:noFill/>
          <a:ln w="12700">
            <a:solidFill>
              <a:srgbClr val="18243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0684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8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90 sec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9144000" y="44531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avg. time to a full 6-engine assessment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1792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Prospect walkthrough  ·  synthetic case data  ·  live engine demo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Risk hides in the claim file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until the denial letter goes out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2179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19" name="Image 0" descr="/home/claude/work/gen/icons_out/FaExclamationTriangle_F03A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5176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77824" y="32918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Fault disputes stall payout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77824" y="39319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Liability claims sit in limbo while adjusters wait on a fault determination.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45643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3" name="Image 1" descr="/home/claude/work/gen/icons_out/FaFileInvoiceDollar_F070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6517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12464" y="32918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Denials pile up unappealed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3712464" y="39319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Appeal windows close while denied claims sit unreviewed in the queue.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29107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7" name="Image 2" descr="/home/claude/work/gen/icons_out/FaShieldAlt_F4A8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65176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47104" y="32918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Coverage gaps go unnoticed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547104" y="39319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Umbrella and cyber gaps surface only after a loss, not during the policy review.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12571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31" name="Image 3" descr="/home/claude/work/gen/icons_out/FaSearchDollar_9A70F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65176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81744" y="32918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SIU review timelines slip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381744" y="39319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Fraud-flagged claims stall in investigation while reporting deadlines approach.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LIVE WALKTHROUGH CASE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Auto Liability — CLM-0041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Synthetic prospect scenario — mid-size agency, 14 active claims, fault disputed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187452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0116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$312.4K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8952" y="249631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TOTAL EXPOSURE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58952" y="2743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 active claims, AZ market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27832" y="187452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0116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$94.2K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64992" y="249631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CLM-0041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64992" y="2743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 liability, fault disputed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33872" y="187452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71032" y="20116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3A3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SIU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971032" y="249631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REVIEW STATUS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71032" y="2743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pending — fraud review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39912" y="187452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7072" y="20116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3 claims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577072" y="249631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DENIAL QUEUE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577072" y="2743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appeal window open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" y="3429000"/>
            <a:ext cx="10213848" cy="2514600"/>
          </a:xfrm>
          <a:prstGeom prst="roundRect">
            <a:avLst>
              <a:gd name="adj" fmla="val 2909"/>
            </a:avLst>
          </a:prstGeom>
          <a:solidFill>
            <a:srgbClr val="0A0F0A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36" name="Image 0" descr="/home/claude/work/gen/icons_out/FaFileInvoiceDollar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721608"/>
            <a:ext cx="329184" cy="32918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371600" y="37033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SOURCE DOCUMENT — CLAIMS REPORT Q1 2026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96112" y="4297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 liability claim CLM-0041 carries $94,200 in exposure with fault disputed and an SIU review pending. Two more high-value claims are open: workers’ comp at $52,800 (94 days open, medical still ongoing) and a wildfire-zone homeowners claim at $38,400 with the carrier threatening non-renewal.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claims sit in the denial queue totaling $29,200; CLM-0048’s 30-day appeal window is still open.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Six engines, one neural pipeline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Fire all six on a single document — each engine builds on what the last one found.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E1</a:t>
            </a:r>
            <a:endParaRPr lang="en-US" sz="1000" dirty="0"/>
          </a:p>
        </p:txBody>
      </p:sp>
      <p:pic>
        <p:nvPicPr>
          <p:cNvPr id="21" name="Image 0" descr="/home/claude/work/gen/icons_out/FaFileInvoiceDollar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062" y="2651760"/>
            <a:ext cx="384048" cy="38404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Document Intel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9808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Extracts claimants, policy numbers, dates, and amounts from claims reports and ERA batches.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479548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16708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E2</a:t>
            </a:r>
            <a:endParaRPr lang="en-US" sz="1000" dirty="0"/>
          </a:p>
        </p:txBody>
      </p:sp>
      <p:pic>
        <p:nvPicPr>
          <p:cNvPr id="26" name="Image 1" descr="/home/claude/work/gen/icons_out/FaExclamationTriangle_F070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818" y="2651760"/>
            <a:ext cx="384048" cy="3840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589276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Claims Triage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2607564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Scores severity, fault disposition, and litigation risk across the active claim file.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337304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474464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E3</a:t>
            </a:r>
            <a:endParaRPr lang="en-US" sz="1000" dirty="0"/>
          </a:p>
        </p:txBody>
      </p:sp>
      <p:pic>
        <p:nvPicPr>
          <p:cNvPr id="31" name="Image 2" descr="/home/claude/work/gen/icons_out/FaShieldAlt_F4A8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574" y="2651760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447032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Policy Review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465320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Runs coverage-gap analysis against the book of business and flags renewal risk.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195060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332220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E4</a:t>
            </a:r>
            <a:endParaRPr lang="en-US" sz="1000" dirty="0"/>
          </a:p>
        </p:txBody>
      </p:sp>
      <p:pic>
        <p:nvPicPr>
          <p:cNvPr id="36" name="Image 3" descr="/home/claude/work/gen/icons_out/FaSearchDollar_9A70F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330" y="2651760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304788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SIU / Fraud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323076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Flags fraud indicators and routes disputed claims to Special Investigations.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8052816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189976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E5</a:t>
            </a:r>
            <a:endParaRPr lang="en-US" sz="1000" dirty="0"/>
          </a:p>
        </p:txBody>
      </p:sp>
      <p:pic>
        <p:nvPicPr>
          <p:cNvPr id="41" name="Image 4" descr="/home/claude/work/gen/icons_out/FaBalanceScale_00E87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9086" y="2651760"/>
            <a:ext cx="384048" cy="3840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162544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8180832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Checks DOI filing deadlines, bad-faith exposure, and appeal-window tracking.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9910572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10047732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E6</a:t>
            </a:r>
            <a:endParaRPr lang="en-US" sz="1000" dirty="0"/>
          </a:p>
        </p:txBody>
      </p:sp>
      <p:pic>
        <p:nvPicPr>
          <p:cNvPr id="46" name="Image 5" descr="/home/claude/work/gen/icons_out/FaBell_9A70F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6842" y="2651760"/>
            <a:ext cx="384048" cy="38404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020300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BNCA Exec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10038588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Synthesizes a ranked dispatch, executive summary, and priority owner actions.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E4 OUTPUT · SIU / FRAUD COMMAND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Deadlines don’t wait for a claims manager’s inbox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2148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703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30% OF OPEN CLAIM EXPOSURE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CLM-0041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2532888"/>
            <a:ext cx="7040880" cy="16459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21" name="Shape 19"/>
          <p:cNvSpPr/>
          <p:nvPr/>
        </p:nvSpPr>
        <p:spPr>
          <a:xfrm>
            <a:off x="2651760" y="2532888"/>
            <a:ext cx="2112264" cy="164592"/>
          </a:xfrm>
          <a:prstGeom prst="rect">
            <a:avLst/>
          </a:prstGeom>
          <a:solidFill>
            <a:srgbClr val="F07030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24048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$94.2K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8620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 liability — fault disputed, SIU review pending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200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3A3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17% OF OPEN CLAIM EXPOSURE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CLM-0038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651760" y="3584448"/>
            <a:ext cx="7040880" cy="16459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27" name="Shape 25"/>
          <p:cNvSpPr/>
          <p:nvPr/>
        </p:nvSpPr>
        <p:spPr>
          <a:xfrm>
            <a:off x="2651760" y="3584448"/>
            <a:ext cx="1196950" cy="164592"/>
          </a:xfrm>
          <a:prstGeom prst="rect">
            <a:avLst/>
          </a:prstGeom>
          <a:solidFill>
            <a:srgbClr val="F03A3A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3456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$52.8K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9136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Workers comp — open 94 days, medical still ongoing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70F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12% OF OPEN CLAIM EXPOSURE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CLM-0029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651760" y="4636008"/>
            <a:ext cx="7040880" cy="16459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3" name="Shape 31"/>
          <p:cNvSpPr/>
          <p:nvPr/>
        </p:nvSpPr>
        <p:spPr>
          <a:xfrm>
            <a:off x="2651760" y="4636008"/>
            <a:ext cx="844906" cy="164592"/>
          </a:xfrm>
          <a:prstGeom prst="rect">
            <a:avLst/>
          </a:prstGeom>
          <a:solidFill>
            <a:srgbClr val="9A70F0"/>
          </a:solidFill>
          <a:ln/>
        </p:spPr>
      </p:sp>
      <p:sp>
        <p:nvSpPr>
          <p:cNvPr id="34" name="Text 32"/>
          <p:cNvSpPr/>
          <p:nvPr/>
        </p:nvSpPr>
        <p:spPr>
          <a:xfrm>
            <a:off x="9829800" y="45079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$38.4K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96519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Homeowners — wildfire zone, non-renewal threatened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5394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Synthetic figures for walkthrough purposes — live engine run replaces these with your actual documents.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E3 OUTPUT · FINANCIAL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Every day past the fault dispute compounds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" y="2331720"/>
            <a:ext cx="4892040" cy="3566160"/>
          </a:xfrm>
          <a:prstGeom prst="roundRect">
            <a:avLst>
              <a:gd name="adj" fmla="val 2051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19" name="Image 0" descr="/home/claude/work/gen/icons_out/FaSearchDollar_F07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65176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6112" y="32004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TOTAL CLAIM EXPOSURE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96112" y="34747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$312,400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896112" y="4251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across 14 active claims, this quarter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96112" y="4754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Denial queue (3 claims)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85032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$29.2K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96112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Appeal-eligible amount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685032" y="5120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$6.4K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SIU review, days open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685032" y="5486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21 days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742432" y="2331720"/>
            <a:ext cx="5093208" cy="3566160"/>
          </a:xfrm>
          <a:prstGeom prst="roundRect">
            <a:avLst>
              <a:gd name="adj" fmla="val 2051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30" name="Image 1" descr="/home/claude/work/gen/icons_out/FaClock_F03A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624328"/>
            <a:ext cx="310896" cy="31089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428232" y="26243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E9F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SIU REVIEW TIMELINE · CLM-0041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016752" y="3044952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fault dispute investigation window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16752" y="3529584"/>
            <a:ext cx="91440" cy="91440"/>
          </a:xfrm>
          <a:prstGeom prst="ellipse">
            <a:avLst/>
          </a:prstGeom>
          <a:solidFill>
            <a:srgbClr val="4A664A"/>
          </a:solidFill>
          <a:ln/>
        </p:spPr>
      </p:sp>
      <p:sp>
        <p:nvSpPr>
          <p:cNvPr id="34" name="Text 30"/>
          <p:cNvSpPr/>
          <p:nvPr/>
        </p:nvSpPr>
        <p:spPr>
          <a:xfrm>
            <a:off x="6245352" y="34747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Claim filed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81160" y="3474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Day 0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016752" y="3986784"/>
            <a:ext cx="91440" cy="91440"/>
          </a:xfrm>
          <a:prstGeom prst="ellipse">
            <a:avLst/>
          </a:prstGeom>
          <a:solidFill>
            <a:srgbClr val="F07030"/>
          </a:solidFill>
          <a:ln/>
        </p:spPr>
      </p:sp>
      <p:sp>
        <p:nvSpPr>
          <p:cNvPr id="37" name="Text 33"/>
          <p:cNvSpPr/>
          <p:nvPr/>
        </p:nvSpPr>
        <p:spPr>
          <a:xfrm>
            <a:off x="6245352" y="39319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Fault disputed by carrier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928116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703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Day 12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016752" y="4443984"/>
            <a:ext cx="91440" cy="91440"/>
          </a:xfrm>
          <a:prstGeom prst="ellipse">
            <a:avLst/>
          </a:prstGeom>
          <a:solidFill>
            <a:srgbClr val="F4A800"/>
          </a:solidFill>
          <a:ln/>
        </p:spPr>
      </p:sp>
      <p:sp>
        <p:nvSpPr>
          <p:cNvPr id="40" name="Text 36"/>
          <p:cNvSpPr/>
          <p:nvPr/>
        </p:nvSpPr>
        <p:spPr>
          <a:xfrm>
            <a:off x="6245352" y="43891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SIU review opened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9281160" y="4389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4A8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Day 21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016752" y="4901184"/>
            <a:ext cx="91440" cy="91440"/>
          </a:xfrm>
          <a:prstGeom prst="ellipse">
            <a:avLst/>
          </a:prstGeom>
          <a:solidFill>
            <a:srgbClr val="F03A3A"/>
          </a:solidFill>
          <a:ln/>
        </p:spPr>
      </p:sp>
      <p:sp>
        <p:nvSpPr>
          <p:cNvPr id="43" name="Text 39"/>
          <p:cNvSpPr/>
          <p:nvPr/>
        </p:nvSpPr>
        <p:spPr>
          <a:xfrm>
            <a:off x="6245352" y="48463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DOI reporting deadline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9281160" y="4846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3A3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Day 45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E5 OUTPUT · COMPLIANCE SHIELD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DOI gaps, surfaced before the audit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" y="2331720"/>
            <a:ext cx="6263640" cy="3566160"/>
          </a:xfrm>
          <a:prstGeom prst="roundRect">
            <a:avLst>
              <a:gd name="adj" fmla="val 2051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56032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COMPLIANCE FLAGS — THIS AUDIT CYCLE</a:t>
            </a:r>
            <a:endParaRPr lang="en-US" sz="900" dirty="0"/>
          </a:p>
        </p:txBody>
      </p:sp>
      <p:pic>
        <p:nvPicPr>
          <p:cNvPr id="20" name="Image 0" descr="/home/claude/work/gen/icons_out/FaExclamationTriangle_F4A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01752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07592" y="299008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AZ DOI audit scheduled Q2 — 2 open items need documentation</a:t>
            </a:r>
            <a:endParaRPr lang="en-US" sz="1100" dirty="0"/>
          </a:p>
        </p:txBody>
      </p:sp>
      <p:pic>
        <p:nvPicPr>
          <p:cNvPr id="22" name="Image 1" descr="/home/claude/work/gen/icons_out/FaExclamationTriangle_F4A8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58444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07592" y="355701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CLM-0048 appeal window — 30 days remaining, action needed</a:t>
            </a:r>
            <a:endParaRPr lang="en-US" sz="1100" dirty="0"/>
          </a:p>
        </p:txBody>
      </p:sp>
      <p:pic>
        <p:nvPicPr>
          <p:cNvPr id="24" name="Image 2" descr="/home/claude/work/gen/icons_out/FaCheckCircle_00E87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5137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07592" y="412394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 renewal — 2 agents expiring in 45 days, on schedule</a:t>
            </a:r>
            <a:endParaRPr lang="en-US" sz="1100" dirty="0"/>
          </a:p>
        </p:txBody>
      </p:sp>
      <p:pic>
        <p:nvPicPr>
          <p:cNvPr id="26" name="Image 3" descr="/home/claude/work/gen/icons_out/FaCheckCircle_00E87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71830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07592" y="46908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Bad-faith exposure — no open litigation flags this cycle</a:t>
            </a:r>
            <a:endParaRPr lang="en-US" sz="1100" dirty="0"/>
          </a:p>
        </p:txBody>
      </p:sp>
      <p:pic>
        <p:nvPicPr>
          <p:cNvPr id="28" name="Image 4" descr="/home/claude/work/gen/icons_out/FaCheckCircle_00E87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28523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07592" y="52578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ERA / HRSA reporting — current, no overdue batches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114032" y="2331720"/>
            <a:ext cx="3721608" cy="3566160"/>
          </a:xfrm>
          <a:prstGeom prst="roundRect">
            <a:avLst>
              <a:gd name="adj" fmla="val 2051"/>
            </a:avLst>
          </a:prstGeom>
          <a:solidFill>
            <a:srgbClr val="0A0F0A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370064" y="258775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4A8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370064" y="3017520"/>
            <a:ext cx="3209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single bad-faith finding can trigger punitive damages far beyond a claim’s face value — and most agencies find out at deposition, not before it.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E5 runs the same checklist a DOI examiner would, continuously, so gaps get fixed on your schedule instead of theirs.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E6 OUTPUT · BNCA EXECUTIVE DISPATCH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The right owner, the right priority, automatically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" y="2286000"/>
            <a:ext cx="10213848" cy="1005840"/>
          </a:xfrm>
          <a:prstGeom prst="roundRect">
            <a:avLst>
              <a:gd name="adj" fmla="val 727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19" name="Image 0" descr="/home/claude/work/gen/icons_out/FaUserTie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2450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Claims Manager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463040" y="2724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CLM-0041 fault dispute — SIU review pending, carrier decision due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464040" y="257860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03A3A">
              <a:alpha val="15000"/>
            </a:srgbClr>
          </a:solidFill>
          <a:ln w="12700">
            <a:solidFill>
              <a:srgbClr val="F03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64040" y="2578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3A3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1792" y="3474720"/>
            <a:ext cx="10213848" cy="1005840"/>
          </a:xfrm>
          <a:prstGeom prst="roundRect">
            <a:avLst>
              <a:gd name="adj" fmla="val 727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5" name="Image 1" descr="/home/claude/work/gen/icons_out/FaSearchDollar_9A70F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49040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6304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SIU / Fraud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463040" y="39136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 liability claim flagged for fraud indicators — review required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464040" y="376732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07030">
              <a:alpha val="15000"/>
            </a:srgbClr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464040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703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21792" y="4663440"/>
            <a:ext cx="10213848" cy="1005840"/>
          </a:xfrm>
          <a:prstGeom prst="roundRect">
            <a:avLst>
              <a:gd name="adj" fmla="val 727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31" name="Image 2" descr="/home/claude/work/gen/icons_out/FaBalanceScale_00E87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63040" y="4828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Compliance Officer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1463040" y="51023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CLM-0048 appeal window closes in 30 days — file or close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9464040" y="495604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4A800">
              <a:alpha val="15000"/>
            </a:srgbClr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464040" y="4956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8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REVIEW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ABOVE THE WAR ROOM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One executive view across the whole book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Executive Portal rolls every war-room run into a single carrier-facing decision queue.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B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$312.4K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CLAIM LANDSCAPE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open exposure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43784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3512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8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953512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POLICIES REVIEWED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53512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coverage-gap audit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65776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$1.96M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75504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UMBRELLA GAP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75504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unprotected exposure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87768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97496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3A3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97496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DENIAL QUEUE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97496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 this cycle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509760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19488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$42.8K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619488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PREMIUM OPPORTUNITY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619488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upsell / cross-sell identified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1792" y="3794760"/>
            <a:ext cx="10213848" cy="2103120"/>
          </a:xfrm>
          <a:prstGeom prst="roundRect">
            <a:avLst>
              <a:gd name="adj" fmla="val 3478"/>
            </a:avLst>
          </a:prstGeom>
          <a:solidFill>
            <a:srgbClr val="0A0F0A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40" name="Image 0" descr="/home/claude/work/gen/icons_out/FaBell_FFD7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50792"/>
            <a:ext cx="292608" cy="29260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80160" y="40507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D7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BNCA RECOMMENDED ACTION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68680" y="4507992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CLM-0041 is the largest single item in this quarter’s open exposure, and the SIU review is now 21 days in with a DOI reporting deadline approaching. Escalating the fault dispute to Legal today keeps the file inside the reporting window — and clears the largest line item on this week’s risk sheet.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ROI in plain language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" y="21488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MANUAL COORDINATION TODAY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$6,000–$9,000/mo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6112" y="3383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across claims systems, spreadsheets, and email — tracking SIU reviews, DOI deadlines, denials, and coverage gaps by hand.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21488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0A0F0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E87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SUITE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8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$1,950/month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97880" y="3383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Claims triage, SIU/fraud engine, DOI compliance, policy-gap analysis, BNCA exec dispatch.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" y="4663440"/>
            <a:ext cx="10213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D4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recovered denial-queue claim covers 2–4 months of subscription cost.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" y="5166360"/>
            <a:ext cx="10213848" cy="1005840"/>
          </a:xfrm>
          <a:prstGeom prst="roundRect">
            <a:avLst>
              <a:gd name="adj" fmla="val 727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530352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3A3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WHAT'S LOST BEHIND 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6112" y="56052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$300K–$1.1M/year, average agency — denied claims left unappealed, coverage gaps found after a loss, SIU delays that invite bad-faith exposure. One avoided bad-faith finding pays for the platform many years over.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pic>
        <p:nvPicPr>
          <p:cNvPr id="16" name="Image 0" descr="/home/claude/work/gen/icons_out/FaUserShield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18288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At this point, it’s just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how you want to start.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621792" y="37033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0" name="Image 1" descr="/home/claude/work/gen/icons_out/FaBolt_00E87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995928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77824" y="457200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30-day pilot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77824" y="507492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the 6-engine pipeline live on your own claim files, no commitment.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123944" y="37033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4" name="Image 2" descr="/home/claude/work/gen/icons_out/FaChartLine_00D4B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399592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79976" y="457200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Live team walkthrough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379976" y="507492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working session with your claims managers on their actual open files.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626096" y="37033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8" name="Image 3" descr="/home/claude/work/gen/icons_out/FaBell_9A70F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99592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82128" y="457200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Straight to onboarding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882128" y="507492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Ready to move now — we can have your first book live within a week.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INSURANCE INTELLIGENCE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2026-08-22T15:52:34Z</dcterms:created>
  <dcterms:modified xsi:type="dcterms:W3CDTF">2026-08-22T15:52:34Z</dcterms:modified>
</cp:coreProperties>
</file>