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2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image" Target="../media/image-8-1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2.png"/><Relationship Id="rId5" Type="http://schemas.openxmlformats.org/officeDocument/2006/relationships/image" Target="../media/image-9-5.png"/><Relationship Id="rId6" Type="http://schemas.openxmlformats.org/officeDocument/2006/relationships/image" Target="../media/image-9-2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1.png"/><Relationship Id="rId3" Type="http://schemas.openxmlformats.org/officeDocument/2006/relationships/image" Target="../media/image-10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C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145251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560320" y="4754880"/>
            <a:ext cx="4572000" cy="4572000"/>
          </a:xfrm>
          <a:prstGeom prst="ellipse">
            <a:avLst/>
          </a:prstGeom>
          <a:solidFill>
            <a:srgbClr val="145251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960120"/>
            <a:ext cx="822960" cy="822960"/>
          </a:xfrm>
          <a:prstGeom prst="ellipse">
            <a:avLst/>
          </a:prstGeom>
          <a:solidFill>
            <a:srgbClr val="C9962C"/>
          </a:solidFill>
          <a:ln/>
        </p:spPr>
      </p:sp>
      <p:pic>
        <p:nvPicPr>
          <p:cNvPr id="5" name="Image 0" descr="/home/claude/hotelops-demo/icons/home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1910" y="1157630"/>
            <a:ext cx="427939" cy="4279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331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TSM CONSULTZ  ·  HOSPITALITY VERTICAL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95528" y="269748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HotelOps</a:t>
            </a:r>
            <a:endParaRPr lang="en-US" sz="6800" dirty="0"/>
          </a:p>
        </p:txBody>
      </p:sp>
      <p:sp>
        <p:nvSpPr>
          <p:cNvPr id="8" name="Text 5"/>
          <p:cNvSpPr/>
          <p:nvPr/>
        </p:nvSpPr>
        <p:spPr>
          <a:xfrm>
            <a:off x="822960" y="39776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7F1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operations intelligence for hotels and short-term rentals — reservation risk, STR compliance, and secure booking integrity in one command view.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5989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9C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PROSPECTIVE HOSPITALITY PARTNERS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21792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Hospitality ops run on blind spots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leaks and compliance risk hide in the gap between booking systems, front desk, and STR operations — until a guest, a chargeback, or a bad review surfaces them.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3456432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3E7E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933956" y="2857500"/>
            <a:ext cx="868680" cy="868680"/>
          </a:xfrm>
          <a:prstGeom prst="ellipse">
            <a:avLst/>
          </a:prstGeom>
          <a:solidFill>
            <a:srgbClr val="0F3D3E"/>
          </a:solidFill>
          <a:ln/>
        </p:spPr>
      </p:sp>
      <p:pic>
        <p:nvPicPr>
          <p:cNvPr id="7" name="Image 0" descr="/home/claude/hotelops-demo/icons/dolla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2439" y="3065983"/>
            <a:ext cx="451714" cy="45171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3931920"/>
            <a:ext cx="2999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Silent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960120" y="4480560"/>
            <a:ext cx="28163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failures &amp; unconfirmed arrivals go unflagged until check-in day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416552" y="2514600"/>
            <a:ext cx="3456432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3E7E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710428" y="2857500"/>
            <a:ext cx="868680" cy="868680"/>
          </a:xfrm>
          <a:prstGeom prst="ellipse">
            <a:avLst/>
          </a:prstGeom>
          <a:solidFill>
            <a:srgbClr val="0F3D3E"/>
          </a:solidFill>
          <a:ln/>
        </p:spPr>
      </p:sp>
      <p:pic>
        <p:nvPicPr>
          <p:cNvPr id="12" name="Image 1" descr="/home/claude/hotelops-demo/icons/hom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8911" y="3065983"/>
            <a:ext cx="451714" cy="45171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45152" y="3931920"/>
            <a:ext cx="2999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4736592" y="4480560"/>
            <a:ext cx="28163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Airbnb / STR turnover, lockbox, and compliance checks tracked ad hoc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193024" y="2514600"/>
            <a:ext cx="3456432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3E7E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486900" y="2857500"/>
            <a:ext cx="868680" cy="868680"/>
          </a:xfrm>
          <a:prstGeom prst="ellipse">
            <a:avLst/>
          </a:prstGeom>
          <a:solidFill>
            <a:srgbClr val="0F3D3E"/>
          </a:solidFill>
          <a:ln/>
        </p:spPr>
      </p:sp>
      <p:pic>
        <p:nvPicPr>
          <p:cNvPr id="17" name="Image 2" descr="/home/claude/hotelops-demo/icons/aler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5383" y="3065983"/>
            <a:ext cx="451714" cy="45171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21624" y="3931920"/>
            <a:ext cx="2999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Reactive</a:t>
            </a:r>
            <a:endParaRPr lang="en-US" sz="2400" dirty="0"/>
          </a:p>
        </p:txBody>
      </p:sp>
      <p:sp>
        <p:nvSpPr>
          <p:cNvPr id="19" name="Text 14"/>
          <p:cNvSpPr/>
          <p:nvPr/>
        </p:nvSpPr>
        <p:spPr>
          <a:xfrm>
            <a:off x="8513064" y="4480560"/>
            <a:ext cx="28163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find out about risk from the guest, not from the system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B6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HotelOps · TSM Consultz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2C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960120"/>
            <a:ext cx="914400" cy="914400"/>
          </a:xfrm>
          <a:prstGeom prst="ellipse">
            <a:avLst/>
          </a:prstGeom>
          <a:solidFill>
            <a:srgbClr val="C9962C"/>
          </a:solidFill>
          <a:ln/>
        </p:spPr>
      </p:sp>
      <p:pic>
        <p:nvPicPr>
          <p:cNvPr id="3" name="Image 0" descr="/home/claude/hotelops-demo/icons/zap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9576" y="1179576"/>
            <a:ext cx="475488" cy="4754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2286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95528" y="2651760"/>
            <a:ext cx="10241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command view for the entire</a:t>
            </a:r>
            <a:endParaRPr lang="en-US" sz="36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hospitality operation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822960" y="425196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7F1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HotelOps watches reservations, STR compliance, and booking traffic continuously — surfacing risk the moment it appears, and routing it to the right team automatically.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A9C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C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HotelOps · TSM Consultz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it’s built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21792" y="8686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tiers, one continuous view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456432" cy="3794760"/>
          </a:xfrm>
          <a:prstGeom prst="roundRect">
            <a:avLst>
              <a:gd name="adj" fmla="val 2116"/>
            </a:avLst>
          </a:prstGeom>
          <a:solidFill>
            <a:srgbClr val="FFFFFF"/>
          </a:solidFill>
          <a:ln w="12700">
            <a:solidFill>
              <a:srgbClr val="E3E7E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11096" y="2148840"/>
            <a:ext cx="914400" cy="914400"/>
          </a:xfrm>
          <a:prstGeom prst="ellipse">
            <a:avLst/>
          </a:prstGeom>
          <a:solidFill>
            <a:srgbClr val="0F3D3E"/>
          </a:solidFill>
          <a:ln/>
        </p:spPr>
      </p:sp>
      <p:pic>
        <p:nvPicPr>
          <p:cNvPr id="6" name="Image 0" descr="/home/claude/hotelops-demo/icons/use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0552" y="2368296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1920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6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14400" y="3291840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 Room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005840" y="3794760"/>
            <a:ext cx="272491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Front-line staff see live reservation and STR risk the moment it’s detected, right where they work.</a:t>
            </a:r>
            <a:endParaRPr lang="en-US" sz="1250" dirty="0"/>
          </a:p>
        </p:txBody>
      </p:sp>
      <p:pic>
        <p:nvPicPr>
          <p:cNvPr id="10" name="Image 1" descr="/home/claude/hotelops-demo/icons/arrow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3944" y="3552444"/>
            <a:ext cx="256032" cy="25603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16552" y="1783080"/>
            <a:ext cx="3456432" cy="3794760"/>
          </a:xfrm>
          <a:prstGeom prst="roundRect">
            <a:avLst>
              <a:gd name="adj" fmla="val 2116"/>
            </a:avLst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687568" y="2148840"/>
            <a:ext cx="914400" cy="914400"/>
          </a:xfrm>
          <a:prstGeom prst="ellipse">
            <a:avLst/>
          </a:prstGeom>
          <a:solidFill>
            <a:srgbClr val="C9962C"/>
          </a:solidFill>
          <a:ln/>
        </p:spPr>
      </p:sp>
      <p:pic>
        <p:nvPicPr>
          <p:cNvPr id="13" name="Image 2" descr="/home/claude/hotelops-demo/icons/chart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7024" y="2368296"/>
            <a:ext cx="475488" cy="47548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599432" y="1920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9C2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4690872" y="3291840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Strategist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4782312" y="3794760"/>
            <a:ext cx="272491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7F1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managers get pattern analysis, workload, and prioritized escalations across the operation.</a:t>
            </a:r>
            <a:endParaRPr lang="en-US" sz="1250" dirty="0"/>
          </a:p>
        </p:txBody>
      </p:sp>
      <p:pic>
        <p:nvPicPr>
          <p:cNvPr id="17" name="Image 3" descr="/home/claude/hotelops-demo/icons/arrow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0416" y="3552444"/>
            <a:ext cx="256032" cy="256032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8193024" y="1783080"/>
            <a:ext cx="3456432" cy="3794760"/>
          </a:xfrm>
          <a:prstGeom prst="roundRect">
            <a:avLst>
              <a:gd name="adj" fmla="val 2116"/>
            </a:avLst>
          </a:prstGeom>
          <a:solidFill>
            <a:srgbClr val="FFFFFF"/>
          </a:solidFill>
          <a:ln w="12700">
            <a:solidFill>
              <a:srgbClr val="E3E7E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9464040" y="2148840"/>
            <a:ext cx="914400" cy="914400"/>
          </a:xfrm>
          <a:prstGeom prst="ellipse">
            <a:avLst/>
          </a:prstGeom>
          <a:solidFill>
            <a:srgbClr val="0F3D3E"/>
          </a:solidFill>
          <a:ln/>
        </p:spPr>
      </p:sp>
      <p:pic>
        <p:nvPicPr>
          <p:cNvPr id="20" name="Image 4" descr="/home/claude/hotelops-demo/icons/ey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83496" y="2368296"/>
            <a:ext cx="475488" cy="47548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375904" y="1920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6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8467344" y="3291840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Portal</a:t>
            </a:r>
            <a:endParaRPr lang="en-US" sz="1900" dirty="0"/>
          </a:p>
        </p:txBody>
      </p:sp>
      <p:sp>
        <p:nvSpPr>
          <p:cNvPr id="23" name="Text 16"/>
          <p:cNvSpPr/>
          <p:nvPr/>
        </p:nvSpPr>
        <p:spPr>
          <a:xfrm>
            <a:off x="8558784" y="3794760"/>
            <a:ext cx="272491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sees rolled-up exposure, resolution timelines, and trends across every property.</a:t>
            </a:r>
            <a:endParaRPr lang="en-US" sz="1250" dirty="0"/>
          </a:p>
        </p:txBody>
      </p:sp>
      <p:sp>
        <p:nvSpPr>
          <p:cNvPr id="24" name="Text 1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B6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HotelOps · TSM Consultz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21792" y="8686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Reservation risk, caught before it costs you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reservation is continuously checked against three risk conditions — each surfaced with the actual dollar amount at stake, not just a generic flag.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10881360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3E7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96696" y="2587752"/>
            <a:ext cx="658368" cy="658368"/>
          </a:xfrm>
          <a:prstGeom prst="ellipse">
            <a:avLst/>
          </a:prstGeom>
          <a:solidFill>
            <a:srgbClr val="0F3D3E"/>
          </a:solidFill>
          <a:ln/>
        </p:spPr>
      </p:sp>
      <p:pic>
        <p:nvPicPr>
          <p:cNvPr id="7" name="Image 0" descr="/home/claude/hotelops-demo/icons/dolla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4704" y="274576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74520" y="24688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 failed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874520" y="2843784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instantly with room type, hours to arrival, and the exact amount at risk.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0080" y="3657600"/>
            <a:ext cx="10881360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3E7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96696" y="3913632"/>
            <a:ext cx="658368" cy="658368"/>
          </a:xfrm>
          <a:prstGeom prst="ellipse">
            <a:avLst/>
          </a:prstGeom>
          <a:solidFill>
            <a:srgbClr val="0F3D3E"/>
          </a:solidFill>
          <a:ln/>
        </p:spPr>
      </p:sp>
      <p:pic>
        <p:nvPicPr>
          <p:cNvPr id="12" name="Image 1" descr="/home/claude/hotelops-demo/icons/clo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704" y="4071640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874520" y="3794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Unconfirmed near arrival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1874520" y="4169664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Reservations closing in on check-in without confirmation are escalated automatically.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40080" y="4983480"/>
            <a:ext cx="10881360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3E7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996696" y="5239512"/>
            <a:ext cx="658368" cy="658368"/>
          </a:xfrm>
          <a:prstGeom prst="ellipse">
            <a:avLst/>
          </a:prstGeom>
          <a:solidFill>
            <a:srgbClr val="0F3D3E"/>
          </a:solidFill>
          <a:ln/>
        </p:spPr>
      </p:sp>
      <p:pic>
        <p:nvPicPr>
          <p:cNvPr id="17" name="Image 2" descr="/home/claude/hotelops-demo/icons/user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4704" y="5397520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874520" y="5120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Waitlist risk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1874520" y="5495544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Unsecured room types on the waitlist are surfaced before they become a guest-facing problem.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B6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 RISK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HotelOps · TSM Consultz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21792" y="8686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Airbnb &amp; short-term rental oversight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 risk doesn’t stop at the front desk. HotelOps tracks five real operational risk signals across every unit.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3456432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2700">
            <a:solidFill>
              <a:srgbClr val="E3E7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2478024"/>
            <a:ext cx="621792" cy="621792"/>
          </a:xfrm>
          <a:prstGeom prst="ellipse">
            <a:avLst/>
          </a:prstGeom>
          <a:solidFill>
            <a:srgbClr val="C9962C"/>
          </a:solidFill>
          <a:ln/>
        </p:spPr>
      </p:sp>
      <p:pic>
        <p:nvPicPr>
          <p:cNvPr id="7" name="Image 0" descr="/home/claude/hotelops-demo/icons/clock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342" y="2627254"/>
            <a:ext cx="323332" cy="3233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2441448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Turnover overdue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8680" y="3081528"/>
            <a:ext cx="2999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B6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past their cleaning/turnover window are flagged before the next guest arrives.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416552" y="2240280"/>
            <a:ext cx="3456432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2700">
            <a:solidFill>
              <a:srgbClr val="E3E7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72584" y="2478024"/>
            <a:ext cx="621792" cy="621792"/>
          </a:xfrm>
          <a:prstGeom prst="ellipse">
            <a:avLst/>
          </a:prstGeom>
          <a:solidFill>
            <a:srgbClr val="C9962C"/>
          </a:solidFill>
          <a:ln/>
        </p:spPr>
      </p:sp>
      <p:pic>
        <p:nvPicPr>
          <p:cNvPr id="12" name="Image 1" descr="/home/claude/hotelops-demo/icons/refresh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1814" y="2627254"/>
            <a:ext cx="323332" cy="3233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76672" y="2441448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Calendar sync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645152" y="3081528"/>
            <a:ext cx="2999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B6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calendar drift across channels is caught before it causes a double-booking.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193024" y="2240280"/>
            <a:ext cx="3456432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2700">
            <a:solidFill>
              <a:srgbClr val="E3E7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449056" y="2478024"/>
            <a:ext cx="621792" cy="621792"/>
          </a:xfrm>
          <a:prstGeom prst="ellipse">
            <a:avLst/>
          </a:prstGeom>
          <a:solidFill>
            <a:srgbClr val="C9962C"/>
          </a:solidFill>
          <a:ln/>
        </p:spPr>
      </p:sp>
      <p:pic>
        <p:nvPicPr>
          <p:cNvPr id="17" name="Image 2" descr="/home/claude/hotelops-demo/icons/key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8286" y="2627254"/>
            <a:ext cx="323332" cy="3233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153144" y="2441448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Lockbox rotation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8421624" y="3081528"/>
            <a:ext cx="2999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B6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 access-code rotations are surfaced as a security risk, not just a maintenance task.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40080" y="4206240"/>
            <a:ext cx="3456432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2700">
            <a:solidFill>
              <a:srgbClr val="E3E7E5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96112" y="4443984"/>
            <a:ext cx="621792" cy="621792"/>
          </a:xfrm>
          <a:prstGeom prst="ellipse">
            <a:avLst/>
          </a:prstGeom>
          <a:solidFill>
            <a:srgbClr val="C9962C"/>
          </a:solidFill>
          <a:ln/>
        </p:spPr>
      </p:sp>
      <p:pic>
        <p:nvPicPr>
          <p:cNvPr id="22" name="Image 3" descr="/home/claude/hotelops-demo/icons/message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342" y="4593214"/>
            <a:ext cx="323332" cy="32333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600200" y="4407408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Host response SLA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868680" y="5047488"/>
            <a:ext cx="2999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B6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guest responses are tracked against platform SLA thresholds before they hurt ratings.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4416552" y="4206240"/>
            <a:ext cx="3456432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2700">
            <a:solidFill>
              <a:srgbClr val="E3E7E5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4672584" y="4443984"/>
            <a:ext cx="621792" cy="621792"/>
          </a:xfrm>
          <a:prstGeom prst="ellipse">
            <a:avLst/>
          </a:prstGeom>
          <a:solidFill>
            <a:srgbClr val="C9962C"/>
          </a:solidFill>
          <a:ln/>
        </p:spPr>
      </p:sp>
      <p:pic>
        <p:nvPicPr>
          <p:cNvPr id="27" name="Image 4" descr="/home/claude/hotelops-demo/icons/wifi_te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1814" y="4593214"/>
            <a:ext cx="323332" cy="3233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376672" y="4407408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IoT-linked risk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4645152" y="5047488"/>
            <a:ext cx="2999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B6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Connected-device signals (locks, sensors) feed directly into the same risk model.</a:t>
            </a:r>
            <a:endParaRPr lang="en-US" sz="1050" dirty="0"/>
          </a:p>
        </p:txBody>
      </p:sp>
      <p:sp>
        <p:nvSpPr>
          <p:cNvPr id="30" name="Text 2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B6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 MONITORING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HotelOps · TSM Consultz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2C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21792" y="8686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booking, verified at the door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F1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booking webhook enforces three layers of protection before a reservation ever touches the system.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3456432" cy="3291840"/>
          </a:xfrm>
          <a:prstGeom prst="roundRect">
            <a:avLst>
              <a:gd name="adj" fmla="val 2222"/>
            </a:avLst>
          </a:prstGeom>
          <a:solidFill>
            <a:srgbClr val="145251"/>
          </a:solidFill>
          <a:ln/>
        </p:spPr>
      </p:sp>
      <p:sp>
        <p:nvSpPr>
          <p:cNvPr id="6" name="Shape 4"/>
          <p:cNvSpPr/>
          <p:nvPr/>
        </p:nvSpPr>
        <p:spPr>
          <a:xfrm>
            <a:off x="1933956" y="2674620"/>
            <a:ext cx="868680" cy="868680"/>
          </a:xfrm>
          <a:prstGeom prst="ellipse">
            <a:avLst/>
          </a:prstGeom>
          <a:solidFill>
            <a:srgbClr val="C9962C"/>
          </a:solidFill>
          <a:ln/>
        </p:spPr>
      </p:sp>
      <p:pic>
        <p:nvPicPr>
          <p:cNvPr id="7" name="Image 0" descr="/home/claude/hotelops-demo/icons/lock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2439" y="2883103"/>
            <a:ext cx="451714" cy="45171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3749040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Shared-secret auth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60120" y="4297680"/>
            <a:ext cx="2816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E7F1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are verified with a timing-safe signature check. Fails closed if unconfigured.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416552" y="2331720"/>
            <a:ext cx="3456432" cy="3291840"/>
          </a:xfrm>
          <a:prstGeom prst="roundRect">
            <a:avLst>
              <a:gd name="adj" fmla="val 2222"/>
            </a:avLst>
          </a:prstGeom>
          <a:solidFill>
            <a:srgbClr val="145251"/>
          </a:solidFill>
          <a:ln/>
        </p:spPr>
      </p:sp>
      <p:sp>
        <p:nvSpPr>
          <p:cNvPr id="11" name="Shape 8"/>
          <p:cNvSpPr/>
          <p:nvPr/>
        </p:nvSpPr>
        <p:spPr>
          <a:xfrm>
            <a:off x="5710428" y="2674620"/>
            <a:ext cx="868680" cy="868680"/>
          </a:xfrm>
          <a:prstGeom prst="ellipse">
            <a:avLst/>
          </a:prstGeom>
          <a:solidFill>
            <a:srgbClr val="C9962C"/>
          </a:solidFill>
          <a:ln/>
        </p:spPr>
      </p:sp>
      <p:pic>
        <p:nvPicPr>
          <p:cNvPr id="12" name="Image 1" descr="/home/claude/hotelops-demo/icons/shield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8911" y="2883103"/>
            <a:ext cx="451714" cy="45171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45152" y="3749040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Rate limiting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736592" y="4297680"/>
            <a:ext cx="2816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E7F1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sliding-window limiter blocks runaway or junk traffic before it reaches processing.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193024" y="2331720"/>
            <a:ext cx="3456432" cy="3291840"/>
          </a:xfrm>
          <a:prstGeom prst="roundRect">
            <a:avLst>
              <a:gd name="adj" fmla="val 2222"/>
            </a:avLst>
          </a:prstGeom>
          <a:solidFill>
            <a:srgbClr val="145251"/>
          </a:solidFill>
          <a:ln/>
        </p:spPr>
      </p:sp>
      <p:sp>
        <p:nvSpPr>
          <p:cNvPr id="16" name="Shape 12"/>
          <p:cNvSpPr/>
          <p:nvPr/>
        </p:nvSpPr>
        <p:spPr>
          <a:xfrm>
            <a:off x="9486900" y="2674620"/>
            <a:ext cx="868680" cy="868680"/>
          </a:xfrm>
          <a:prstGeom prst="ellipse">
            <a:avLst/>
          </a:prstGeom>
          <a:solidFill>
            <a:srgbClr val="C9962C"/>
          </a:solidFill>
          <a:ln/>
        </p:spPr>
      </p:sp>
      <p:pic>
        <p:nvPicPr>
          <p:cNvPr id="17" name="Image 2" descr="/home/claude/hotelops-demo/icons/check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5383" y="2883103"/>
            <a:ext cx="451714" cy="45171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21624" y="3749040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Payload validation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513064" y="4297680"/>
            <a:ext cx="2816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E7F1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Guest, room, amount, and date fields are checked for shape and sane bounds.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A9C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BOOKING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C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HotelOps · TSM Consultz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21792" y="8686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you can trust, end to end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B6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payload moving through HotelOps — reservations, STR risk records, sentinel escalations — is signed with a SHA-256 integrity check.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76656" y="2944368"/>
            <a:ext cx="384048" cy="384048"/>
          </a:xfrm>
          <a:prstGeom prst="ellipse">
            <a:avLst/>
          </a:prstGeom>
          <a:solidFill>
            <a:srgbClr val="0F3D3E"/>
          </a:solidFill>
          <a:ln/>
        </p:spPr>
      </p:sp>
      <p:pic>
        <p:nvPicPr>
          <p:cNvPr id="6" name="Image 0" descr="/home/claude/hotelops-demo/icons/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828" y="3036540"/>
            <a:ext cx="199705" cy="19970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29718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at the source, verified on load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76656" y="3538728"/>
            <a:ext cx="384048" cy="384048"/>
          </a:xfrm>
          <a:prstGeom prst="ellipse">
            <a:avLst/>
          </a:prstGeom>
          <a:solidFill>
            <a:srgbClr val="0F3D3E"/>
          </a:solidFill>
          <a:ln/>
        </p:spPr>
      </p:sp>
      <p:pic>
        <p:nvPicPr>
          <p:cNvPr id="9" name="Image 1" descr="/home/claude/hotelops-demo/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828" y="3630900"/>
            <a:ext cx="199705" cy="19970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35661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Tampering is flagged, never silently trusted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76656" y="4133088"/>
            <a:ext cx="384048" cy="384048"/>
          </a:xfrm>
          <a:prstGeom prst="ellipse">
            <a:avLst/>
          </a:prstGeom>
          <a:solidFill>
            <a:srgbClr val="0F3D3E"/>
          </a:solidFill>
          <a:ln/>
        </p:spPr>
      </p:sp>
      <p:pic>
        <p:nvPicPr>
          <p:cNvPr id="12" name="Image 2" descr="/home/claude/hotelops-demo/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828" y="4225260"/>
            <a:ext cx="199705" cy="19970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34440" y="41605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bad hash warns instead of blocking the view — ops never lose access to data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6400800" y="1828800"/>
            <a:ext cx="5120640" cy="3657600"/>
          </a:xfrm>
          <a:prstGeom prst="roundRect">
            <a:avLst>
              <a:gd name="adj" fmla="val 2500"/>
            </a:avLst>
          </a:prstGeom>
          <a:solidFill>
            <a:srgbClr val="0A2C2D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8481060" y="2217420"/>
            <a:ext cx="960120" cy="960120"/>
          </a:xfrm>
          <a:prstGeom prst="ellipse">
            <a:avLst/>
          </a:prstGeom>
          <a:solidFill>
            <a:srgbClr val="C9962C"/>
          </a:solidFill>
          <a:ln/>
        </p:spPr>
      </p:sp>
      <p:pic>
        <p:nvPicPr>
          <p:cNvPr id="16" name="Image 3" descr="/home/claude/hotelops-demo/icons/shield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1489" y="2447849"/>
            <a:ext cx="499262" cy="49926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766560" y="33375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Integrity-Verified Record</a:t>
            </a:r>
            <a:endParaRPr lang="en-US" sz="1600" dirty="0"/>
          </a:p>
        </p:txBody>
      </p:sp>
      <p:sp>
        <p:nvSpPr>
          <p:cNvPr id="18" name="Shape 12"/>
          <p:cNvSpPr/>
          <p:nvPr/>
        </p:nvSpPr>
        <p:spPr>
          <a:xfrm>
            <a:off x="6766560" y="3931920"/>
            <a:ext cx="4389120" cy="457200"/>
          </a:xfrm>
          <a:prstGeom prst="roundRect">
            <a:avLst>
              <a:gd name="adj" fmla="val 10000"/>
            </a:avLst>
          </a:prstGeom>
          <a:solidFill>
            <a:srgbClr val="145251"/>
          </a:solidFill>
          <a:ln/>
        </p:spPr>
      </p:sp>
      <p:sp>
        <p:nvSpPr>
          <p:cNvPr id="19" name="Text 13"/>
          <p:cNvSpPr/>
          <p:nvPr/>
        </p:nvSpPr>
        <p:spPr>
          <a:xfrm>
            <a:off x="6949440" y="39319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7F1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payload: { reservation, amount, ...}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6766560" y="4498848"/>
            <a:ext cx="4389120" cy="457200"/>
          </a:xfrm>
          <a:prstGeom prst="roundRect">
            <a:avLst>
              <a:gd name="adj" fmla="val 10000"/>
            </a:avLst>
          </a:prstGeom>
          <a:solidFill>
            <a:srgbClr val="145251"/>
          </a:solidFill>
          <a:ln/>
        </p:spPr>
      </p:sp>
      <p:sp>
        <p:nvSpPr>
          <p:cNvPr id="21" name="Text 15"/>
          <p:cNvSpPr/>
          <p:nvPr/>
        </p:nvSpPr>
        <p:spPr>
          <a:xfrm>
            <a:off x="6949440" y="449884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7F1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signature: sha256( payload + module )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6766560" y="5065776"/>
            <a:ext cx="4389120" cy="457200"/>
          </a:xfrm>
          <a:prstGeom prst="roundRect">
            <a:avLst>
              <a:gd name="adj" fmla="val 10000"/>
            </a:avLst>
          </a:prstGeom>
          <a:solidFill>
            <a:srgbClr val="145251"/>
          </a:solidFill>
          <a:ln/>
        </p:spPr>
      </p:sp>
      <p:sp>
        <p:nvSpPr>
          <p:cNvPr id="23" name="Text 17"/>
          <p:cNvSpPr/>
          <p:nvPr/>
        </p:nvSpPr>
        <p:spPr>
          <a:xfrm>
            <a:off x="6949440" y="506577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7F1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verified: true  ·  source: rcm-os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B6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HotelOps · TSM Consultz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21792" y="8686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detection to resolution, automatically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HotelOps detects risk, it doesn’t just flag it — it opens a tracked mission and routes it to the right team.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2514600"/>
            <a:ext cx="2468880" cy="288036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3E7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23060" y="2857500"/>
            <a:ext cx="777240" cy="777240"/>
          </a:xfrm>
          <a:prstGeom prst="ellipse">
            <a:avLst/>
          </a:prstGeom>
          <a:solidFill>
            <a:srgbClr val="0F3D3E"/>
          </a:solidFill>
          <a:ln/>
        </p:spPr>
      </p:sp>
      <p:pic>
        <p:nvPicPr>
          <p:cNvPr id="7" name="Image 0" descr="/home/claude/hotelops-demo/icons/aler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09598" y="3044038"/>
            <a:ext cx="404165" cy="40416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37947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detected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960120" y="42976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 or STR risk signal fires</a:t>
            </a:r>
            <a:endParaRPr lang="en-US" sz="1050" dirty="0"/>
          </a:p>
        </p:txBody>
      </p:sp>
      <p:pic>
        <p:nvPicPr>
          <p:cNvPr id="10" name="Image 1" descr="/home/claude/hotelops-demo/icons/arrow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9272" y="3826764"/>
            <a:ext cx="256032" cy="25603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657600" y="2514600"/>
            <a:ext cx="2468880" cy="288036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3E7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503420" y="2857500"/>
            <a:ext cx="777240" cy="777240"/>
          </a:xfrm>
          <a:prstGeom prst="ellipse">
            <a:avLst/>
          </a:prstGeom>
          <a:solidFill>
            <a:srgbClr val="0F3D3E"/>
          </a:solidFill>
          <a:ln/>
        </p:spPr>
      </p:sp>
      <p:pic>
        <p:nvPicPr>
          <p:cNvPr id="13" name="Image 2" descr="/home/claude/hotelops-demo/icons/rout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9958" y="3044038"/>
            <a:ext cx="404165" cy="40416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794760" y="37947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Mission created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3840480" y="42976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Auto-logged with severity &amp; context</a:t>
            </a:r>
            <a:endParaRPr lang="en-US" sz="1050" dirty="0"/>
          </a:p>
        </p:txBody>
      </p:sp>
      <p:pic>
        <p:nvPicPr>
          <p:cNvPr id="16" name="Image 3" descr="/home/claude/hotelops-demo/icons/arrow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632" y="3826764"/>
            <a:ext cx="256032" cy="256032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6537960" y="2514600"/>
            <a:ext cx="2468880" cy="288036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3E7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7383780" y="2857500"/>
            <a:ext cx="777240" cy="777240"/>
          </a:xfrm>
          <a:prstGeom prst="ellipse">
            <a:avLst/>
          </a:prstGeom>
          <a:solidFill>
            <a:srgbClr val="0F3D3E"/>
          </a:solidFill>
          <a:ln/>
        </p:spPr>
      </p:sp>
      <p:pic>
        <p:nvPicPr>
          <p:cNvPr id="19" name="Image 4" descr="/home/claude/hotelops-demo/icons/users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0318" y="3044038"/>
            <a:ext cx="404165" cy="404165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675120" y="37947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routed</a:t>
            </a:r>
            <a:endParaRPr lang="en-US" sz="1350" dirty="0"/>
          </a:p>
        </p:txBody>
      </p:sp>
      <p:sp>
        <p:nvSpPr>
          <p:cNvPr id="21" name="Text 14"/>
          <p:cNvSpPr/>
          <p:nvPr/>
        </p:nvSpPr>
        <p:spPr>
          <a:xfrm>
            <a:off x="6720840" y="42976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to the right operator</a:t>
            </a:r>
            <a:endParaRPr lang="en-US" sz="1050" dirty="0"/>
          </a:p>
        </p:txBody>
      </p:sp>
      <p:pic>
        <p:nvPicPr>
          <p:cNvPr id="22" name="Image 5" descr="/home/claude/hotelops-demo/icons/arrow_tea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9992" y="3826764"/>
            <a:ext cx="256032" cy="256032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9418320" y="2514600"/>
            <a:ext cx="2468880" cy="288036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3E7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Shape 16"/>
          <p:cNvSpPr/>
          <p:nvPr/>
        </p:nvSpPr>
        <p:spPr>
          <a:xfrm>
            <a:off x="10264140" y="2857500"/>
            <a:ext cx="777240" cy="777240"/>
          </a:xfrm>
          <a:prstGeom prst="ellipse">
            <a:avLst/>
          </a:prstGeom>
          <a:solidFill>
            <a:srgbClr val="C9962C"/>
          </a:solidFill>
          <a:ln/>
        </p:spPr>
      </p:sp>
      <p:pic>
        <p:nvPicPr>
          <p:cNvPr id="25" name="Image 6" descr="/home/claude/hotelops-demo/icons/check_teal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50678" y="3044038"/>
            <a:ext cx="404165" cy="404165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9555480" y="37947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Tracked to close</a:t>
            </a:r>
            <a:endParaRPr lang="en-US" sz="1350" dirty="0"/>
          </a:p>
        </p:txBody>
      </p:sp>
      <p:sp>
        <p:nvSpPr>
          <p:cNvPr id="27" name="Text 18"/>
          <p:cNvSpPr/>
          <p:nvPr/>
        </p:nvSpPr>
        <p:spPr>
          <a:xfrm>
            <a:off x="9601200" y="42976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until resolved, no drop-offs</a:t>
            </a:r>
            <a:endParaRPr lang="en-US" sz="1050" dirty="0"/>
          </a:p>
        </p:txBody>
      </p:sp>
      <p:sp>
        <p:nvSpPr>
          <p:cNvPr id="28" name="Text 1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B6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&amp; ROUTING</a:t>
            </a:r>
            <a:endParaRPr lang="en-US" sz="900" dirty="0"/>
          </a:p>
        </p:txBody>
      </p:sp>
      <p:sp>
        <p:nvSpPr>
          <p:cNvPr id="29" name="Text 20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HotelOps · TSM Consultz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2C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21792" y="8686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view across every property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E7F1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 Center rolls up severity and exposure from every HotelOps property into a single real-time oversight view for leadership.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85800" y="2670048"/>
            <a:ext cx="365760" cy="365760"/>
          </a:xfrm>
          <a:prstGeom prst="ellipse">
            <a:avLst/>
          </a:prstGeom>
          <a:solidFill>
            <a:srgbClr val="C9962C"/>
          </a:solidFill>
          <a:ln/>
        </p:spPr>
      </p:sp>
      <p:pic>
        <p:nvPicPr>
          <p:cNvPr id="6" name="Image 0" descr="/home/claude/hotelops-demo/icons/eye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3582" y="2757830"/>
            <a:ext cx="190195" cy="19019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269748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Cross-property severity &amp; exposure, always current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85800" y="3236976"/>
            <a:ext cx="365760" cy="365760"/>
          </a:xfrm>
          <a:prstGeom prst="ellipse">
            <a:avLst/>
          </a:prstGeom>
          <a:solidFill>
            <a:srgbClr val="C9962C"/>
          </a:solidFill>
          <a:ln/>
        </p:spPr>
      </p:sp>
      <p:pic>
        <p:nvPicPr>
          <p:cNvPr id="9" name="Image 1" descr="/home/claude/hotelops-demo/icons/eye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582" y="3324758"/>
            <a:ext cx="190195" cy="19019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3264408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manual roll-up — every property pushes automatically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85800" y="3803904"/>
            <a:ext cx="365760" cy="365760"/>
          </a:xfrm>
          <a:prstGeom prst="ellipse">
            <a:avLst/>
          </a:prstGeom>
          <a:solidFill>
            <a:srgbClr val="C9962C"/>
          </a:solidFill>
          <a:ln/>
        </p:spPr>
      </p:sp>
      <p:pic>
        <p:nvPicPr>
          <p:cNvPr id="12" name="Image 2" descr="/home/claude/hotelops-demo/icons/eye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582" y="3891686"/>
            <a:ext cx="190195" cy="19019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34440" y="3831336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oversight pattern used across all TSM verticals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7406640" y="1828800"/>
            <a:ext cx="4114800" cy="3749040"/>
          </a:xfrm>
          <a:prstGeom prst="roundRect">
            <a:avLst>
              <a:gd name="adj" fmla="val 2439"/>
            </a:avLst>
          </a:prstGeom>
          <a:solidFill>
            <a:srgbClr val="145251"/>
          </a:solidFill>
          <a:ln/>
        </p:spPr>
      </p:sp>
      <p:sp>
        <p:nvSpPr>
          <p:cNvPr id="15" name="Text 10"/>
          <p:cNvSpPr/>
          <p:nvPr/>
        </p:nvSpPr>
        <p:spPr>
          <a:xfrm>
            <a:off x="7726680" y="21031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9C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EXPOSURE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7726680" y="2606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Riverside Hotel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7726680" y="2898648"/>
            <a:ext cx="2377440" cy="164592"/>
          </a:xfrm>
          <a:prstGeom prst="roundRect">
            <a:avLst>
              <a:gd name="adj" fmla="val 16667"/>
            </a:avLst>
          </a:prstGeom>
          <a:solidFill>
            <a:srgbClr val="0A2C2D"/>
          </a:solidFill>
          <a:ln/>
        </p:spPr>
      </p:sp>
      <p:sp>
        <p:nvSpPr>
          <p:cNvPr id="18" name="Shape 13"/>
          <p:cNvSpPr/>
          <p:nvPr/>
        </p:nvSpPr>
        <p:spPr>
          <a:xfrm>
            <a:off x="7726680" y="2898648"/>
            <a:ext cx="2020824" cy="164592"/>
          </a:xfrm>
          <a:prstGeom prst="roundRect">
            <a:avLst>
              <a:gd name="adj" fmla="val 16667"/>
            </a:avLst>
          </a:prstGeom>
          <a:solidFill>
            <a:srgbClr val="D9534F"/>
          </a:solidFill>
          <a:ln/>
        </p:spPr>
      </p:sp>
      <p:sp>
        <p:nvSpPr>
          <p:cNvPr id="19" name="Text 14"/>
          <p:cNvSpPr/>
          <p:nvPr/>
        </p:nvSpPr>
        <p:spPr>
          <a:xfrm>
            <a:off x="7726680" y="33558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Downtown Suites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7726680" y="3648456"/>
            <a:ext cx="2377440" cy="164592"/>
          </a:xfrm>
          <a:prstGeom prst="roundRect">
            <a:avLst>
              <a:gd name="adj" fmla="val 16667"/>
            </a:avLst>
          </a:prstGeom>
          <a:solidFill>
            <a:srgbClr val="0A2C2D"/>
          </a:solidFill>
          <a:ln/>
        </p:spPr>
      </p:sp>
      <p:sp>
        <p:nvSpPr>
          <p:cNvPr id="21" name="Shape 16"/>
          <p:cNvSpPr/>
          <p:nvPr/>
        </p:nvSpPr>
        <p:spPr>
          <a:xfrm>
            <a:off x="7726680" y="3648456"/>
            <a:ext cx="1069848" cy="164592"/>
          </a:xfrm>
          <a:prstGeom prst="roundRect">
            <a:avLst>
              <a:gd name="adj" fmla="val 16667"/>
            </a:avLst>
          </a:prstGeom>
          <a:solidFill>
            <a:srgbClr val="C9962C"/>
          </a:solidFill>
          <a:ln/>
        </p:spPr>
      </p:sp>
      <p:sp>
        <p:nvSpPr>
          <p:cNvPr id="22" name="Text 17"/>
          <p:cNvSpPr/>
          <p:nvPr/>
        </p:nvSpPr>
        <p:spPr>
          <a:xfrm>
            <a:off x="7726680" y="4105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Harbor STR Units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7726680" y="4398264"/>
            <a:ext cx="2377440" cy="164592"/>
          </a:xfrm>
          <a:prstGeom prst="roundRect">
            <a:avLst>
              <a:gd name="adj" fmla="val 16667"/>
            </a:avLst>
          </a:prstGeom>
          <a:solidFill>
            <a:srgbClr val="0A2C2D"/>
          </a:solidFill>
          <a:ln/>
        </p:spPr>
      </p:sp>
      <p:sp>
        <p:nvSpPr>
          <p:cNvPr id="24" name="Shape 19"/>
          <p:cNvSpPr/>
          <p:nvPr/>
        </p:nvSpPr>
        <p:spPr>
          <a:xfrm>
            <a:off x="7726680" y="4398264"/>
            <a:ext cx="1474013" cy="164592"/>
          </a:xfrm>
          <a:prstGeom prst="roundRect">
            <a:avLst>
              <a:gd name="adj" fmla="val 16667"/>
            </a:avLst>
          </a:prstGeom>
          <a:solidFill>
            <a:srgbClr val="C9962C"/>
          </a:solidFill>
          <a:ln/>
        </p:spPr>
      </p:sp>
      <p:sp>
        <p:nvSpPr>
          <p:cNvPr id="25" name="Text 20"/>
          <p:cNvSpPr/>
          <p:nvPr/>
        </p:nvSpPr>
        <p:spPr>
          <a:xfrm>
            <a:off x="7726680" y="48554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 Lodge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7726680" y="5148072"/>
            <a:ext cx="2377440" cy="164592"/>
          </a:xfrm>
          <a:prstGeom prst="roundRect">
            <a:avLst>
              <a:gd name="adj" fmla="val 16667"/>
            </a:avLst>
          </a:prstGeom>
          <a:solidFill>
            <a:srgbClr val="0A2C2D"/>
          </a:solidFill>
          <a:ln/>
        </p:spPr>
      </p:sp>
      <p:sp>
        <p:nvSpPr>
          <p:cNvPr id="27" name="Shape 22"/>
          <p:cNvSpPr/>
          <p:nvPr/>
        </p:nvSpPr>
        <p:spPr>
          <a:xfrm>
            <a:off x="7726680" y="5148072"/>
            <a:ext cx="523037" cy="164592"/>
          </a:xfrm>
          <a:prstGeom prst="roundRect">
            <a:avLst>
              <a:gd name="adj" fmla="val 16667"/>
            </a:avLst>
          </a:prstGeom>
          <a:solidFill>
            <a:srgbClr val="5FA88F"/>
          </a:solidFill>
          <a:ln/>
        </p:spPr>
      </p:sp>
      <p:sp>
        <p:nvSpPr>
          <p:cNvPr id="28" name="Text 2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A9C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 CENTER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C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HotelOps · TSM Consultz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21792" y="8686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so your team actually uses it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25780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3E7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82980" y="2263140"/>
            <a:ext cx="868680" cy="868680"/>
          </a:xfrm>
          <a:prstGeom prst="ellipse">
            <a:avLst/>
          </a:prstGeom>
          <a:solidFill>
            <a:srgbClr val="0F3D3E"/>
          </a:solidFill>
          <a:ln/>
        </p:spPr>
      </p:sp>
      <p:pic>
        <p:nvPicPr>
          <p:cNvPr id="6" name="Image 0" descr="/home/claude/hotelops-demo/icons/boo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1463" y="2471623"/>
            <a:ext cx="451714" cy="45171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342900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In-app guidance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005840" y="3931920"/>
            <a:ext cx="4526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6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How-To guide is built directly into the war room, grounded in what the risk engine actually checks — no separate manual to hunt down.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63640" y="1920240"/>
            <a:ext cx="525780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3E7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06540" y="2263140"/>
            <a:ext cx="868680" cy="868680"/>
          </a:xfrm>
          <a:prstGeom prst="ellipse">
            <a:avLst/>
          </a:prstGeom>
          <a:solidFill>
            <a:srgbClr val="0F3D3E"/>
          </a:solidFill>
          <a:ln/>
        </p:spPr>
      </p:sp>
      <p:pic>
        <p:nvPicPr>
          <p:cNvPr id="11" name="Image 1" descr="/home/claude/hotelops-demo/icons/layer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5023" y="2471623"/>
            <a:ext cx="451714" cy="45171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629400" y="342900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new workflow to learn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6629400" y="3931920"/>
            <a:ext cx="4526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6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HotelOps sits on top of how your team already works — reservations and STR units, in the same view they already use.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B6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HotelOps · TSM Consultz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2C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TSM Consultz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21792" y="8686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proven pattern, not a one-off build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E7F1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HotelOps runs on the same architecture TSM Consultz operates across nine industry verticals — the security, integrity, and escalation model is battle-tested, not built from scratch for hospitality.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3456432" cy="2880360"/>
          </a:xfrm>
          <a:prstGeom prst="roundRect">
            <a:avLst>
              <a:gd name="adj" fmla="val 2540"/>
            </a:avLst>
          </a:prstGeom>
          <a:solidFill>
            <a:srgbClr val="145251"/>
          </a:solidFill>
          <a:ln/>
        </p:spPr>
      </p:sp>
      <p:sp>
        <p:nvSpPr>
          <p:cNvPr id="6" name="Shape 4"/>
          <p:cNvSpPr/>
          <p:nvPr/>
        </p:nvSpPr>
        <p:spPr>
          <a:xfrm>
            <a:off x="1979676" y="2903220"/>
            <a:ext cx="777240" cy="777240"/>
          </a:xfrm>
          <a:prstGeom prst="ellipse">
            <a:avLst/>
          </a:prstGeom>
          <a:solidFill>
            <a:srgbClr val="C9962C"/>
          </a:solidFill>
          <a:ln/>
        </p:spPr>
      </p:sp>
      <p:pic>
        <p:nvPicPr>
          <p:cNvPr id="7" name="Image 0" descr="/home/claude/hotelops-demo/icons/layers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6214" y="3089758"/>
            <a:ext cx="404165" cy="40416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3840480"/>
            <a:ext cx="2999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platform, nine verticals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14400" y="4389120"/>
            <a:ext cx="29077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E7F1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Healthcare, FinOps, Legal, Construction, and more all run on this same core.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416552" y="2606040"/>
            <a:ext cx="3456432" cy="2880360"/>
          </a:xfrm>
          <a:prstGeom prst="roundRect">
            <a:avLst>
              <a:gd name="adj" fmla="val 2540"/>
            </a:avLst>
          </a:prstGeom>
          <a:solidFill>
            <a:srgbClr val="145251"/>
          </a:solidFill>
          <a:ln/>
        </p:spPr>
      </p:sp>
      <p:sp>
        <p:nvSpPr>
          <p:cNvPr id="11" name="Shape 8"/>
          <p:cNvSpPr/>
          <p:nvPr/>
        </p:nvSpPr>
        <p:spPr>
          <a:xfrm>
            <a:off x="5756148" y="2903220"/>
            <a:ext cx="777240" cy="777240"/>
          </a:xfrm>
          <a:prstGeom prst="ellipse">
            <a:avLst/>
          </a:prstGeom>
          <a:solidFill>
            <a:srgbClr val="C9962C"/>
          </a:solidFill>
          <a:ln/>
        </p:spPr>
      </p:sp>
      <p:pic>
        <p:nvPicPr>
          <p:cNvPr id="12" name="Image 1" descr="/home/claude/hotelops-demo/icons/shield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2686" y="3089758"/>
            <a:ext cx="404165" cy="40416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45152" y="3840480"/>
            <a:ext cx="2999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Security-first by default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690872" y="4389120"/>
            <a:ext cx="29077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E7F1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payloads, timing-safe auth, and fail-closed design are the baseline, not an add-on.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193024" y="2606040"/>
            <a:ext cx="3456432" cy="2880360"/>
          </a:xfrm>
          <a:prstGeom prst="roundRect">
            <a:avLst>
              <a:gd name="adj" fmla="val 2540"/>
            </a:avLst>
          </a:prstGeom>
          <a:solidFill>
            <a:srgbClr val="145251"/>
          </a:solidFill>
          <a:ln/>
        </p:spPr>
      </p:sp>
      <p:sp>
        <p:nvSpPr>
          <p:cNvPr id="16" name="Shape 12"/>
          <p:cNvSpPr/>
          <p:nvPr/>
        </p:nvSpPr>
        <p:spPr>
          <a:xfrm>
            <a:off x="9532620" y="2903220"/>
            <a:ext cx="777240" cy="777240"/>
          </a:xfrm>
          <a:prstGeom prst="ellipse">
            <a:avLst/>
          </a:prstGeom>
          <a:solidFill>
            <a:srgbClr val="C9962C"/>
          </a:solidFill>
          <a:ln/>
        </p:spPr>
      </p:sp>
      <p:pic>
        <p:nvPicPr>
          <p:cNvPr id="17" name="Image 2" descr="/home/claude/hotelops-demo/icons/route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9158" y="3089758"/>
            <a:ext cx="404165" cy="40416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21624" y="3840480"/>
            <a:ext cx="2999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 vendor, full stack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467344" y="4389120"/>
            <a:ext cx="29077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E7F1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 room, strategist, and executive views ship together — no integration puzzle.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A9C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TSM CONSULTZ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C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HotelOps · TSM Consultz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F2F5F4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960120"/>
            <a:ext cx="822960" cy="822960"/>
          </a:xfrm>
          <a:prstGeom prst="ellipse">
            <a:avLst/>
          </a:prstGeom>
          <a:solidFill>
            <a:srgbClr val="0F3D3E"/>
          </a:solidFill>
          <a:ln/>
        </p:spPr>
      </p:sp>
      <p:pic>
        <p:nvPicPr>
          <p:cNvPr id="4" name="Image 0" descr="/home/claude/hotelops-demo/icons/targe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1910" y="1157630"/>
            <a:ext cx="427939" cy="42793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2240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95528" y="260604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Let’s put HotelOps on your property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822960" y="34290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5B6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pilot starts with one property or unit cluster — reservation risk and STR monitoring live within days, no workflow disruption.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822960" y="4389120"/>
            <a:ext cx="457200" cy="457200"/>
          </a:xfrm>
          <a:prstGeom prst="ellipse">
            <a:avLst/>
          </a:prstGeom>
          <a:solidFill>
            <a:srgbClr val="0F3D3E"/>
          </a:solidFill>
          <a:ln/>
        </p:spPr>
      </p:sp>
      <p:pic>
        <p:nvPicPr>
          <p:cNvPr id="9" name="Image 1" descr="/home/claude/hotelops-demo/icons/mail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4498848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63040" y="4389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Latorrey Whitehead — TSM Consultz LLC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463040" y="469087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brightmindsfinancial@gmail.com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B6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HotelOps · TSM Consultz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2026-07-28T01:54:48Z</dcterms:created>
  <dcterms:modified xsi:type="dcterms:W3CDTF">2026-07-28T01:54:48Z</dcterms:modified>
</cp:coreProperties>
</file>