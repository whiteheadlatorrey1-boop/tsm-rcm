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Revenue Mix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B2A4A"/>
              </a:solidFill>
              <a:effectLst/>
            </c:spPr>
          </c:dPt>
          <c:dPt>
            <c:idx val="1"/>
            <c:bubble3D val="0"/>
            <c:spPr>
              <a:solidFill>
                <a:srgbClr val="C9A24B"/>
              </a:solidFill>
              <a:effectLst/>
            </c:spPr>
          </c:dPt>
          <c:dLbls>
            <c:dLbl>
              <c:idx val="0"/>
              <c:numFmt formatCode="0&quot;%&quot;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0&quot;%&quot;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&quot;%&quot;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CPC advertising</c:v>
                </c:pt>
                <c:pt idx="1">
                  <c:v>Other (CPA, subscriptions, CPM)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95</c:v>
                </c:pt>
                <c:pt idx="1">
                  <c:v>5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6B7280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1.xml"/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754880" cy="4754880"/>
          </a:xfrm>
          <a:prstGeom prst="ellipse">
            <a:avLst/>
          </a:prstGeom>
          <a:solidFill>
            <a:srgbClr val="121C33"/>
          </a:solidFill>
          <a:ln/>
        </p:spPr>
      </p:sp>
      <p:sp>
        <p:nvSpPr>
          <p:cNvPr id="3" name="Shape 1"/>
          <p:cNvSpPr/>
          <p:nvPr/>
        </p:nvSpPr>
        <p:spPr>
          <a:xfrm>
            <a:off x="10789920" y="4206240"/>
            <a:ext cx="2743200" cy="2743200"/>
          </a:xfrm>
          <a:prstGeom prst="ellipse">
            <a:avLst/>
          </a:prstGeom>
          <a:solidFill>
            <a:srgbClr val="223257"/>
          </a:solidFill>
          <a:ln/>
        </p:spPr>
      </p:sp>
      <p:pic>
        <p:nvPicPr>
          <p:cNvPr id="4" name="Image 0" descr="/home/claude/deck/icons/hotel_go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685800"/>
            <a:ext cx="50292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325880" y="658368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HOTELOPS  ×  TRIVAGO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685800" y="2286000"/>
            <a:ext cx="9875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the click to the checkout.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685800" y="3429000"/>
            <a:ext cx="8778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C7CE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proposal to extend trivago's hotelier relationship past booking, with an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C7CE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AI-native operations layer built for the property.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85800" y="60350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7A8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PARTNERSHIP  &amp;  ACQUISITION FRAMEWORK   •   PREPARED FOR DISCUSSION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0116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Metasearch ends at the click. Hotel ops runs for the whole stay.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777240" cy="777240"/>
          </a:xfrm>
          <a:prstGeom prst="roundRect">
            <a:avLst>
              <a:gd name="adj" fmla="val 18824"/>
            </a:avLst>
          </a:prstGeom>
          <a:solidFill>
            <a:srgbClr val="1B2A4A"/>
          </a:solidFill>
          <a:ln/>
        </p:spPr>
      </p:sp>
      <p:pic>
        <p:nvPicPr>
          <p:cNvPr id="5" name="Image 0" descr="/home/claude/deck/icons/searchdollar_go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5820" y="1897380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45920" y="164592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trivago wins the click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1645920" y="201168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platform is built to get a traveler from search to a booking page — and it does that extremely well, at scale, across every major market.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40080" y="3108960"/>
            <a:ext cx="777240" cy="777240"/>
          </a:xfrm>
          <a:prstGeom prst="roundRect">
            <a:avLst>
              <a:gd name="adj" fmla="val 18824"/>
            </a:avLst>
          </a:prstGeom>
          <a:solidFill>
            <a:srgbClr val="1B2A4A"/>
          </a:solidFill>
          <a:ln/>
        </p:spPr>
      </p:sp>
      <p:pic>
        <p:nvPicPr>
          <p:cNvPr id="9" name="Image 1" descr="/home/claude/deck/icons/clipboard_go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5820" y="3314700"/>
            <a:ext cx="365760" cy="3657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645920" y="306324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Then the relationship goes dark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1645920" y="342900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the guest books, trivago's connection to that property largely ends. Everything that happens next — check-in, incidents, housekeeping, revenue tracking — happens on tools trivago has no visibility into.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640080" y="4526280"/>
            <a:ext cx="777240" cy="777240"/>
          </a:xfrm>
          <a:prstGeom prst="roundRect">
            <a:avLst>
              <a:gd name="adj" fmla="val 18824"/>
            </a:avLst>
          </a:prstGeom>
          <a:solidFill>
            <a:srgbClr val="1B2A4A"/>
          </a:solidFill>
          <a:ln/>
        </p:spPr>
      </p:sp>
      <p:pic>
        <p:nvPicPr>
          <p:cNvPr id="13" name="Image 2" descr="/home/claude/deck/icons/chartline_gol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820" y="4732020"/>
            <a:ext cx="365760" cy="36576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645920" y="448056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Hoteliers are left stitching it together</a:t>
            </a:r>
            <a:endParaRPr lang="en-US" sz="1800" dirty="0"/>
          </a:p>
        </p:txBody>
      </p:sp>
      <p:sp>
        <p:nvSpPr>
          <p:cNvPr id="15" name="Text 10"/>
          <p:cNvSpPr/>
          <p:nvPr/>
        </p:nvSpPr>
        <p:spPr>
          <a:xfrm>
            <a:off x="1645920" y="484632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PMS, ticketing, spreadsheets, and gut-feel reporting. Independent hotels and small chains — trivago's core advertiser base — feel this hardest.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</a:t>
            </a:r>
            <a:endParaRPr lang="en-US" sz="1000" dirty="0"/>
          </a:p>
        </p:txBody>
      </p:sp>
      <p:sp>
        <p:nvSpPr>
          <p:cNvPr id="17" name="Text 12"/>
          <p:cNvSpPr/>
          <p:nvPr/>
        </p:nvSpPr>
        <p:spPr>
          <a:xfrm>
            <a:off x="10332720" y="651052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HotelOps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0116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PLATFORM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HotelOps: an AI-native operations layer for the property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3429000" cy="420624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 w="12700">
            <a:solidFill>
              <a:srgbClr val="E4E2DC"/>
            </a:solidFill>
            <a:prstDash val="solid"/>
          </a:ln>
          <a:effectLst>
            <a:outerShdw sx="100000" sy="100000" kx="0" ky="0" algn="bl" rotWithShape="0" blurRad="101600" dist="38100" dir="5400000">
              <a:srgbClr val="1B2A4A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2103120"/>
            <a:ext cx="731520" cy="731520"/>
          </a:xfrm>
          <a:prstGeom prst="roundRect">
            <a:avLst>
              <a:gd name="adj" fmla="val 20000"/>
            </a:avLst>
          </a:prstGeom>
          <a:solidFill>
            <a:srgbClr val="1B2A4A"/>
          </a:solidFill>
          <a:ln/>
        </p:spPr>
      </p:sp>
      <p:pic>
        <p:nvPicPr>
          <p:cNvPr id="6" name="Image 0" descr="/home/claude/deck/icons/concierge_go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228600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60120" y="3017520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War Room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960120" y="3474720"/>
            <a:ext cx="27889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property's live operations floor — open tickets, incidents, and mission status surfaced in real time from a shared runtime.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389120" y="1783080"/>
            <a:ext cx="3429000" cy="420624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 w="12700">
            <a:solidFill>
              <a:srgbClr val="E4E2DC"/>
            </a:solidFill>
            <a:prstDash val="solid"/>
          </a:ln>
          <a:effectLst>
            <a:outerShdw sx="100000" sy="100000" kx="0" ky="0" algn="bl" rotWithShape="0" blurRad="101600" dist="38100" dir="5400000">
              <a:srgbClr val="1B2A4A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09160" y="2103120"/>
            <a:ext cx="731520" cy="731520"/>
          </a:xfrm>
          <a:prstGeom prst="roundRect">
            <a:avLst>
              <a:gd name="adj" fmla="val 20000"/>
            </a:avLst>
          </a:prstGeom>
          <a:solidFill>
            <a:srgbClr val="1B2A4A"/>
          </a:solidFill>
          <a:ln/>
        </p:spPr>
      </p:sp>
      <p:pic>
        <p:nvPicPr>
          <p:cNvPr id="11" name="Image 1" descr="/home/claude/deck/icons/robot_go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2286000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09160" y="3017520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Strategist</a:t>
            </a:r>
            <a:endParaRPr lang="en-US" sz="2000" dirty="0"/>
          </a:p>
        </p:txBody>
      </p:sp>
      <p:sp>
        <p:nvSpPr>
          <p:cNvPr id="13" name="Text 9"/>
          <p:cNvSpPr/>
          <p:nvPr/>
        </p:nvSpPr>
        <p:spPr>
          <a:xfrm>
            <a:off x="4709160" y="3474720"/>
            <a:ext cx="27889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an AI capability sweep across ten operational phases and returns recommendations, not just dashboards.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8138160" y="1783080"/>
            <a:ext cx="3429000" cy="420624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 w="12700">
            <a:solidFill>
              <a:srgbClr val="E4E2DC"/>
            </a:solidFill>
            <a:prstDash val="solid"/>
          </a:ln>
          <a:effectLst>
            <a:outerShdw sx="100000" sy="100000" kx="0" ky="0" algn="bl" rotWithShape="0" blurRad="101600" dist="38100" dir="5400000">
              <a:srgbClr val="1B2A4A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458200" y="2103120"/>
            <a:ext cx="731520" cy="731520"/>
          </a:xfrm>
          <a:prstGeom prst="roundRect">
            <a:avLst>
              <a:gd name="adj" fmla="val 20000"/>
            </a:avLst>
          </a:prstGeom>
          <a:solidFill>
            <a:srgbClr val="1B2A4A"/>
          </a:solidFill>
          <a:ln/>
        </p:spPr>
      </p:sp>
      <p:pic>
        <p:nvPicPr>
          <p:cNvPr id="16" name="Image 2" descr="/home/claude/deck/icons/chartpie_gol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41080" y="2286000"/>
            <a:ext cx="365760" cy="3657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458200" y="3017520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Executive Portal</a:t>
            </a:r>
            <a:endParaRPr lang="en-US" sz="2000" dirty="0"/>
          </a:p>
        </p:txBody>
      </p:sp>
      <p:sp>
        <p:nvSpPr>
          <p:cNvPr id="18" name="Text 13"/>
          <p:cNvSpPr/>
          <p:nvPr/>
        </p:nvSpPr>
        <p:spPr>
          <a:xfrm>
            <a:off x="8458200" y="3474720"/>
            <a:ext cx="27889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RevPAR, ADR, occupancy, GOP, and NPS in one view for ownership and management — sourced from live operational data.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640080" y="6172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2E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surfaces are already built and running against a shared Mission runtime — this is not a concept deck.</a:t>
            </a:r>
            <a:endParaRPr lang="en-US" sz="1250" dirty="0"/>
          </a:p>
        </p:txBody>
      </p:sp>
      <p:sp>
        <p:nvSpPr>
          <p:cNvPr id="20" name="Text 15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Introducing HotelOps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0332720" y="651052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HotelOps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0116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ticket runs through one auditable lifecycle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22960" y="2103120"/>
            <a:ext cx="1737360" cy="868680"/>
          </a:xfrm>
          <a:prstGeom prst="roundRect">
            <a:avLst>
              <a:gd name="adj" fmla="val 10526"/>
            </a:avLst>
          </a:prstGeom>
          <a:solidFill>
            <a:srgbClr val="1B2A4A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2176272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C9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22960" y="2359152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Create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606040" y="2537460"/>
            <a:ext cx="365760" cy="0"/>
          </a:xfrm>
          <a:prstGeom prst="line">
            <a:avLst/>
          </a:prstGeom>
          <a:noFill/>
          <a:ln w="25400">
            <a:solidFill>
              <a:srgbClr val="C9C4B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017520" y="2103120"/>
            <a:ext cx="1737360" cy="868680"/>
          </a:xfrm>
          <a:prstGeom prst="roundRect">
            <a:avLst>
              <a:gd name="adj" fmla="val 10526"/>
            </a:avLst>
          </a:prstGeom>
          <a:solidFill>
            <a:srgbClr val="1B2A4A"/>
          </a:solidFill>
          <a:ln/>
        </p:spPr>
      </p:sp>
      <p:sp>
        <p:nvSpPr>
          <p:cNvPr id="9" name="Text 7"/>
          <p:cNvSpPr/>
          <p:nvPr/>
        </p:nvSpPr>
        <p:spPr>
          <a:xfrm>
            <a:off x="3017520" y="2176272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C9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017520" y="2359152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Assign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800600" y="2537460"/>
            <a:ext cx="365760" cy="0"/>
          </a:xfrm>
          <a:prstGeom prst="line">
            <a:avLst/>
          </a:prstGeom>
          <a:noFill/>
          <a:ln w="25400">
            <a:solidFill>
              <a:srgbClr val="C9C4B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212080" y="2103120"/>
            <a:ext cx="1737360" cy="868680"/>
          </a:xfrm>
          <a:prstGeom prst="roundRect">
            <a:avLst>
              <a:gd name="adj" fmla="val 10526"/>
            </a:avLst>
          </a:prstGeom>
          <a:solidFill>
            <a:srgbClr val="1B2A4A"/>
          </a:solidFill>
          <a:ln/>
        </p:spPr>
      </p:sp>
      <p:sp>
        <p:nvSpPr>
          <p:cNvPr id="13" name="Text 11"/>
          <p:cNvSpPr/>
          <p:nvPr/>
        </p:nvSpPr>
        <p:spPr>
          <a:xfrm>
            <a:off x="5212080" y="2176272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C9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212080" y="2359152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QA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995160" y="2537460"/>
            <a:ext cx="365760" cy="0"/>
          </a:xfrm>
          <a:prstGeom prst="line">
            <a:avLst/>
          </a:prstGeom>
          <a:noFill/>
          <a:ln w="25400">
            <a:solidFill>
              <a:srgbClr val="C9C4B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406640" y="2103120"/>
            <a:ext cx="1737360" cy="868680"/>
          </a:xfrm>
          <a:prstGeom prst="roundRect">
            <a:avLst>
              <a:gd name="adj" fmla="val 10526"/>
            </a:avLst>
          </a:prstGeom>
          <a:solidFill>
            <a:srgbClr val="1B2A4A"/>
          </a:solidFill>
          <a:ln/>
        </p:spPr>
      </p:sp>
      <p:sp>
        <p:nvSpPr>
          <p:cNvPr id="17" name="Text 15"/>
          <p:cNvSpPr/>
          <p:nvPr/>
        </p:nvSpPr>
        <p:spPr>
          <a:xfrm>
            <a:off x="7406640" y="2176272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C9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406640" y="2359152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Deliver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9189720" y="2537460"/>
            <a:ext cx="365760" cy="0"/>
          </a:xfrm>
          <a:prstGeom prst="line">
            <a:avLst/>
          </a:prstGeom>
          <a:noFill/>
          <a:ln w="25400">
            <a:solidFill>
              <a:srgbClr val="C9C4B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601200" y="2103120"/>
            <a:ext cx="1737360" cy="868680"/>
          </a:xfrm>
          <a:prstGeom prst="roundRect">
            <a:avLst>
              <a:gd name="adj" fmla="val 10526"/>
            </a:avLst>
          </a:prstGeom>
          <a:solidFill>
            <a:srgbClr val="C9A24B"/>
          </a:solidFill>
          <a:ln/>
        </p:spPr>
      </p:sp>
      <p:sp>
        <p:nvSpPr>
          <p:cNvPr id="21" name="Text 19"/>
          <p:cNvSpPr/>
          <p:nvPr/>
        </p:nvSpPr>
        <p:spPr>
          <a:xfrm>
            <a:off x="9601200" y="2176272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9601200" y="2359152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Close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40080" y="3657600"/>
            <a:ext cx="548640" cy="548640"/>
          </a:xfrm>
          <a:prstGeom prst="roundRect">
            <a:avLst>
              <a:gd name="adj" fmla="val 20000"/>
            </a:avLst>
          </a:prstGeom>
          <a:solidFill>
            <a:srgbClr val="F7F7F5"/>
          </a:solidFill>
          <a:ln w="12700">
            <a:solidFill>
              <a:srgbClr val="E4E2DC"/>
            </a:solidFill>
            <a:prstDash val="solid"/>
          </a:ln>
        </p:spPr>
      </p:sp>
      <p:pic>
        <p:nvPicPr>
          <p:cNvPr id="24" name="Image 0" descr="/home/claude/deck/icons/layers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3794760"/>
            <a:ext cx="274320" cy="274320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1371600" y="3675888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Mission runtime  —  </a:t>
            </a:r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hotel ticket is a Mission object: stage, priority, tasks, and a full audit trail of who did what, when.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640080" y="4434840"/>
            <a:ext cx="548640" cy="548640"/>
          </a:xfrm>
          <a:prstGeom prst="roundRect">
            <a:avLst>
              <a:gd name="adj" fmla="val 20000"/>
            </a:avLst>
          </a:prstGeom>
          <a:solidFill>
            <a:srgbClr val="F7F7F5"/>
          </a:solidFill>
          <a:ln w="12700">
            <a:solidFill>
              <a:srgbClr val="E4E2DC"/>
            </a:solidFill>
            <a:prstDash val="solid"/>
          </a:ln>
        </p:spPr>
      </p:sp>
      <p:pic>
        <p:nvPicPr>
          <p:cNvPr id="27" name="Image 1" descr="/home/claude/deck/icons/robot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4572000"/>
            <a:ext cx="274320" cy="274320"/>
          </a:xfrm>
          <a:prstGeom prst="rect">
            <a:avLst/>
          </a:prstGeom>
        </p:spPr>
      </p:pic>
      <p:sp>
        <p:nvSpPr>
          <p:cNvPr id="28" name="Text 24"/>
          <p:cNvSpPr/>
          <p:nvPr/>
        </p:nvSpPr>
        <p:spPr>
          <a:xfrm>
            <a:off x="1371600" y="4453128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recommendations, not just data entry  —  </a:t>
            </a:r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Strategist can generate a recommendation from a mission's live fields, cache it, and let a manager regenerate on demand.</a:t>
            </a:r>
            <a:endParaRPr lang="en-US" sz="1300" dirty="0"/>
          </a:p>
        </p:txBody>
      </p:sp>
      <p:sp>
        <p:nvSpPr>
          <p:cNvPr id="29" name="Shape 25"/>
          <p:cNvSpPr/>
          <p:nvPr/>
        </p:nvSpPr>
        <p:spPr>
          <a:xfrm>
            <a:off x="640080" y="5212080"/>
            <a:ext cx="548640" cy="548640"/>
          </a:xfrm>
          <a:prstGeom prst="roundRect">
            <a:avLst>
              <a:gd name="adj" fmla="val 20000"/>
            </a:avLst>
          </a:prstGeom>
          <a:solidFill>
            <a:srgbClr val="F7F7F5"/>
          </a:solidFill>
          <a:ln w="12700">
            <a:solidFill>
              <a:srgbClr val="E4E2DC"/>
            </a:solidFill>
            <a:prstDash val="solid"/>
          </a:ln>
        </p:spPr>
      </p:sp>
      <p:pic>
        <p:nvPicPr>
          <p:cNvPr id="30" name="Image 2" descr="/home/claude/deck/icons/check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5349240"/>
            <a:ext cx="274320" cy="274320"/>
          </a:xfrm>
          <a:prstGeom prst="rect">
            <a:avLst/>
          </a:prstGeom>
        </p:spPr>
      </p:pic>
      <p:sp>
        <p:nvSpPr>
          <p:cNvPr id="31" name="Text 26"/>
          <p:cNvSpPr/>
          <p:nvPr/>
        </p:nvSpPr>
        <p:spPr>
          <a:xfrm>
            <a:off x="1371600" y="5230368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engine, every vertical  —  </a:t>
            </a:r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Hotel ops runs on the identical runtime already proven across construction, legal, healthcare, and five other verticals — this is not a one-off build.</a:t>
            </a:r>
            <a:endParaRPr lang="en-US" sz="1300" dirty="0"/>
          </a:p>
        </p:txBody>
      </p:sp>
      <p:sp>
        <p:nvSpPr>
          <p:cNvPr id="32" name="Text 27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 Control</a:t>
            </a:r>
            <a:endParaRPr lang="en-US" sz="1000" dirty="0"/>
          </a:p>
        </p:txBody>
      </p:sp>
      <p:sp>
        <p:nvSpPr>
          <p:cNvPr id="33" name="Text 28"/>
          <p:cNvSpPr/>
          <p:nvPr/>
        </p:nvSpPr>
        <p:spPr>
          <a:xfrm>
            <a:off x="10332720" y="651052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HotelOps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0116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TRUST THE NUMBERS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Ops math moved server-side — and it checks out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22960" y="196596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223257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219456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C9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$149.69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822960" y="31089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RevPAR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344728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server-computed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26280" y="196596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223257"/>
          </a:solidFill>
          <a:ln/>
        </p:spPr>
      </p:sp>
      <p:sp>
        <p:nvSpPr>
          <p:cNvPr id="9" name="Text 7"/>
          <p:cNvSpPr/>
          <p:nvPr/>
        </p:nvSpPr>
        <p:spPr>
          <a:xfrm>
            <a:off x="4526280" y="219456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C9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85.6%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4526280" y="31089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Occupancy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526280" y="344728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server-computed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229600" y="196596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223257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0" y="219456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C9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4400" dirty="0"/>
          </a:p>
        </p:txBody>
      </p:sp>
      <p:sp>
        <p:nvSpPr>
          <p:cNvPr id="14" name="Text 12"/>
          <p:cNvSpPr/>
          <p:nvPr/>
        </p:nvSpPr>
        <p:spPr>
          <a:xfrm>
            <a:off x="8229600" y="31089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tickets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229600" y="344728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server-computed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22960" y="4297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D6DB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compute engine was moved from the client into a dedicated /api/hotelops/compute endpoint and re-tested against the same real Hilton Scottsdale sample data. Every figure matched the original client-side math exactly.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22960" y="507492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D6DB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matters to a partner evaluating this for production: the numbers on the Executive Portal aren't a client-side demo trick — they come from a server that can be audited, rate-limited, and scaled independently of the browser.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9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Rigor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0332720" y="651052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9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HotelOps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0116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FIT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This is the next step trivago is already taking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640080" cy="640080"/>
          </a:xfrm>
          <a:prstGeom prst="roundRect">
            <a:avLst>
              <a:gd name="adj" fmla="val 20000"/>
            </a:avLst>
          </a:prstGeom>
          <a:solidFill>
            <a:srgbClr val="1B2A4A"/>
          </a:solidFill>
          <a:ln/>
        </p:spPr>
      </p:sp>
      <p:pic>
        <p:nvPicPr>
          <p:cNvPr id="5" name="Image 0" descr="/home/claude/deck/icons/building_go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5528" y="1938528"/>
            <a:ext cx="329184" cy="32918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08760" y="175564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Studio already sells ops-adjacent tools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1508760" y="210312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trivago's Business Studio gives hoteliers direct-booking links and analytics; HotelOps is the natural next module — operations, not just marketing.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40080" y="3154680"/>
            <a:ext cx="640080" cy="640080"/>
          </a:xfrm>
          <a:prstGeom prst="roundRect">
            <a:avLst>
              <a:gd name="adj" fmla="val 20000"/>
            </a:avLst>
          </a:prstGeom>
          <a:solidFill>
            <a:srgbClr val="1B2A4A"/>
          </a:solidFill>
          <a:ln/>
        </p:spPr>
      </p:sp>
      <p:pic>
        <p:nvPicPr>
          <p:cNvPr id="9" name="Image 1" descr="/home/claude/deck/icons/handshake_go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" y="3310128"/>
            <a:ext cx="329184" cy="32918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508760" y="312724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There's precedent for exactly this move</a:t>
            </a:r>
            <a:endParaRPr lang="en-US" sz="1550" dirty="0"/>
          </a:p>
        </p:txBody>
      </p:sp>
      <p:sp>
        <p:nvSpPr>
          <p:cNvPr id="11" name="Text 7"/>
          <p:cNvSpPr/>
          <p:nvPr/>
        </p:nvSpPr>
        <p:spPr>
          <a:xfrm>
            <a:off x="1508760" y="347472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trivago's strategic investment in Holisto extended the platform downstream into rate aggregation and booking. HotelOps extends it further, into post-booking operations.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640080" y="4526280"/>
            <a:ext cx="640080" cy="640080"/>
          </a:xfrm>
          <a:prstGeom prst="roundRect">
            <a:avLst>
              <a:gd name="adj" fmla="val 20000"/>
            </a:avLst>
          </a:prstGeom>
          <a:solidFill>
            <a:srgbClr val="1B2A4A"/>
          </a:solidFill>
          <a:ln/>
        </p:spPr>
      </p:sp>
      <p:pic>
        <p:nvPicPr>
          <p:cNvPr id="13" name="Image 2" descr="/home/claude/deck/icons/bullseye_gol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" y="4681728"/>
            <a:ext cx="329184" cy="32918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508760" y="449884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Diversification is a stated priority</a:t>
            </a:r>
            <a:endParaRPr lang="en-US" sz="1550" dirty="0"/>
          </a:p>
        </p:txBody>
      </p:sp>
      <p:sp>
        <p:nvSpPr>
          <p:cNvPr id="15" name="Text 10"/>
          <p:cNvSpPr/>
          <p:nvPr/>
        </p:nvSpPr>
        <p:spPr>
          <a:xfrm>
            <a:off x="1508760" y="484632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trivago has been public about reducing dependence on a small number of large OTA partners and growing referral and revenue diversity.</a:t>
            </a:r>
            <a:endParaRPr lang="en-US" sz="1200" dirty="0"/>
          </a:p>
        </p:txBody>
      </p:sp>
      <p:sp>
        <p:nvSpPr>
          <p:cNvPr id="16" name="Text 11"/>
          <p:cNvSpPr/>
          <p:nvPr/>
        </p:nvSpPr>
        <p:spPr>
          <a:xfrm>
            <a:off x="7452360" y="169164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trivago 2025 revenue mix</a:t>
            </a:r>
            <a:endParaRPr lang="en-US" sz="1300" dirty="0"/>
          </a:p>
        </p:txBody>
      </p:sp>
      <p:graphicFrame>
        <p:nvGraphicFramePr>
          <p:cNvPr id="17" name="Chart 0" descr=""/>
          <p:cNvGraphicFramePr/>
          <p:nvPr/>
        </p:nvGraphicFramePr>
        <p:xfrm>
          <a:off x="7315200" y="2057400"/>
          <a:ext cx="4206240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8" name="Text 12"/>
          <p:cNvSpPr/>
          <p:nvPr/>
        </p:nvSpPr>
        <p:spPr>
          <a:xfrm>
            <a:off x="7315200" y="5166360"/>
            <a:ext cx="4297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Nearly all of today's revenue rides on a single click-based mechanism — a concentration risk an operations subscription would help offset.</a:t>
            </a:r>
            <a:endParaRPr lang="en-US" sz="1100" dirty="0"/>
          </a:p>
        </p:txBody>
      </p:sp>
      <p:sp>
        <p:nvSpPr>
          <p:cNvPr id="19" name="Text 13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trivago, why now</a:t>
            </a:r>
            <a:endParaRPr lang="en-US" sz="1000" dirty="0"/>
          </a:p>
        </p:txBody>
      </p:sp>
      <p:sp>
        <p:nvSpPr>
          <p:cNvPr id="20" name="Text 14"/>
          <p:cNvSpPr/>
          <p:nvPr/>
        </p:nvSpPr>
        <p:spPr>
          <a:xfrm>
            <a:off x="10332720" y="651052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HotelOps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840480"/>
            <a:ext cx="5029200" cy="5029200"/>
          </a:xfrm>
          <a:prstGeom prst="ellipse">
            <a:avLst/>
          </a:prstGeom>
          <a:solidFill>
            <a:srgbClr val="121C33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3317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PROPOSAL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22960" y="269748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ways to work together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822960" y="3611880"/>
            <a:ext cx="8686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C7CE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We've framed both a partnership and an outright acquisition — deliberately, since either gets trivago to the same strategic outcome.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0116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Partnership: HotelOps inside Business Studio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212080" cy="420624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 w="12700">
            <a:solidFill>
              <a:srgbClr val="E4E2D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92024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it looks like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2331720"/>
            <a:ext cx="46634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HotelOps ships as a Business Studio Ops module, sold to trivago's existing hotelier advertiser base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trivago handles distribution, billing rails, and the hotelier relationship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HotelOps team continues to own the product and engineering roadmap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share on the new subscription tier, layered on top of CPC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126480" y="1737360"/>
            <a:ext cx="5394960" cy="4206240"/>
          </a:xfrm>
          <a:prstGeom prst="roundRect">
            <a:avLst>
              <a:gd name="adj" fmla="val 1739"/>
            </a:avLst>
          </a:prstGeom>
          <a:solidFill>
            <a:srgbClr val="1B2A4A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it works for both sides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0" y="2331720"/>
            <a:ext cx="48463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D6DB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Fastest path to market — no integration into trivago's core engineering roadmap required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D6DB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upfront risk for trivago; proven before any larger commitment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D6DB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recurring revenue line independent of the CPC auction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D6DB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natural on-ramp to Option B if the partnership performs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A — Partnership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0332720" y="651052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HotelOps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0116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B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Acquisition: HotelOps becomes trivago's operations layer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212080" cy="420624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 w="12700">
            <a:solidFill>
              <a:srgbClr val="E4E2D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92024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it looks like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2331720"/>
            <a:ext cx="46634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Outright purchase of the HotelOps platform, codebase, and team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Folded directly into trivago's product roadmap as a native surface, not a bolt-on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trivago's existing hotel data and advertiser relationships accelerate rollout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as cash plus retention terms for the founding team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126480" y="1737360"/>
            <a:ext cx="5394960" cy="4206240"/>
          </a:xfrm>
          <a:prstGeom prst="roundRect">
            <a:avLst>
              <a:gd name="adj" fmla="val 1739"/>
            </a:avLst>
          </a:prstGeom>
          <a:solidFill>
            <a:srgbClr val="1B2A4A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it works for both sides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0" y="2331720"/>
            <a:ext cx="48463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D6DB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trivago owns the operations layer outright — full control of the roadmap and the margin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D6DB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Deepens hotelier lock-in well past the click, raising switching costs for advertisers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D6DB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Mirrors the logic of the Holisto investment, at a larger and more direct scale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D6DB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integration effort instead of an ongoing revenue-share relationship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B — Acquisition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0332720" y="651052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HotelOps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0116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 BY SIDE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Either path gets trivago to the same place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3017520" cy="566928"/>
          </a:xfrm>
          <a:prstGeom prst="rect">
            <a:avLst/>
          </a:prstGeom>
          <a:solidFill>
            <a:srgbClr val="1B2A4A"/>
          </a:solidFill>
          <a:ln w="9525">
            <a:solidFill>
              <a:srgbClr val="E4E2D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783080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3657600" y="1783080"/>
            <a:ext cx="3931920" cy="566928"/>
          </a:xfrm>
          <a:prstGeom prst="rect">
            <a:avLst/>
          </a:prstGeom>
          <a:solidFill>
            <a:srgbClr val="1B2A4A"/>
          </a:solidFill>
          <a:ln w="9525">
            <a:solidFill>
              <a:srgbClr val="E4E2D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794760" y="1783080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Partnership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7589520" y="1783080"/>
            <a:ext cx="3931920" cy="566928"/>
          </a:xfrm>
          <a:prstGeom prst="rect">
            <a:avLst/>
          </a:prstGeom>
          <a:solidFill>
            <a:srgbClr val="1B2A4A"/>
          </a:solidFill>
          <a:ln w="9525">
            <a:solidFill>
              <a:srgbClr val="E4E2D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26680" y="1783080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Acquisition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" y="2350008"/>
            <a:ext cx="3017520" cy="566928"/>
          </a:xfrm>
          <a:prstGeom prst="rect">
            <a:avLst/>
          </a:prstGeom>
          <a:solidFill>
            <a:srgbClr val="F7F7F5"/>
          </a:solidFill>
          <a:ln w="9525">
            <a:solidFill>
              <a:srgbClr val="E4E2D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2350008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 to market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3657600" y="2350008"/>
            <a:ext cx="3931920" cy="566928"/>
          </a:xfrm>
          <a:prstGeom prst="rect">
            <a:avLst/>
          </a:prstGeom>
          <a:solidFill>
            <a:srgbClr val="FBFAF8"/>
          </a:solidFill>
          <a:ln w="9525">
            <a:solidFill>
              <a:srgbClr val="E4E2D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94760" y="2350008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Fastest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589520" y="2350008"/>
            <a:ext cx="3931920" cy="566928"/>
          </a:xfrm>
          <a:prstGeom prst="rect">
            <a:avLst/>
          </a:prstGeom>
          <a:solidFill>
            <a:srgbClr val="FBFAF8"/>
          </a:solidFill>
          <a:ln w="9525">
            <a:solidFill>
              <a:srgbClr val="E4E2D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26680" y="2350008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Slower — integration first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2916936"/>
            <a:ext cx="3017520" cy="566928"/>
          </a:xfrm>
          <a:prstGeom prst="rect">
            <a:avLst/>
          </a:prstGeom>
          <a:solidFill>
            <a:srgbClr val="F7F7F5"/>
          </a:solidFill>
          <a:ln w="9525">
            <a:solidFill>
              <a:srgbClr val="E4E2D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2916936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trivago control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3657600" y="2916936"/>
            <a:ext cx="39319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4E2D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794760" y="2916936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roadmap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7589520" y="2916936"/>
            <a:ext cx="39319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4E2D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26680" y="2916936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ownership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40080" y="3483864"/>
            <a:ext cx="3017520" cy="566928"/>
          </a:xfrm>
          <a:prstGeom prst="rect">
            <a:avLst/>
          </a:prstGeom>
          <a:solidFill>
            <a:srgbClr val="F7F7F5"/>
          </a:solidFill>
          <a:ln w="9525">
            <a:solidFill>
              <a:srgbClr val="E4E2D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7240" y="3483864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Upfront cost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3657600" y="3483864"/>
            <a:ext cx="3931920" cy="566928"/>
          </a:xfrm>
          <a:prstGeom prst="rect">
            <a:avLst/>
          </a:prstGeom>
          <a:solidFill>
            <a:srgbClr val="FBFAF8"/>
          </a:solidFill>
          <a:ln w="9525">
            <a:solidFill>
              <a:srgbClr val="E4E2D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794760" y="3483864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7589520" y="3483864"/>
            <a:ext cx="3931920" cy="566928"/>
          </a:xfrm>
          <a:prstGeom prst="rect">
            <a:avLst/>
          </a:prstGeom>
          <a:solidFill>
            <a:srgbClr val="FBFAF8"/>
          </a:solidFill>
          <a:ln w="9525">
            <a:solidFill>
              <a:srgbClr val="E4E2D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726680" y="3483864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Higher, one-time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40080" y="4050792"/>
            <a:ext cx="3017520" cy="566928"/>
          </a:xfrm>
          <a:prstGeom prst="rect">
            <a:avLst/>
          </a:prstGeom>
          <a:solidFill>
            <a:srgbClr val="F7F7F5"/>
          </a:solidFill>
          <a:ln w="9525">
            <a:solidFill>
              <a:srgbClr val="E4E2D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77240" y="4050792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model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3657600" y="4050792"/>
            <a:ext cx="39319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4E2D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794760" y="4050792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share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7589520" y="4050792"/>
            <a:ext cx="39319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4E2D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726680" y="4050792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owned margin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640080" y="4617720"/>
            <a:ext cx="3017520" cy="566928"/>
          </a:xfrm>
          <a:prstGeom prst="rect">
            <a:avLst/>
          </a:prstGeom>
          <a:solidFill>
            <a:srgbClr val="F7F7F5"/>
          </a:solidFill>
          <a:ln w="9525">
            <a:solidFill>
              <a:srgbClr val="E4E2D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77240" y="4617720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3657600" y="4617720"/>
            <a:ext cx="3931920" cy="566928"/>
          </a:xfrm>
          <a:prstGeom prst="rect">
            <a:avLst/>
          </a:prstGeom>
          <a:solidFill>
            <a:srgbClr val="FBFAF8"/>
          </a:solidFill>
          <a:ln w="9525">
            <a:solidFill>
              <a:srgbClr val="E4E2D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794760" y="4617720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Stays independent</a:t>
            </a:r>
            <a:endParaRPr lang="en-US" sz="1250" dirty="0"/>
          </a:p>
        </p:txBody>
      </p:sp>
      <p:sp>
        <p:nvSpPr>
          <p:cNvPr id="38" name="Shape 36"/>
          <p:cNvSpPr/>
          <p:nvPr/>
        </p:nvSpPr>
        <p:spPr>
          <a:xfrm>
            <a:off x="7589520" y="4617720"/>
            <a:ext cx="3931920" cy="566928"/>
          </a:xfrm>
          <a:prstGeom prst="rect">
            <a:avLst/>
          </a:prstGeom>
          <a:solidFill>
            <a:srgbClr val="FBFAF8"/>
          </a:solidFill>
          <a:ln w="9525">
            <a:solidFill>
              <a:srgbClr val="E4E2D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726680" y="4617720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Joins trivago</a:t>
            </a:r>
            <a:endParaRPr lang="en-US" sz="1250" dirty="0"/>
          </a:p>
        </p:txBody>
      </p:sp>
      <p:sp>
        <p:nvSpPr>
          <p:cNvPr id="40" name="Shape 38"/>
          <p:cNvSpPr/>
          <p:nvPr/>
        </p:nvSpPr>
        <p:spPr>
          <a:xfrm>
            <a:off x="640080" y="5184648"/>
            <a:ext cx="3017520" cy="566928"/>
          </a:xfrm>
          <a:prstGeom prst="rect">
            <a:avLst/>
          </a:prstGeom>
          <a:solidFill>
            <a:srgbClr val="F7F7F5"/>
          </a:solidFill>
          <a:ln w="9525">
            <a:solidFill>
              <a:srgbClr val="E4E2D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77240" y="5184648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profile</a:t>
            </a:r>
            <a:endParaRPr lang="en-US" sz="1250" dirty="0"/>
          </a:p>
        </p:txBody>
      </p:sp>
      <p:sp>
        <p:nvSpPr>
          <p:cNvPr id="42" name="Shape 40"/>
          <p:cNvSpPr/>
          <p:nvPr/>
        </p:nvSpPr>
        <p:spPr>
          <a:xfrm>
            <a:off x="3657600" y="5184648"/>
            <a:ext cx="39319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4E2D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794760" y="5184648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Low, reversible</a:t>
            </a:r>
            <a:endParaRPr lang="en-US" sz="1250" dirty="0"/>
          </a:p>
        </p:txBody>
      </p:sp>
      <p:sp>
        <p:nvSpPr>
          <p:cNvPr id="44" name="Shape 42"/>
          <p:cNvSpPr/>
          <p:nvPr/>
        </p:nvSpPr>
        <p:spPr>
          <a:xfrm>
            <a:off x="7589520" y="5184648"/>
            <a:ext cx="39319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4E2DC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726680" y="5184648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Higher, long-term commitment</a:t>
            </a:r>
            <a:endParaRPr lang="en-US" sz="1250" dirty="0"/>
          </a:p>
        </p:txBody>
      </p:sp>
      <p:sp>
        <p:nvSpPr>
          <p:cNvPr id="46" name="Text 44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Side-by-side comparison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10332720" y="651052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HotelOps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0116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low-risk way to find out which path fits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2514600" cy="347472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2700">
            <a:solidFill>
              <a:srgbClr val="E4E2D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2286000"/>
            <a:ext cx="548640" cy="54864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286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14400" y="301752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Technical walkthrough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3566160"/>
            <a:ext cx="19659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of the War Room, Strategist, and Executive Portal against real sample data.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410712" y="2011680"/>
            <a:ext cx="2514600" cy="347472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2700">
            <a:solidFill>
              <a:srgbClr val="E4E2D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85032" y="2286000"/>
            <a:ext cx="548640" cy="54864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1" name="Text 9"/>
          <p:cNvSpPr/>
          <p:nvPr/>
        </p:nvSpPr>
        <p:spPr>
          <a:xfrm>
            <a:off x="3685032" y="2286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685032" y="301752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Pilot scoping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685032" y="3566160"/>
            <a:ext cx="19659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a small set of advertiser hotels for a limited Business Studio Ops pilot.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181344" y="2011680"/>
            <a:ext cx="2514600" cy="347472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2700">
            <a:solidFill>
              <a:srgbClr val="E4E2D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55664" y="2286000"/>
            <a:ext cx="548640" cy="54864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6" name="Text 14"/>
          <p:cNvSpPr/>
          <p:nvPr/>
        </p:nvSpPr>
        <p:spPr>
          <a:xfrm>
            <a:off x="6455664" y="2286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455664" y="301752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Commercial terms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455664" y="3566160"/>
            <a:ext cx="19659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Agree revenue share (partnership) or valuation framework (acquisition) in parallel.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951976" y="2011680"/>
            <a:ext cx="2514600" cy="3474720"/>
          </a:xfrm>
          <a:prstGeom prst="roundRect">
            <a:avLst>
              <a:gd name="adj" fmla="val 2909"/>
            </a:avLst>
          </a:prstGeom>
          <a:solidFill>
            <a:srgbClr val="1B2A4A"/>
          </a:solidFill>
          <a:ln w="12700">
            <a:solidFill>
              <a:srgbClr val="E4E2D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226296" y="2286000"/>
            <a:ext cx="548640" cy="548640"/>
          </a:xfrm>
          <a:prstGeom prst="ellipse">
            <a:avLst/>
          </a:prstGeom>
          <a:solidFill>
            <a:srgbClr val="C9A24B"/>
          </a:solidFill>
          <a:ln/>
        </p:spPr>
      </p:sp>
      <p:sp>
        <p:nvSpPr>
          <p:cNvPr id="21" name="Text 19"/>
          <p:cNvSpPr/>
          <p:nvPr/>
        </p:nvSpPr>
        <p:spPr>
          <a:xfrm>
            <a:off x="9226296" y="2286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9226296" y="301752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Decide and move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9226296" y="3566160"/>
            <a:ext cx="19659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D6DB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30–60 days to a signed term sheet on whichever path trivago prefers.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0332720" y="651052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HotelOps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754880" cy="4754880"/>
          </a:xfrm>
          <a:prstGeom prst="ellipse">
            <a:avLst/>
          </a:prstGeom>
          <a:solidFill>
            <a:srgbClr val="121C33"/>
          </a:solidFill>
          <a:ln/>
        </p:spPr>
      </p:sp>
      <p:pic>
        <p:nvPicPr>
          <p:cNvPr id="3" name="Image 0" descr="/home/claude/deck/icons/hotel_go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331720"/>
            <a:ext cx="640080" cy="6400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2960" y="3108960"/>
            <a:ext cx="9875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Let's put the property on the same platform as the search.</a:t>
            </a:r>
            <a:endParaRPr lang="en-US" sz="3400" dirty="0"/>
          </a:p>
        </p:txBody>
      </p:sp>
      <p:sp>
        <p:nvSpPr>
          <p:cNvPr id="5" name="Text 2"/>
          <p:cNvSpPr/>
          <p:nvPr/>
        </p:nvSpPr>
        <p:spPr>
          <a:xfrm>
            <a:off x="822960" y="434340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7CE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Partnership or acquisition — either way, this is HotelOps' next milestone.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822960" y="6126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50" kern="0" dirty="0">
                <a:solidFill>
                  <a:srgbClr val="7A8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HOTELOPS  —  TSM ENTERPRISE LAB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2026-07-28T03:01:03Z</dcterms:created>
  <dcterms:modified xsi:type="dcterms:W3CDTF">2026-07-28T03:01:03Z</dcterms:modified>
</cp:coreProperties>
</file>