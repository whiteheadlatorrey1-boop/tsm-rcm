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VERTICAL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Walkthrough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 →  Strategist  →  Executive Portal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 ·  One deal, one thread, three altitudes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conversations, three different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estate and mortgage operation runs the same three conversations on repeat — what's happening on the ground, what it means for the business, and what leadership needs to decide. Today those conversations live in separate spreadsheets, separate systems, and separate people's heads — and mortgage and real estate are usually two completely disconnected platforms.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810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78040" y="2121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Desk-level detail — deals, docs, deadlines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269748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2770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081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judgment — risk, priority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0" y="3657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37307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40416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numbers — dollars, decisions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chain, three altitudes, zero re-entry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232E4A"/>
          </a:solidFill>
          <a:ln w="19050">
            <a:solidFill>
              <a:srgbClr val="0F96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51760"/>
            <a:ext cx="502920" cy="50292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 ROOM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 groups · 14 live modules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0" y="3108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232E4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651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full brief synthesis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43800" y="3108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232E4A"/>
          </a:solidFill>
          <a:ln w="19050">
            <a:solidFill>
              <a:srgbClr val="3E5C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65176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3337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 PORTAL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3749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· 9 board-ready panels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carries forward automatically — nothing is re-entered or re-summarized by hand between tiers.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feeds Sentinel Center — the cross-vertical risk view spanning all 8 verticals on the platform.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RE-WAR-ROOM.HTML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 Room — where the work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functional node groups. Fourteen live AI-scoped modules — not static reports.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" cy="14173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 · ACQUISITION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Buyer/seller intake · investment criteria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65960"/>
            <a:ext cx="54864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REAF · FINANCE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 engine · loan product compare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965960"/>
            <a:ext cx="54864" cy="1417320"/>
          </a:xfrm>
          <a:prstGeom prst="rect">
            <a:avLst/>
          </a:prstGeom>
          <a:solidFill>
            <a:srgbClr val="3E5C7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 · TRANSACTION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offer mgmt · appraisal gap rescue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9659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1965960"/>
            <a:ext cx="54864" cy="1417320"/>
          </a:xfrm>
          <a:prstGeom prst="rect">
            <a:avLst/>
          </a:prstGeom>
          <a:solidFill>
            <a:srgbClr val="6D4C8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2075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4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REAM · MORTGAGE 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24231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conditions · pipeline velocity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611880"/>
            <a:ext cx="54864" cy="1417320"/>
          </a:xfrm>
          <a:prstGeom prst="rect">
            <a:avLst/>
          </a:prstGeom>
          <a:solidFill>
            <a:srgbClr val="B34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21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 · 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RESPA/TRID audit · FinCEN/AML audit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611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3611880"/>
            <a:ext cx="54864" cy="1417320"/>
          </a:xfrm>
          <a:prstGeom prst="rect">
            <a:avLst/>
          </a:prstGeom>
          <a:solidFill>
            <a:srgbClr val="1E88A8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721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 · MARKET INTEL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4069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market analysis · BPO valuation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611880"/>
            <a:ext cx="54864" cy="1417320"/>
          </a:xfrm>
          <a:prstGeom prst="rect">
            <a:avLst/>
          </a:prstGeom>
          <a:solidFill>
            <a:srgbClr val="2F7A5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721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REAX · CLOSING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069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readiness · closing delay rescue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CLICK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1–3 — one deal, three functional lenses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 · Acquisition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2221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“Buyer &amp; Seller Intake”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9659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qualification, seller motivation, property matching — with real dollar thresholds.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9900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REAF · Finance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273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“Pre-Qualification Engine”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deal, finance lens — no re-entry, same session.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3E5C7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041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REAM · Mortgage 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4325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“Loan Product Compare”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0690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ops one node group over — not a separate platform.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“Same war room, same session — finance and mortgage ops sit one click apart.”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DEAL RESCUE PACK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deals actually get saved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 scenarios. Stack more than one — real deals rarely fail for just one reason.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2A201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756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FAILURE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· docs · asset sourcing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2057400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0299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41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2A201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756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GAP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2404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below contract · comps needed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2057400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0299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541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0756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DEFECT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0" y="2404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· clouds · chain gaps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2440" y="196596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756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ISSUES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2404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· credits · negotiations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CONDITIONS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3456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conditions · CTC blocked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301752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1272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DELAY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3456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 · title · insurance · wire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EARNEST MONEY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$15,000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00400" y="43159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GAP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$24,000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43600" y="4206240"/>
            <a:ext cx="5669280" cy="777240"/>
          </a:xfrm>
          <a:prstGeom prst="roundRect">
            <a:avLst>
              <a:gd name="adj" fmla="val 49412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42062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RUN TRANSACTION RESCUE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FROM ANALYSIS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mission, then hand it 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Build Remediation 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rescue-pack analysis into a tracked work item — owner, status, and a feed into Sentinel Center's cross-vertical risk view.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3200400"/>
            <a:ext cx="1856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9A227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976872" y="219456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1C2541"/>
          </a:solidFill>
          <a:ln/>
        </p:spPr>
      </p:sp>
      <p:sp>
        <p:nvSpPr>
          <p:cNvPr id="11" name="Shape 9"/>
          <p:cNvSpPr/>
          <p:nvPr/>
        </p:nvSpPr>
        <p:spPr>
          <a:xfrm>
            <a:off x="7296912" y="2514600"/>
            <a:ext cx="457200" cy="457200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2" name="Text 10"/>
          <p:cNvSpPr/>
          <p:nvPr/>
        </p:nvSpPr>
        <p:spPr>
          <a:xfrm>
            <a:off x="729691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51192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Escalate → Strategist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51192" y="3611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the war room — intake, rescue pack, mission — travels with the deal. The strategist picks up exactly where the operator left off.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RE-STRATEGIST.HTML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Strategist — the translation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detail becomes portfolio-level judgment. Eight modules, plus one-click strategic questions.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Rescue Strategy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196596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2A201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21031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Matrix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88736" y="196596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25896" y="21031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Priority Stack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58784" y="196596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5944" y="210312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54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Gap Playbook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301752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3154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Resolution Roadmap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01752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3154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 Disposition Strategy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58784" y="3017520"/>
            <a:ext cx="2487168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5944" y="3154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5120640" cy="64008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FULL STRATEGIC BRIEF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4251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every module's output into one board-ready document — instead of eight outputs stitched together by hand.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C9A227"/>
                </a:solidFill>
              </a:rPr>
              <a:t>↗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 → Exec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same deal — the strategist's brief becomes the input to the executive view. Nothing re-entered, nothing re-summarized by hand.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RE-EXEC-PORTAL.HTML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leadership actually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live KPI tiles — every number traced back to something real, upstream. No fabricated dollar values, anywhere in the chain.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6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$18.4M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VOLUME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05456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2615184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15184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PULL-THROUGH RATE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REVENUE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19088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$412K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28816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RISK EXPOSURE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75904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Assets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85632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 PORTFOLIO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332720" y="2011680"/>
            <a:ext cx="1810512" cy="155448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442448" y="2240280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442448" y="2926080"/>
            <a:ext cx="1591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CLOSINGS THIS WEEK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5029200" cy="914400"/>
          </a:xfrm>
          <a:prstGeom prst="roundRect">
            <a:avLst>
              <a:gd name="adj" fmla="val 7000"/>
            </a:avLst>
          </a:prstGeom>
          <a:solidFill>
            <a:srgbClr val="2A201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142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REV LOSS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if leadership does nothing.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886200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2A201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0142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43251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it recovers if they act on the recommendation.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PANEL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panels, one login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5856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strategist's full brief, board-ready as written.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6440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needing a decision, pulled into a checklist.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776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27024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pipeline at a glance.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87452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9659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225856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are headed if trends hold.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288036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97180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Snapshot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326440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single deal without leaving the view.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06240" y="388620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39776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Flags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400" y="427024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TRID / HMDA / FinCEN item, ranked by exposure.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187452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9659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Rescue Pack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225856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rescue output from the war room — full traceability.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288036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297180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 60-Day Plan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326440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strategy for the REO portfolio.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63840" y="3886200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2A201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39776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427024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mix, pull-through, 90-day origination forecast.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Mortgage Position — real estate and mortgage, historically two separate systems, three clicks from the desk where the work happened.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is the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rescue → mission → strategist brief → executive board view: five screens, roughly a dozen clicks, and every number on that last screen traces back to something real that happened three screens ago.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AI. The traceability.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32E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8470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04088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0" y="173736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32E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8470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0" y="24231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40880" y="297180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32E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30815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0" y="297180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232E4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30815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86800" y="36576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White-label, revenue-share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Sole-partner exclusivity in the Arizona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$1,250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 /mo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war-room + strategist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Estate vertical, white-labeled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70/30 revenue 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C2541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$1,750</a:t>
            </a:r>
            <a:pPr indent="0" marL="0">
              <a:buNone/>
            </a:pPr>
            <a:r>
              <a:rPr lang="en-US" sz="1400" dirty="0">
                <a:solidFill>
                  <a:srgbClr val="C7CCDA"/>
                </a:solidFill>
              </a:rPr>
              <a:t> /mo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46520" y="3474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Everything in Foundation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exec portal + Sentinel Center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4480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 onboarding &amp;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vertical of eight.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45920" y="32004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three-tier pattern. Same cross-vertical risk view. Same rule: no fabricated numbers.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0" y="4023360"/>
            <a:ext cx="137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519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any of the other seven the same way.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2026-07-31T04:51:33Z</dcterms:created>
  <dcterms:modified xsi:type="dcterms:W3CDTF">2026-07-31T04:51:33Z</dcterms:modified>
</cp:coreProperties>
</file>