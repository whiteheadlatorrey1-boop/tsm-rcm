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0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00A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486400" cy="5486400"/>
          </a:xfrm>
          <a:prstGeom prst="oval">
            <a:avLst/>
          </a:prstGeom>
          <a:solidFill>
            <a:srgbClr val="E3A039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E3A0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TSM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4EE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Mortgage Servicing Intelligence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2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pilot proposal for First American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840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A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exception intelligence across the loan lifecycle — from war room triage to executive decision, in one relay chain.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5989320"/>
            <a:ext cx="3840480" cy="0"/>
          </a:xfrm>
          <a:prstGeom prst="line">
            <a:avLst/>
          </a:prstGeom>
          <a:noFill/>
          <a:ln w="12700">
            <a:solidFill>
              <a:srgbClr val="2A231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6080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A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Consultz LLC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9A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prepared for pilot discussion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0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2A2319"/>
          </a:solidFill>
          <a:ln w="9525">
            <a:solidFill>
              <a:srgbClr val="E3A0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029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E3A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EE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Exceptions get found late — after they've already cost money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3291840" cy="3017520"/>
          </a:xfrm>
          <a:prstGeom prst="roundRect">
            <a:avLst>
              <a:gd name="adj" fmla="val 2424"/>
            </a:avLst>
          </a:prstGeom>
          <a:solidFill>
            <a:srgbClr val="2A2319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2377440"/>
            <a:ext cx="457200" cy="457200"/>
          </a:xfrm>
          <a:prstGeom prst="oval">
            <a:avLst/>
          </a:prstGeom>
          <a:solidFill>
            <a:srgbClr val="14100A"/>
          </a:solidFill>
          <a:ln w="15875">
            <a:solidFill>
              <a:srgbClr val="E3A0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3A0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30175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E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visibility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35204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9A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Loan-level exceptions, SLA breaches, and exposure sit in separate systems — nobody sees the full pipeline risk at once.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34840" y="2103120"/>
            <a:ext cx="3291840" cy="3017520"/>
          </a:xfrm>
          <a:prstGeom prst="roundRect">
            <a:avLst>
              <a:gd name="adj" fmla="val 2424"/>
            </a:avLst>
          </a:prstGeom>
          <a:solidFill>
            <a:srgbClr val="2A2319"/>
          </a:solidFill>
          <a:ln/>
        </p:spPr>
      </p:sp>
      <p:sp>
        <p:nvSpPr>
          <p:cNvPr id="11" name="Shape 9"/>
          <p:cNvSpPr/>
          <p:nvPr/>
        </p:nvSpPr>
        <p:spPr>
          <a:xfrm>
            <a:off x="4709160" y="2377440"/>
            <a:ext cx="457200" cy="457200"/>
          </a:xfrm>
          <a:prstGeom prst="oval">
            <a:avLst/>
          </a:prstGeom>
          <a:solidFill>
            <a:srgbClr val="14100A"/>
          </a:solidFill>
          <a:ln w="15875">
            <a:solidFill>
              <a:srgbClr val="E3A0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3A0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09160" y="30175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E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Delayed escalation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09160" y="35204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9A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surface at month-end review instead of the moment they cross a threshold, so the response window is already gone.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46720" y="2103120"/>
            <a:ext cx="3291840" cy="3017520"/>
          </a:xfrm>
          <a:prstGeom prst="roundRect">
            <a:avLst>
              <a:gd name="adj" fmla="val 2424"/>
            </a:avLst>
          </a:prstGeom>
          <a:solidFill>
            <a:srgbClr val="2A2319"/>
          </a:solidFill>
          <a:ln/>
        </p:spPr>
      </p:sp>
      <p:sp>
        <p:nvSpPr>
          <p:cNvPr id="16" name="Shape 14"/>
          <p:cNvSpPr/>
          <p:nvPr/>
        </p:nvSpPr>
        <p:spPr>
          <a:xfrm>
            <a:off x="8321040" y="2377440"/>
            <a:ext cx="457200" cy="457200"/>
          </a:xfrm>
          <a:prstGeom prst="oval">
            <a:avLst/>
          </a:prstGeom>
          <a:solidFill>
            <a:srgbClr val="14100A"/>
          </a:solidFill>
          <a:ln w="15875">
            <a:solidFill>
              <a:srgbClr val="E3A0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3A0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21040" y="30175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E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cost-of-inaction math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21040" y="35204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9A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can't compare "act now" vs. "do nothing" in dollar terms, so prioritization defaults to whoever complains loudest.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2960" y="53492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avoidable rework, missed SLAs, and pipeline value that isn't managed — it's discovered.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0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2A2319"/>
          </a:solidFill>
          <a:ln w="9525">
            <a:solidFill>
              <a:srgbClr val="E3A0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4572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E3A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EE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relay chain: War Room → Strategist → Executive Portal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46520" y="1737360"/>
            <a:ext cx="4937760" cy="3383280"/>
          </a:xfrm>
          <a:prstGeom prst="roundRect">
            <a:avLst>
              <a:gd name="adj" fmla="val 1351"/>
            </a:avLst>
          </a:prstGeom>
          <a:solidFill>
            <a:srgbClr val="2A2319"/>
          </a:solidFill>
          <a:ln w="12700">
            <a:solidFill>
              <a:srgbClr val="E3A039"/>
            </a:solidFill>
            <a:prstDash val="solid"/>
          </a:ln>
        </p:spPr>
      </p:sp>
      <p:pic>
        <p:nvPicPr>
          <p:cNvPr id="6" name="Image 0" descr="images/war-ro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874520"/>
            <a:ext cx="4663440" cy="2624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0" y="45720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9A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Mortgage War Room — live loan-level exceptions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22960" y="1975104"/>
            <a:ext cx="109728" cy="109728"/>
          </a:xfrm>
          <a:prstGeom prst="oval">
            <a:avLst/>
          </a:prstGeom>
          <a:solidFill>
            <a:srgbClr val="E3A039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17830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4E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Room ingests loan-level data in real time and flags SLA breaches and exposure the moment they occur.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22960" y="3026664"/>
            <a:ext cx="109728" cy="109728"/>
          </a:xfrm>
          <a:prstGeom prst="oval">
            <a:avLst/>
          </a:prstGeom>
          <a:solidFill>
            <a:srgbClr val="E3A039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28346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4E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Strategist layer runs AI-driven prioritization — ranking exceptions by dollar impact, not just age or channel.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22960" y="4078224"/>
            <a:ext cx="109728" cy="109728"/>
          </a:xfrm>
          <a:prstGeom prst="oval">
            <a:avLst/>
          </a:prstGeom>
          <a:solidFill>
            <a:srgbClr val="E3A039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" y="38862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4E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Portal rolls everything into pipeline-level KPIs so leadership sees risk without digging into case files.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0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2A2319"/>
          </a:solidFill>
          <a:ln w="9525">
            <a:solidFill>
              <a:srgbClr val="E3A0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4572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E3A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EE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quantifies the cost of doing nothing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5943600" cy="3931920"/>
          </a:xfrm>
          <a:prstGeom prst="roundRect">
            <a:avLst>
              <a:gd name="adj" fmla="val 1163"/>
            </a:avLst>
          </a:prstGeom>
          <a:solidFill>
            <a:srgbClr val="2A2319"/>
          </a:solidFill>
          <a:ln w="12700">
            <a:solidFill>
              <a:srgbClr val="E3A039"/>
            </a:solidFill>
            <a:prstDash val="solid"/>
          </a:ln>
        </p:spPr>
      </p:sp>
      <p:pic>
        <p:nvPicPr>
          <p:cNvPr id="6" name="Image 0" descr="images/strateg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5669280" cy="3191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51663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9A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Strategist — AI summary with prioritized action queue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086600" y="1737360"/>
            <a:ext cx="4297680" cy="1737360"/>
          </a:xfrm>
          <a:prstGeom prst="roundRect">
            <a:avLst>
              <a:gd name="adj" fmla="val 4211"/>
            </a:avLst>
          </a:prstGeom>
          <a:solidFill>
            <a:srgbClr val="2A2319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0" y="1920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9A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 TAKEN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0" y="21945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565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$37,050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7315200" y="2971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A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impact if this exception queue is left unworked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086600" y="3657600"/>
            <a:ext cx="4297680" cy="1737360"/>
          </a:xfrm>
          <a:prstGeom prst="roundRect">
            <a:avLst>
              <a:gd name="adj" fmla="val 4211"/>
            </a:avLst>
          </a:prstGeom>
          <a:solidFill>
            <a:srgbClr val="2A2319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0" y="3840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9A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TSM ACTION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0" y="41148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FAE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$11,115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7315200" y="4892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A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queue, worked in priority order by the strategist AI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086600" y="557784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2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a 70% reduction in exposure on this queue alone — from prioritization, not headcount.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0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2A2319"/>
          </a:solidFill>
          <a:ln w="9525">
            <a:solidFill>
              <a:srgbClr val="E3A0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4572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E3A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EE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Leadership sees pipeline risk at a glance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10515600" cy="3794760"/>
          </a:xfrm>
          <a:prstGeom prst="roundRect">
            <a:avLst>
              <a:gd name="adj" fmla="val 1205"/>
            </a:avLst>
          </a:prstGeom>
          <a:solidFill>
            <a:srgbClr val="2A2319"/>
          </a:solidFill>
          <a:ln w="12700">
            <a:solidFill>
              <a:srgbClr val="E3A039"/>
            </a:solidFill>
            <a:prstDash val="solid"/>
          </a:ln>
        </p:spPr>
      </p:sp>
      <p:pic>
        <p:nvPicPr>
          <p:cNvPr id="6" name="Image 0" descr="images/exec-por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10241280" cy="33192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52578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9A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Portal — live pipeline value $3,734,000, exposure and SLA breach flags rolled up in real time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0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2560320" cy="292608"/>
          </a:xfrm>
          <a:prstGeom prst="roundRect">
            <a:avLst>
              <a:gd name="adj" fmla="val 18750"/>
            </a:avLst>
          </a:prstGeom>
          <a:solidFill>
            <a:srgbClr val="2A2319"/>
          </a:solidFill>
          <a:ln w="9525">
            <a:solidFill>
              <a:srgbClr val="E3A0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4572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E3A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IN LIVE 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EE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 Center: continuous monitoring, live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10515600" cy="3566160"/>
          </a:xfrm>
          <a:prstGeom prst="roundRect">
            <a:avLst>
              <a:gd name="adj" fmla="val 2051"/>
            </a:avLst>
          </a:prstGeom>
          <a:solidFill>
            <a:srgbClr val="2A2319"/>
          </a:solidFill>
          <a:ln w="15875"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246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3A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SLOT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45920" y="3657600"/>
            <a:ext cx="8869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9A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Center runs on the live, Groq-backed deployment rather than static sample data —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B9A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pull this screen up in real time during the walkthrough rather than show a static capture here.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103120" y="484632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14100A"/>
          </a:solidFill>
          <a:ln w="9525">
            <a:solidFill>
              <a:srgbClr val="E3A03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4846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E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queue health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92040" y="484632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14100A"/>
          </a:solidFill>
          <a:ln w="9525">
            <a:solidFill>
              <a:srgbClr val="E3A0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4846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E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on AI outputs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80960" y="484632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14100A"/>
          </a:solidFill>
          <a:ln w="9525">
            <a:solidFill>
              <a:srgbClr val="E3A0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0" y="4846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E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Cross-vertical correlation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5715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2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We'd rather show this working live than paste in a mockup that isn't real.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0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2A2319"/>
          </a:solidFill>
          <a:ln w="9525">
            <a:solidFill>
              <a:srgbClr val="E3A0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4572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E3A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STRUCTURE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EE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phased pilot, priced to prove value first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5074920" cy="3931920"/>
          </a:xfrm>
          <a:prstGeom prst="roundRect">
            <a:avLst>
              <a:gd name="adj" fmla="val 1860"/>
            </a:avLst>
          </a:prstGeom>
          <a:solidFill>
            <a:srgbClr val="2A2319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1488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3A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PILOT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24688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EE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$4,500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143000" y="32004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A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flat, per month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43000" y="3867912"/>
            <a:ext cx="91440" cy="91440"/>
          </a:xfrm>
          <a:prstGeom prst="oval">
            <a:avLst/>
          </a:prstGeom>
          <a:solidFill>
            <a:srgbClr val="E3A039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370332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E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War Room → Strategist → Executive Portal chain live on your mortgage data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43000" y="4553712"/>
            <a:ext cx="91440" cy="91440"/>
          </a:xfrm>
          <a:prstGeom prst="oval">
            <a:avLst/>
          </a:prstGeom>
          <a:solidFill>
            <a:srgbClr val="E3A039"/>
          </a:solidFill>
          <a:ln/>
        </p:spPr>
      </p:sp>
      <p:sp>
        <p:nvSpPr>
          <p:cNvPr id="12" name="Text 10"/>
          <p:cNvSpPr/>
          <p:nvPr/>
        </p:nvSpPr>
        <p:spPr>
          <a:xfrm>
            <a:off x="1417320" y="438912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E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shared-savings kicker during the pilot window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143000" y="5239512"/>
            <a:ext cx="91440" cy="91440"/>
          </a:xfrm>
          <a:prstGeom prst="oval">
            <a:avLst/>
          </a:prstGeom>
          <a:solidFill>
            <a:srgbClr val="E3A039"/>
          </a:solidFill>
          <a:ln/>
        </p:spPr>
      </p:sp>
      <p:sp>
        <p:nvSpPr>
          <p:cNvPr id="14" name="Text 12"/>
          <p:cNvSpPr/>
          <p:nvPr/>
        </p:nvSpPr>
        <p:spPr>
          <a:xfrm>
            <a:off x="1417320" y="507492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E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measured against agreed SLA and exposure-reduction targets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1874520"/>
            <a:ext cx="5166360" cy="3931920"/>
          </a:xfrm>
          <a:prstGeom prst="roundRect">
            <a:avLst>
              <a:gd name="adj" fmla="val 1860"/>
            </a:avLst>
          </a:prstGeom>
          <a:solidFill>
            <a:srgbClr val="2A2319"/>
          </a:solidFill>
          <a:ln w="15875">
            <a:solidFill>
              <a:srgbClr val="E3A03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3A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SCALE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2240" y="24688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EE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Tiered + 21%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492240" y="3200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A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branch-tiered base, plus shared-savings kicker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92240" y="3867912"/>
            <a:ext cx="91440" cy="91440"/>
          </a:xfrm>
          <a:prstGeom prst="oval">
            <a:avLst/>
          </a:prstGeom>
          <a:solidFill>
            <a:srgbClr val="E3A039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0" y="370332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E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Branch-tiered monthly base as footprint expands beyond the pilot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92240" y="4553712"/>
            <a:ext cx="91440" cy="91440"/>
          </a:xfrm>
          <a:prstGeom prst="oval">
            <a:avLst/>
          </a:prstGeom>
          <a:solidFill>
            <a:srgbClr val="E3A039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438912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E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 shared-savings kicker on verified exposure reduction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92240" y="5239512"/>
            <a:ext cx="91440" cy="91440"/>
          </a:xfrm>
          <a:prstGeom prst="oval">
            <a:avLst/>
          </a:prstGeom>
          <a:solidFill>
            <a:srgbClr val="E3A039"/>
          </a:solidFill>
          <a:ln/>
        </p:spPr>
      </p:sp>
      <p:sp>
        <p:nvSpPr>
          <p:cNvPr id="24" name="Text 22"/>
          <p:cNvSpPr/>
          <p:nvPr/>
        </p:nvSpPr>
        <p:spPr>
          <a:xfrm>
            <a:off x="6766560" y="507492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E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Kicker capped at 2× the monthly base — no open-ended upside risk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0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oval">
            <a:avLst/>
          </a:prstGeom>
          <a:solidFill>
            <a:srgbClr val="E3A03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548640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2A2319"/>
          </a:solidFill>
          <a:ln w="9525">
            <a:solidFill>
              <a:srgbClr val="E3A0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5486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E3A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10058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EE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put this in front of a real branch queue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548640" cy="548640"/>
          </a:xfrm>
          <a:prstGeom prst="oval">
            <a:avLst/>
          </a:prstGeom>
          <a:solidFill>
            <a:srgbClr val="14100A"/>
          </a:solidFill>
          <a:ln w="19050">
            <a:solidFill>
              <a:srgbClr val="E3A0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3A0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00200" y="23317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EE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a pilot branch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00200" y="2743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A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branch or queue to connect first — real loan-level data, not a demo dataset.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520440"/>
            <a:ext cx="548640" cy="548640"/>
          </a:xfrm>
          <a:prstGeom prst="oval">
            <a:avLst/>
          </a:prstGeom>
          <a:solidFill>
            <a:srgbClr val="14100A"/>
          </a:solidFill>
          <a:ln w="19050">
            <a:solidFill>
              <a:srgbClr val="E3A0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3A0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00200" y="34747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EE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Sentinel walkthrough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00200" y="3886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A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Groq-backed monitoring layer running against live data, not a screenshot.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4663440"/>
            <a:ext cx="548640" cy="548640"/>
          </a:xfrm>
          <a:prstGeom prst="oval">
            <a:avLst/>
          </a:prstGeom>
          <a:solidFill>
            <a:srgbClr val="14100A"/>
          </a:solidFill>
          <a:ln w="19050">
            <a:solidFill>
              <a:srgbClr val="E3A03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3A0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00200" y="46177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EE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Kick off Phase 1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600200" y="5029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A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flat-fee pilot, measured against agreed SLA and exposure-reduction targets.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5989320"/>
            <a:ext cx="3840480" cy="0"/>
          </a:xfrm>
          <a:prstGeom prst="line">
            <a:avLst/>
          </a:prstGeom>
          <a:noFill/>
          <a:ln w="12700">
            <a:solidFill>
              <a:srgbClr val="2A231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6080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A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Consultz LLC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app.tsmatter.com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2026-08-13T19:32:37Z</dcterms:created>
  <dcterms:modified xsi:type="dcterms:W3CDTF">2026-08-13T19:32:37Z</dcterms:modified>
</cp:coreProperties>
</file>