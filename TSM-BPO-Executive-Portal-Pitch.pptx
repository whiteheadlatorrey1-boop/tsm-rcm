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DON'T APOLOGIZE FOR A DECK. Say: 'I'm going to show you the actual live portal, not slides pretending to be a product.' Frame the whole meeting in one sentence: every BPO AI vendor asks you to trust a black box. We built the portal so you never have to. Everything after this slide maps 1:1 to a real screen you can click into today. Click AGENDA in the nav bar (top of next slide) to move on — that same nav bar sits on every slide and jumps straight to that section, live, the same way you'd navigate the real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point: 'Four things, in order, then a live click-through, then the ask. Fifteen minutes, tops.' This slide IS the nav bar's map — literally the same labels. Tell them: 'Any time during this meeting, if you want to jump back to any of these, just click it — same as the real nav.' That line does double duty: it previews the structure AND quietly demonstrates that this deck behaves like the product (click-to-navigate), which is the whole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editorialize this slide much — let the three cards sit for a beat, then say: 'You've felt at least one of these this quarter. Which one hurts more right now?' Wait for the actual answer — it tells you which of the next four feature slides to slow down on. Transition line into the next slide: 'So we built the portal backwards from these three problems. Feature one solves the manual status scramble.'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click path: open bpo-executive-portal.html, point at the top of the page — no loading spinner, it's already there. Say: 'This isn't a dashboard someone refreshes every morning. It reads the same relay object the strategist just wrote when it ran the case.' The wow line: 'If I open the strategist in one tab and this portal in another, and re-run a scenario, watch this bar move without me touching this tab.' Do that live if you can — it's the single strongest visual proof of 'not a mockup' in the whole demo. Bridge to next: 'That tells the exec WHAT stage things are in. Next feature tells them WHY the AI recommended what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usually the slide where a skeptical CFO/compliance person leans forward. Say it plainly: 'Click any recommendation in the real portal and this panel opens — first source expanded automatically.' If they ask 'what happens when the AI genuinely isn't confident' — that's a gift question. Answer: 'It shows a dash, not a made-up number. We'd rather show ’unknown’ than fabricate a score, because a fabricated score is the thing that gets you in trouble with an auditor.' Bridge: 'Explainability tells you why. The next feature is what happens when something needs a human to actually sign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path: Exception Queue → click Resolve on a live exception → point at the Case Queue below it — the case is already there with Approve/Reject visible, no extra step. This is the compliance/legal-buyer slide. If procurement or legal is in the room, slow down here. Say: 'This is the difference between an AI tool and an AI operating system — the operating system doesn't let anything execute without a named human being accountable for it.' Bridge: 'Now — all of this — the pipeline, the explainability, the case sign-offs — bundles into one deliverable. That's feature four, and it's the one you hand your own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deal-closer slide. Click the actual button live — it's wired now (same pattern as Insurance, Healthcare, and every other reconciled vertical). File downloads in under a second. Open it in a text editor or drag it into a JSON viewer on screen. Say: 'This is the file you hand to YOUR client at the end of a batch. Not a screenshot. Not a summary someone typed up at 11pm. The actual computed record.' If asked 'can we customize what's in it' — answer honestly: 'Today it's the same seven sections every vertical gets — documents, structured data, quality, exceptions, risk, audit trail, executive summary. Extending it is additive, not a rebuild.' Bridge: 'And this same export, same button, same JSON shape — works identically whether you're running BPO, Healthcare, Insurance, or Construction. That's the platform bet.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isn't BPO-specific — it's a risk-reduction argument. Say: 'This isn't a BPO prototype that happens to exist. It's a pattern proven across six other verticals already running it in production-style demos.' If the buyer runs a multi-line operation (BPO + something else), this is the slide that turns a single-department sale into a platform conversation. Ask directly: 'Do you run anything outside BPO that could use the identical trust layer?' Bridge: 'Let's stop talking about it and just click through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run sheet for the meeting itself — talk through it once here, then actually switch to the real browser tab and do it. Keep narration tight: name the click, then go quiet for a beat and let them watch it happen — don't talk over the moment the panel or the case appears. If the network or environment misbehaves, fall back to this slide — it's designed to stand on its own as 'here's exactly what you'd have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slower than the others — it's the summary a skeptical exec will actually remember walking out. Closing line to say out loud: 'Every AI vendor promises efficiency. We're the only one in the room that hands you the receipts to prove it happened, the way you'd need to prove it to your own client or your own auditor.' Then move straight to the ask — don't leave dead air after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slide, then stop talking. Let the silence sit — the ask should feel small and low-risk after everything they just watched work live. If they hesitate, the fallback offer is scope, not price: 'One queue, one shift, 30 days. You pick the queue.' Do not over-explain the metrics box — point at it once and move to next steps (calendar invite, named pilot owner on their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 Target="slide4.xml"/><Relationship Id="rId11" Type="http://schemas.openxmlformats.org/officeDocument/2006/relationships/slide" Target="slide5.xml"/><Relationship Id="rId12" Type="http://schemas.openxmlformats.org/officeDocument/2006/relationships/slide" Target="slide6.xml"/><Relationship Id="rId13" Type="http://schemas.openxmlformats.org/officeDocument/2006/relationships/slide" Target="slide7.xml"/><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1A"/>
        </a:solidFill>
      </p:bgPr>
    </p:bg>
    <p:spTree>
      <p:nvGrpSpPr>
        <p:cNvPr id="1" name=""/>
        <p:cNvGrpSpPr/>
        <p:nvPr/>
      </p:nvGrpSpPr>
      <p:grpSpPr>
        <a:xfrm>
          <a:off x="0" y="0"/>
          <a:ext cx="0" cy="0"/>
          <a:chOff x="0" y="0"/>
          <a:chExt cx="0" cy="0"/>
        </a:xfrm>
      </p:grpSpPr>
      <p:sp>
        <p:nvSpPr>
          <p:cNvPr id="2" name="Text 0"/>
          <p:cNvSpPr/>
          <p:nvPr/>
        </p:nvSpPr>
        <p:spPr>
          <a:xfrm>
            <a:off x="822960" y="2331720"/>
            <a:ext cx="9144000" cy="320040"/>
          </a:xfrm>
          <a:prstGeom prst="rect">
            <a:avLst/>
          </a:prstGeom>
          <a:noFill/>
          <a:ln/>
        </p:spPr>
        <p:txBody>
          <a:bodyPr wrap="square" lIns="0" tIns="0" rIns="0" bIns="0" rtlCol="0" anchor="ctr"/>
          <a:lstStyle/>
          <a:p>
            <a:pPr indent="0" marL="0">
              <a:buNone/>
            </a:pPr>
            <a:r>
              <a:rPr lang="en-US" sz="1200" b="1" spc="300" kern="0" dirty="0">
                <a:solidFill>
                  <a:srgbClr val="5EFFC1"/>
                </a:solidFill>
                <a:latin typeface="Consolas" pitchFamily="34" charset="0"/>
                <a:ea typeface="Consolas" pitchFamily="34" charset="-122"/>
                <a:cs typeface="Consolas" pitchFamily="34" charset="-120"/>
              </a:rPr>
              <a:t>TSM CONSULTZ  ·  BPO DECISION INTELLIGENCE</a:t>
            </a:r>
            <a:endParaRPr lang="en-US" sz="1200" dirty="0"/>
          </a:p>
        </p:txBody>
      </p:sp>
      <p:sp>
        <p:nvSpPr>
          <p:cNvPr id="3" name="Text 1"/>
          <p:cNvSpPr/>
          <p:nvPr/>
        </p:nvSpPr>
        <p:spPr>
          <a:xfrm>
            <a:off x="822960" y="2697480"/>
            <a:ext cx="10241280" cy="1828800"/>
          </a:xfrm>
          <a:prstGeom prst="rect">
            <a:avLst/>
          </a:prstGeom>
          <a:noFill/>
          <a:ln/>
        </p:spPr>
        <p:txBody>
          <a:bodyPr wrap="square" lIns="0" tIns="0" rIns="0" bIns="0" rtlCol="0" anchor="ctr"/>
          <a:lstStyle/>
          <a:p>
            <a:pPr indent="0" marL="0">
              <a:lnSpc>
                <a:spcPct val="108000"/>
              </a:lnSpc>
              <a:buNone/>
            </a:pPr>
            <a:r>
              <a:rPr lang="en-US" sz="4000" b="1" dirty="0">
                <a:solidFill>
                  <a:srgbClr val="F2F6F8"/>
                </a:solidFill>
                <a:latin typeface="Arial" pitchFamily="34" charset="0"/>
                <a:ea typeface="Arial" pitchFamily="34" charset="-122"/>
                <a:cs typeface="Arial" pitchFamily="34" charset="-120"/>
              </a:rPr>
              <a:t>The Executive Portal That Makes</a:t>
            </a:r>
            <a:endParaRPr lang="en-US" sz="4000" dirty="0"/>
          </a:p>
          <a:p>
            <a:pPr indent="0" marL="0">
              <a:lnSpc>
                <a:spcPct val="108000"/>
              </a:lnSpc>
              <a:buNone/>
            </a:pPr>
            <a:r>
              <a:rPr lang="en-US" sz="4000" b="1" dirty="0">
                <a:solidFill>
                  <a:srgbClr val="F2F6F8"/>
                </a:solidFill>
                <a:latin typeface="Arial" pitchFamily="34" charset="0"/>
                <a:ea typeface="Arial" pitchFamily="34" charset="-122"/>
                <a:cs typeface="Arial" pitchFamily="34" charset="-120"/>
              </a:rPr>
              <a:t>Your AI Ops Provable</a:t>
            </a:r>
            <a:endParaRPr lang="en-US" sz="4000" dirty="0"/>
          </a:p>
        </p:txBody>
      </p:sp>
      <p:sp>
        <p:nvSpPr>
          <p:cNvPr id="4" name="Text 2"/>
          <p:cNvSpPr/>
          <p:nvPr/>
        </p:nvSpPr>
        <p:spPr>
          <a:xfrm>
            <a:off x="822960" y="4617720"/>
            <a:ext cx="9692640" cy="868680"/>
          </a:xfrm>
          <a:prstGeom prst="rect">
            <a:avLst/>
          </a:prstGeom>
          <a:noFill/>
          <a:ln/>
        </p:spPr>
        <p:txBody>
          <a:bodyPr wrap="square" lIns="0" tIns="0" rIns="0" bIns="0" rtlCol="0" anchor="ctr"/>
          <a:lstStyle/>
          <a:p>
            <a:pPr indent="0" marL="0">
              <a:lnSpc>
                <a:spcPct val="130000"/>
              </a:lnSpc>
              <a:buNone/>
            </a:pPr>
            <a:r>
              <a:rPr lang="en-US" sz="1400" dirty="0">
                <a:solidFill>
                  <a:srgbClr val="7C93A3"/>
                </a:solidFill>
                <a:latin typeface="Arial" pitchFamily="34" charset="0"/>
                <a:ea typeface="Arial" pitchFamily="34" charset="-122"/>
                <a:cs typeface="Arial" pitchFamily="34" charset="-120"/>
              </a:rPr>
              <a:t>Every recommendation, every exception, every closed case — traced back to a source, a</a:t>
            </a:r>
            <a:endParaRPr lang="en-US" sz="1400" dirty="0"/>
          </a:p>
          <a:p>
            <a:pPr indent="0" marL="0">
              <a:lnSpc>
                <a:spcPct val="130000"/>
              </a:lnSpc>
              <a:buNone/>
            </a:pPr>
            <a:r>
              <a:rPr lang="en-US" sz="1400" dirty="0">
                <a:solidFill>
                  <a:srgbClr val="7C93A3"/>
                </a:solidFill>
                <a:latin typeface="Arial" pitchFamily="34" charset="0"/>
                <a:ea typeface="Arial" pitchFamily="34" charset="-122"/>
                <a:cs typeface="Arial" pitchFamily="34" charset="-120"/>
              </a:rPr>
              <a:t>confidence score, and an approval record. Not a black box. A client trust package, one click away.</a:t>
            </a:r>
            <a:endParaRPr lang="en-US" sz="1400" dirty="0"/>
          </a:p>
        </p:txBody>
      </p:sp>
      <p:sp>
        <p:nvSpPr>
          <p:cNvPr id="5" name="Shape 3"/>
          <p:cNvSpPr/>
          <p:nvPr/>
        </p:nvSpPr>
        <p:spPr>
          <a:xfrm>
            <a:off x="8732520" y="640080"/>
            <a:ext cx="2834640" cy="566928"/>
          </a:xfrm>
          <a:prstGeom prst="roundRect">
            <a:avLst>
              <a:gd name="adj" fmla="val 12903"/>
            </a:avLst>
          </a:prstGeom>
          <a:solidFill>
            <a:srgbClr val="0F2A22"/>
          </a:solidFill>
          <a:ln w="12700">
            <a:solidFill>
              <a:srgbClr val="5EFFC1"/>
            </a:solidFill>
            <a:prstDash val="solid"/>
          </a:ln>
        </p:spPr>
      </p:sp>
      <p:sp>
        <p:nvSpPr>
          <p:cNvPr id="6" name="Text 4"/>
          <p:cNvSpPr/>
          <p:nvPr/>
        </p:nvSpPr>
        <p:spPr>
          <a:xfrm>
            <a:off x="8732520" y="640080"/>
            <a:ext cx="2834640" cy="566928"/>
          </a:xfrm>
          <a:prstGeom prst="rect">
            <a:avLst/>
          </a:prstGeom>
          <a:noFill/>
          <a:ln/>
        </p:spPr>
        <p:txBody>
          <a:bodyPr wrap="square" lIns="0" tIns="0" rIns="0" bIns="0" rtlCol="0" anchor="ctr"/>
          <a:lstStyle/>
          <a:p>
            <a:pPr algn="ctr" indent="0" marL="0">
              <a:buNone/>
            </a:pPr>
            <a:r>
              <a:rPr lang="en-US" sz="900" b="1" spc="100" kern="0" dirty="0">
                <a:solidFill>
                  <a:srgbClr val="5EFFC1"/>
                </a:solidFill>
                <a:latin typeface="Consolas" pitchFamily="34" charset="0"/>
                <a:ea typeface="Consolas" pitchFamily="34" charset="-122"/>
                <a:cs typeface="Consolas" pitchFamily="34" charset="-120"/>
              </a:rPr>
              <a:t>↓  EXPORT CLIENT PACKAGE</a:t>
            </a:r>
            <a:endParaRPr lang="en-US" sz="900" dirty="0"/>
          </a:p>
        </p:txBody>
      </p:sp>
      <p:sp>
        <p:nvSpPr>
          <p:cNvPr id="7" name="Shape 5"/>
          <p:cNvSpPr/>
          <p:nvPr/>
        </p:nvSpPr>
        <p:spPr>
          <a:xfrm>
            <a:off x="822960" y="5806440"/>
            <a:ext cx="4023360" cy="0"/>
          </a:xfrm>
          <a:prstGeom prst="line">
            <a:avLst/>
          </a:prstGeom>
          <a:noFill/>
          <a:ln w="12700">
            <a:solidFill>
              <a:srgbClr val="1A3A50"/>
            </a:solidFill>
            <a:prstDash val="solid"/>
          </a:ln>
        </p:spPr>
      </p:sp>
      <p:sp>
        <p:nvSpPr>
          <p:cNvPr id="8" name="Text 6"/>
          <p:cNvSpPr/>
          <p:nvPr/>
        </p:nvSpPr>
        <p:spPr>
          <a:xfrm>
            <a:off x="822960" y="5943600"/>
            <a:ext cx="5486400" cy="274320"/>
          </a:xfrm>
          <a:prstGeom prst="rect">
            <a:avLst/>
          </a:prstGeom>
          <a:noFill/>
          <a:ln/>
        </p:spPr>
        <p:txBody>
          <a:bodyPr wrap="square" lIns="0" tIns="0" rIns="0" bIns="0" rtlCol="0" anchor="ctr"/>
          <a:lstStyle/>
          <a:p>
            <a:pPr indent="0" marL="0">
              <a:buNone/>
            </a:pPr>
            <a:r>
              <a:rPr lang="en-US" sz="900" spc="150" kern="0" dirty="0">
                <a:solidFill>
                  <a:srgbClr val="4A6072"/>
                </a:solidFill>
                <a:latin typeface="Consolas" pitchFamily="34" charset="0"/>
                <a:ea typeface="Consolas" pitchFamily="34" charset="-122"/>
                <a:cs typeface="Consolas" pitchFamily="34" charset="-120"/>
              </a:rPr>
              <a:t>PREPARED FOR: PROSPECT EXECUTIVE REVIEW</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1A"/>
        </a:solidFill>
      </p:bgPr>
    </p:bg>
    <p:spTree>
      <p:nvGrpSpPr>
        <p:cNvPr id="1" name=""/>
        <p:cNvGrpSpPr/>
        <p:nvPr/>
      </p:nvGrpSpPr>
      <p:grpSpPr>
        <a:xfrm>
          <a:off x="0" y="0"/>
          <a:ext cx="0" cy="0"/>
          <a:chOff x="0" y="0"/>
          <a:chExt cx="0" cy="0"/>
        </a:xfrm>
      </p:grpSpPr>
      <p:sp>
        <p:nvSpPr>
          <p:cNvPr id="2" name="Shape 0"/>
          <p:cNvSpPr/>
          <p:nvPr/>
        </p:nvSpPr>
        <p:spPr>
          <a:xfrm>
            <a:off x="274320" y="256032"/>
            <a:ext cx="1228649" cy="310896"/>
          </a:xfrm>
          <a:prstGeom prst="roundRect">
            <a:avLst>
              <a:gd name="adj" fmla="val 17647"/>
            </a:avLst>
          </a:prstGeom>
          <a:solidFill>
            <a:srgbClr val="5EFFC1"/>
          </a:solidFill>
          <a:ln w="9525">
            <a:solidFill>
              <a:srgbClr val="5EFFC1"/>
            </a:solidFill>
            <a:prstDash val="solid"/>
          </a:ln>
        </p:spPr>
      </p:sp>
      <p:sp>
        <p:nvSpPr>
          <p:cNvPr id="3" name="Text 1">
            <a:hlinkClick r:id="rId1" tooltip="" action="ppaction://hlinksldjump"/>
          </p:cNvPr>
          <p:cNvSpPr/>
          <p:nvPr/>
        </p:nvSpPr>
        <p:spPr>
          <a:xfrm>
            <a:off x="274320" y="256032"/>
            <a:ext cx="1228649" cy="310896"/>
          </a:xfrm>
          <a:prstGeom prst="rect">
            <a:avLst/>
          </a:prstGeom>
          <a:noFill/>
          <a:ln/>
        </p:spPr>
        <p:txBody>
          <a:bodyPr wrap="square" lIns="0" tIns="0" rIns="0" bIns="0" rtlCol="0" anchor="ctr"/>
          <a:lstStyle/>
          <a:p>
            <a:pPr algn="ctr" indent="0" marL="0">
              <a:buNone/>
            </a:pPr>
            <a:r>
              <a:rPr lang="en-US" sz="750" b="1" u="sng" spc="50" kern="0" dirty="0">
                <a:solidFill>
                  <a:srgbClr val="07120D"/>
                </a:solidFill>
                <a:latin typeface="Consolas" pitchFamily="34" charset="0"/>
                <a:ea typeface="Consolas" pitchFamily="34" charset="-122"/>
                <a:cs typeface="Consolas" pitchFamily="34" charset="-120"/>
                <a:hlinkClick r:id="rId1" action="ppaction://hlinksldjump" tooltip="">
                  <a:extLst>
                    <a:ext uri="{A12FA001-AC4F-418D-AE19-62706E023703}">
                      <ahyp:hlinkClr xmlns:ahyp="http://schemas.microsoft.com/office/drawing/2018/hyperlinkcolor" val="tx"/>
                    </a:ext>
                  </a:extLst>
                </a:hlinkClick>
              </a:rPr>
              <a:t>AGENDA</a:t>
            </a:r>
            <a:endParaRPr lang="en-US" sz="750" dirty="0"/>
          </a:p>
        </p:txBody>
      </p:sp>
      <p:sp>
        <p:nvSpPr>
          <p:cNvPr id="4" name="Shape 2"/>
          <p:cNvSpPr/>
          <p:nvPr/>
        </p:nvSpPr>
        <p:spPr>
          <a:xfrm>
            <a:off x="1576121" y="256032"/>
            <a:ext cx="1228649" cy="310896"/>
          </a:xfrm>
          <a:prstGeom prst="roundRect">
            <a:avLst>
              <a:gd name="adj" fmla="val 17647"/>
            </a:avLst>
          </a:prstGeom>
          <a:solidFill>
            <a:srgbClr val="13232F"/>
          </a:solidFill>
          <a:ln w="9525">
            <a:solidFill>
              <a:srgbClr val="1A3A50"/>
            </a:solidFill>
            <a:prstDash val="solid"/>
          </a:ln>
        </p:spPr>
      </p:sp>
      <p:sp>
        <p:nvSpPr>
          <p:cNvPr id="5" name="Text 3">
            <a:hlinkClick r:id="rId2" tooltip="" action="ppaction://hlinksldjump"/>
          </p:cNvPr>
          <p:cNvSpPr/>
          <p:nvPr/>
        </p:nvSpPr>
        <p:spPr>
          <a:xfrm>
            <a:off x="1576121"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THE PROBLEM</a:t>
            </a:r>
            <a:endParaRPr lang="en-US" sz="750" dirty="0"/>
          </a:p>
        </p:txBody>
      </p:sp>
      <p:sp>
        <p:nvSpPr>
          <p:cNvPr id="6" name="Shape 4"/>
          <p:cNvSpPr/>
          <p:nvPr/>
        </p:nvSpPr>
        <p:spPr>
          <a:xfrm>
            <a:off x="2877922" y="256032"/>
            <a:ext cx="1228649" cy="310896"/>
          </a:xfrm>
          <a:prstGeom prst="roundRect">
            <a:avLst>
              <a:gd name="adj" fmla="val 17647"/>
            </a:avLst>
          </a:prstGeom>
          <a:solidFill>
            <a:srgbClr val="13232F"/>
          </a:solidFill>
          <a:ln w="9525">
            <a:solidFill>
              <a:srgbClr val="1A3A50"/>
            </a:solidFill>
            <a:prstDash val="solid"/>
          </a:ln>
        </p:spPr>
      </p:sp>
      <p:sp>
        <p:nvSpPr>
          <p:cNvPr id="7" name="Text 5">
            <a:hlinkClick r:id="rId3" tooltip="" action="ppaction://hlinksldjump"/>
          </p:cNvPr>
          <p:cNvSpPr/>
          <p:nvPr/>
        </p:nvSpPr>
        <p:spPr>
          <a:xfrm>
            <a:off x="28779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LIVE WIP</a:t>
            </a:r>
            <a:endParaRPr lang="en-US" sz="750" dirty="0"/>
          </a:p>
        </p:txBody>
      </p:sp>
      <p:sp>
        <p:nvSpPr>
          <p:cNvPr id="8" name="Shape 6"/>
          <p:cNvSpPr/>
          <p:nvPr/>
        </p:nvSpPr>
        <p:spPr>
          <a:xfrm>
            <a:off x="4179722" y="256032"/>
            <a:ext cx="1228649" cy="310896"/>
          </a:xfrm>
          <a:prstGeom prst="roundRect">
            <a:avLst>
              <a:gd name="adj" fmla="val 17647"/>
            </a:avLst>
          </a:prstGeom>
          <a:solidFill>
            <a:srgbClr val="13232F"/>
          </a:solidFill>
          <a:ln w="9525">
            <a:solidFill>
              <a:srgbClr val="1A3A50"/>
            </a:solidFill>
            <a:prstDash val="solid"/>
          </a:ln>
        </p:spPr>
      </p:sp>
      <p:sp>
        <p:nvSpPr>
          <p:cNvPr id="9" name="Text 7">
            <a:hlinkClick r:id="rId4" tooltip="" action="ppaction://hlinksldjump"/>
          </p:cNvPr>
          <p:cNvSpPr/>
          <p:nvPr/>
        </p:nvSpPr>
        <p:spPr>
          <a:xfrm>
            <a:off x="41797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4" action="ppaction://hlinksldjump" tooltip="">
                  <a:extLst>
                    <a:ext uri="{A12FA001-AC4F-418D-AE19-62706E023703}">
                      <ahyp:hlinkClr xmlns:ahyp="http://schemas.microsoft.com/office/drawing/2018/hyperlinkcolor" val="tx"/>
                    </a:ext>
                  </a:extLst>
                </a:hlinkClick>
              </a:rPr>
              <a:t>EXPLAINABILITY</a:t>
            </a:r>
            <a:endParaRPr lang="en-US" sz="750" dirty="0"/>
          </a:p>
        </p:txBody>
      </p:sp>
      <p:sp>
        <p:nvSpPr>
          <p:cNvPr id="10" name="Shape 8"/>
          <p:cNvSpPr/>
          <p:nvPr/>
        </p:nvSpPr>
        <p:spPr>
          <a:xfrm>
            <a:off x="5481523" y="256032"/>
            <a:ext cx="1228649" cy="310896"/>
          </a:xfrm>
          <a:prstGeom prst="roundRect">
            <a:avLst>
              <a:gd name="adj" fmla="val 17647"/>
            </a:avLst>
          </a:prstGeom>
          <a:solidFill>
            <a:srgbClr val="13232F"/>
          </a:solidFill>
          <a:ln w="9525">
            <a:solidFill>
              <a:srgbClr val="1A3A50"/>
            </a:solidFill>
            <a:prstDash val="solid"/>
          </a:ln>
        </p:spPr>
      </p:sp>
      <p:sp>
        <p:nvSpPr>
          <p:cNvPr id="11" name="Text 9">
            <a:hlinkClick r:id="rId5" tooltip="" action="ppaction://hlinksldjump"/>
          </p:cNvPr>
          <p:cNvSpPr/>
          <p:nvPr/>
        </p:nvSpPr>
        <p:spPr>
          <a:xfrm>
            <a:off x="5481523"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5" action="ppaction://hlinksldjump" tooltip="">
                  <a:extLst>
                    <a:ext uri="{A12FA001-AC4F-418D-AE19-62706E023703}">
                      <ahyp:hlinkClr xmlns:ahyp="http://schemas.microsoft.com/office/drawing/2018/hyperlinkcolor" val="tx"/>
                    </a:ext>
                  </a:extLst>
                </a:hlinkClick>
              </a:rPr>
              <a:t>CASE GOVERNANCE</a:t>
            </a:r>
            <a:endParaRPr lang="en-US" sz="750" dirty="0"/>
          </a:p>
        </p:txBody>
      </p:sp>
      <p:sp>
        <p:nvSpPr>
          <p:cNvPr id="12" name="Shape 10"/>
          <p:cNvSpPr/>
          <p:nvPr/>
        </p:nvSpPr>
        <p:spPr>
          <a:xfrm>
            <a:off x="6783324" y="256032"/>
            <a:ext cx="1228649" cy="310896"/>
          </a:xfrm>
          <a:prstGeom prst="roundRect">
            <a:avLst>
              <a:gd name="adj" fmla="val 17647"/>
            </a:avLst>
          </a:prstGeom>
          <a:solidFill>
            <a:srgbClr val="13232F"/>
          </a:solidFill>
          <a:ln w="9525">
            <a:solidFill>
              <a:srgbClr val="1A3A50"/>
            </a:solidFill>
            <a:prstDash val="solid"/>
          </a:ln>
        </p:spPr>
      </p:sp>
      <p:sp>
        <p:nvSpPr>
          <p:cNvPr id="13" name="Text 11">
            <a:hlinkClick r:id="rId6" tooltip="" action="ppaction://hlinksldjump"/>
          </p:cNvPr>
          <p:cNvSpPr/>
          <p:nvPr/>
        </p:nvSpPr>
        <p:spPr>
          <a:xfrm>
            <a:off x="6783324"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6" action="ppaction://hlinksldjump" tooltip="">
                  <a:extLst>
                    <a:ext uri="{A12FA001-AC4F-418D-AE19-62706E023703}">
                      <ahyp:hlinkClr xmlns:ahyp="http://schemas.microsoft.com/office/drawing/2018/hyperlinkcolor" val="tx"/>
                    </a:ext>
                  </a:extLst>
                </a:hlinkClick>
              </a:rPr>
              <a:t>DELIVERY PKG</a:t>
            </a:r>
            <a:endParaRPr lang="en-US" sz="750" dirty="0"/>
          </a:p>
        </p:txBody>
      </p:sp>
      <p:sp>
        <p:nvSpPr>
          <p:cNvPr id="14" name="Shape 12"/>
          <p:cNvSpPr/>
          <p:nvPr/>
        </p:nvSpPr>
        <p:spPr>
          <a:xfrm>
            <a:off x="8085125" y="256032"/>
            <a:ext cx="1228649" cy="310896"/>
          </a:xfrm>
          <a:prstGeom prst="roundRect">
            <a:avLst>
              <a:gd name="adj" fmla="val 17647"/>
            </a:avLst>
          </a:prstGeom>
          <a:solidFill>
            <a:srgbClr val="13232F"/>
          </a:solidFill>
          <a:ln w="9525">
            <a:solidFill>
              <a:srgbClr val="1A3A50"/>
            </a:solidFill>
            <a:prstDash val="solid"/>
          </a:ln>
        </p:spPr>
      </p:sp>
      <p:sp>
        <p:nvSpPr>
          <p:cNvPr id="15" name="Text 13">
            <a:hlinkClick r:id="rId7" tooltip="" action="ppaction://hlinksldjump"/>
          </p:cNvPr>
          <p:cNvSpPr/>
          <p:nvPr/>
        </p:nvSpPr>
        <p:spPr>
          <a:xfrm>
            <a:off x="8085125"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7" action="ppaction://hlinksldjump" tooltip="">
                  <a:extLst>
                    <a:ext uri="{A12FA001-AC4F-418D-AE19-62706E023703}">
                      <ahyp:hlinkClr xmlns:ahyp="http://schemas.microsoft.com/office/drawing/2018/hyperlinkcolor" val="tx"/>
                    </a:ext>
                  </a:extLst>
                </a:hlinkClick>
              </a:rPr>
              <a:t>ONE PLATFORM</a:t>
            </a:r>
            <a:endParaRPr lang="en-US" sz="750" dirty="0"/>
          </a:p>
        </p:txBody>
      </p:sp>
      <p:sp>
        <p:nvSpPr>
          <p:cNvPr id="16" name="Shape 14"/>
          <p:cNvSpPr/>
          <p:nvPr/>
        </p:nvSpPr>
        <p:spPr>
          <a:xfrm>
            <a:off x="9386926" y="256032"/>
            <a:ext cx="1228649" cy="310896"/>
          </a:xfrm>
          <a:prstGeom prst="roundRect">
            <a:avLst>
              <a:gd name="adj" fmla="val 17647"/>
            </a:avLst>
          </a:prstGeom>
          <a:solidFill>
            <a:srgbClr val="13232F"/>
          </a:solidFill>
          <a:ln w="9525">
            <a:solidFill>
              <a:srgbClr val="1A3A50"/>
            </a:solidFill>
            <a:prstDash val="solid"/>
          </a:ln>
        </p:spPr>
      </p:sp>
      <p:sp>
        <p:nvSpPr>
          <p:cNvPr id="17" name="Text 15">
            <a:hlinkClick r:id="rId8" tooltip="" action="ppaction://hlinksldjump"/>
          </p:cNvPr>
          <p:cNvSpPr/>
          <p:nvPr/>
        </p:nvSpPr>
        <p:spPr>
          <a:xfrm>
            <a:off x="93869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8" action="ppaction://hlinksldjump" tooltip="">
                  <a:extLst>
                    <a:ext uri="{A12FA001-AC4F-418D-AE19-62706E023703}">
                      <ahyp:hlinkClr xmlns:ahyp="http://schemas.microsoft.com/office/drawing/2018/hyperlinkcolor" val="tx"/>
                    </a:ext>
                  </a:extLst>
                </a:hlinkClick>
              </a:rPr>
              <a:t>LIVE DEMO</a:t>
            </a:r>
            <a:endParaRPr lang="en-US" sz="750" dirty="0"/>
          </a:p>
        </p:txBody>
      </p:sp>
      <p:sp>
        <p:nvSpPr>
          <p:cNvPr id="18" name="Shape 16"/>
          <p:cNvSpPr/>
          <p:nvPr/>
        </p:nvSpPr>
        <p:spPr>
          <a:xfrm>
            <a:off x="10688726" y="256032"/>
            <a:ext cx="1228649" cy="310896"/>
          </a:xfrm>
          <a:prstGeom prst="roundRect">
            <a:avLst>
              <a:gd name="adj" fmla="val 17647"/>
            </a:avLst>
          </a:prstGeom>
          <a:solidFill>
            <a:srgbClr val="13232F"/>
          </a:solidFill>
          <a:ln w="9525">
            <a:solidFill>
              <a:srgbClr val="1A3A50"/>
            </a:solidFill>
            <a:prstDash val="solid"/>
          </a:ln>
        </p:spPr>
      </p:sp>
      <p:sp>
        <p:nvSpPr>
          <p:cNvPr id="19" name="Text 17">
            <a:hlinkClick r:id="rId9" tooltip="" action="ppaction://hlinksldjump"/>
          </p:cNvPr>
          <p:cNvSpPr/>
          <p:nvPr/>
        </p:nvSpPr>
        <p:spPr>
          <a:xfrm>
            <a:off x="106887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9" action="ppaction://hlinksldjump" tooltip="">
                  <a:extLst>
                    <a:ext uri="{A12FA001-AC4F-418D-AE19-62706E023703}">
                      <ahyp:hlinkClr xmlns:ahyp="http://schemas.microsoft.com/office/drawing/2018/hyperlinkcolor" val="tx"/>
                    </a:ext>
                  </a:extLst>
                </a:hlinkClick>
              </a:rPr>
              <a:t>THE ASK</a:t>
            </a:r>
            <a:endParaRPr lang="en-US" sz="750" dirty="0"/>
          </a:p>
        </p:txBody>
      </p:sp>
      <p:sp>
        <p:nvSpPr>
          <p:cNvPr id="20" name="Text 18"/>
          <p:cNvSpPr/>
          <p:nvPr/>
        </p:nvSpPr>
        <p:spPr>
          <a:xfrm>
            <a:off x="548640" y="868680"/>
            <a:ext cx="7315200" cy="274320"/>
          </a:xfrm>
          <a:prstGeom prst="rect">
            <a:avLst/>
          </a:prstGeom>
          <a:noFill/>
          <a:ln/>
        </p:spPr>
        <p:txBody>
          <a:bodyPr wrap="square" lIns="0" tIns="0" rIns="0" bIns="0" rtlCol="0" anchor="ctr"/>
          <a:lstStyle/>
          <a:p>
            <a:pPr indent="0" marL="0">
              <a:buNone/>
            </a:pPr>
            <a:r>
              <a:rPr lang="en-US" sz="1100" b="1" spc="200" kern="0" dirty="0">
                <a:solidFill>
                  <a:srgbClr val="5EFFC1"/>
                </a:solidFill>
                <a:latin typeface="Consolas" pitchFamily="34" charset="0"/>
                <a:ea typeface="Consolas" pitchFamily="34" charset="-122"/>
                <a:cs typeface="Consolas" pitchFamily="34" charset="-120"/>
              </a:rPr>
              <a:t>WHERE WE'RE GOING</a:t>
            </a:r>
            <a:endParaRPr lang="en-US" sz="1100" dirty="0"/>
          </a:p>
        </p:txBody>
      </p:sp>
      <p:sp>
        <p:nvSpPr>
          <p:cNvPr id="21" name="Text 19"/>
          <p:cNvSpPr/>
          <p:nvPr/>
        </p:nvSpPr>
        <p:spPr>
          <a:xfrm>
            <a:off x="548640" y="1161288"/>
            <a:ext cx="10515600" cy="822960"/>
          </a:xfrm>
          <a:prstGeom prst="rect">
            <a:avLst/>
          </a:prstGeom>
          <a:noFill/>
          <a:ln/>
        </p:spPr>
        <p:txBody>
          <a:bodyPr wrap="square" lIns="0" tIns="0" rIns="0" bIns="0" rtlCol="0" anchor="ctr"/>
          <a:lstStyle/>
          <a:p>
            <a:pPr indent="0" marL="0">
              <a:buNone/>
            </a:pPr>
            <a:r>
              <a:rPr lang="en-US" sz="3000" b="1" dirty="0">
                <a:solidFill>
                  <a:srgbClr val="F2F6F8"/>
                </a:solidFill>
                <a:latin typeface="Arial" pitchFamily="34" charset="0"/>
                <a:ea typeface="Arial" pitchFamily="34" charset="-122"/>
                <a:cs typeface="Arial" pitchFamily="34" charset="-120"/>
              </a:rPr>
              <a:t>Four Features That Close This Deal</a:t>
            </a:r>
            <a:endParaRPr lang="en-US" sz="3000" dirty="0"/>
          </a:p>
        </p:txBody>
      </p:sp>
      <p:sp>
        <p:nvSpPr>
          <p:cNvPr id="22" name="Shape 20"/>
          <p:cNvSpPr/>
          <p:nvPr/>
        </p:nvSpPr>
        <p:spPr>
          <a:xfrm>
            <a:off x="548640" y="1965960"/>
            <a:ext cx="11064240" cy="932688"/>
          </a:xfrm>
          <a:prstGeom prst="roundRect">
            <a:avLst>
              <a:gd name="adj" fmla="val 6863"/>
            </a:avLst>
          </a:prstGeom>
          <a:solidFill>
            <a:srgbClr val="0F1B26"/>
          </a:solidFill>
          <a:ln w="12700">
            <a:solidFill>
              <a:srgbClr val="1A3A50"/>
            </a:solidFill>
            <a:prstDash val="solid"/>
          </a:ln>
        </p:spPr>
      </p:sp>
      <p:sp>
        <p:nvSpPr>
          <p:cNvPr id="23" name="Text 21"/>
          <p:cNvSpPr/>
          <p:nvPr/>
        </p:nvSpPr>
        <p:spPr>
          <a:xfrm>
            <a:off x="868680" y="1965960"/>
            <a:ext cx="822960" cy="932688"/>
          </a:xfrm>
          <a:prstGeom prst="rect">
            <a:avLst/>
          </a:prstGeom>
          <a:noFill/>
          <a:ln/>
        </p:spPr>
        <p:txBody>
          <a:bodyPr wrap="square" lIns="0" tIns="0" rIns="0" bIns="0" rtlCol="0" anchor="ctr"/>
          <a:lstStyle/>
          <a:p>
            <a:pPr indent="0" marL="0">
              <a:buNone/>
            </a:pPr>
            <a:r>
              <a:rPr lang="en-US" sz="2200" b="1" dirty="0">
                <a:solidFill>
                  <a:srgbClr val="4A6072"/>
                </a:solidFill>
                <a:latin typeface="Consolas" pitchFamily="34" charset="0"/>
                <a:ea typeface="Consolas" pitchFamily="34" charset="-122"/>
                <a:cs typeface="Consolas" pitchFamily="34" charset="-120"/>
              </a:rPr>
              <a:t>01</a:t>
            </a:r>
            <a:endParaRPr lang="en-US" sz="2200" dirty="0"/>
          </a:p>
        </p:txBody>
      </p:sp>
      <p:sp>
        <p:nvSpPr>
          <p:cNvPr id="24" name="Text 22"/>
          <p:cNvSpPr/>
          <p:nvPr/>
        </p:nvSpPr>
        <p:spPr>
          <a:xfrm>
            <a:off x="1737360" y="2075688"/>
            <a:ext cx="5120640" cy="365760"/>
          </a:xfrm>
          <a:prstGeom prst="rect">
            <a:avLst/>
          </a:prstGeom>
          <a:noFill/>
          <a:ln/>
        </p:spPr>
        <p:txBody>
          <a:bodyPr wrap="square" lIns="0" tIns="0" rIns="0" bIns="0" rtlCol="0" anchor="ctr"/>
          <a:lstStyle/>
          <a:p>
            <a:pPr indent="0" marL="0">
              <a:buNone/>
            </a:pPr>
            <a:r>
              <a:rPr lang="en-US" sz="1600" b="1" dirty="0">
                <a:solidFill>
                  <a:srgbClr val="F2F6F8"/>
                </a:solidFill>
                <a:latin typeface="Arial" pitchFamily="34" charset="0"/>
                <a:ea typeface="Arial" pitchFamily="34" charset="-122"/>
                <a:cs typeface="Arial" pitchFamily="34" charset="-120"/>
              </a:rPr>
              <a:t>Live WIP Tracker</a:t>
            </a:r>
            <a:endParaRPr lang="en-US" sz="1600" dirty="0"/>
          </a:p>
        </p:txBody>
      </p:sp>
      <p:sp>
        <p:nvSpPr>
          <p:cNvPr id="25" name="Text 23"/>
          <p:cNvSpPr/>
          <p:nvPr/>
        </p:nvSpPr>
        <p:spPr>
          <a:xfrm>
            <a:off x="1737360" y="2441448"/>
            <a:ext cx="6309360" cy="365760"/>
          </a:xfrm>
          <a:prstGeom prst="rect">
            <a:avLst/>
          </a:prstGeom>
          <a:noFill/>
          <a:ln/>
        </p:spPr>
        <p:txBody>
          <a:bodyPr wrap="square" lIns="0" tIns="0" rIns="0" bIns="0" rtlCol="0" anchor="ctr"/>
          <a:lstStyle/>
          <a:p>
            <a:pPr indent="0" marL="0">
              <a:buNone/>
            </a:pPr>
            <a:r>
              <a:rPr lang="en-US" sz="1150" dirty="0">
                <a:solidFill>
                  <a:srgbClr val="7C93A3"/>
                </a:solidFill>
                <a:latin typeface="Arial" pitchFamily="34" charset="0"/>
                <a:ea typeface="Arial" pitchFamily="34" charset="-122"/>
                <a:cs typeface="Arial" pitchFamily="34" charset="-120"/>
              </a:rPr>
              <a:t>The pipeline status updates itself — no refresh, no status-meeting.</a:t>
            </a:r>
            <a:endParaRPr lang="en-US" sz="1150" dirty="0"/>
          </a:p>
        </p:txBody>
      </p:sp>
      <p:sp>
        <p:nvSpPr>
          <p:cNvPr id="26" name="Shape 24"/>
          <p:cNvSpPr/>
          <p:nvPr/>
        </p:nvSpPr>
        <p:spPr>
          <a:xfrm>
            <a:off x="9921240" y="2203704"/>
            <a:ext cx="1554480" cy="457200"/>
          </a:xfrm>
          <a:prstGeom prst="roundRect">
            <a:avLst>
              <a:gd name="adj" fmla="val 50000"/>
            </a:avLst>
          </a:prstGeom>
          <a:solidFill>
            <a:srgbClr val="12222C"/>
          </a:solidFill>
          <a:ln w="12700">
            <a:solidFill>
              <a:srgbClr val="5EFFC1"/>
            </a:solidFill>
            <a:prstDash val="solid"/>
          </a:ln>
        </p:spPr>
      </p:sp>
      <p:sp>
        <p:nvSpPr>
          <p:cNvPr id="27" name="Text 25">
            <a:hlinkClick r:id="rId10" tooltip="" action="ppaction://hlinksldjump"/>
          </p:cNvPr>
          <p:cNvSpPr/>
          <p:nvPr/>
        </p:nvSpPr>
        <p:spPr>
          <a:xfrm>
            <a:off x="9921240" y="2203704"/>
            <a:ext cx="1554480" cy="457200"/>
          </a:xfrm>
          <a:prstGeom prst="rect">
            <a:avLst/>
          </a:prstGeom>
          <a:noFill/>
          <a:ln/>
        </p:spPr>
        <p:txBody>
          <a:bodyPr wrap="square" lIns="0" tIns="0" rIns="0" bIns="0" rtlCol="0" anchor="ctr"/>
          <a:lstStyle/>
          <a:p>
            <a:pPr algn="ctr" indent="0" marL="0">
              <a:buNone/>
            </a:pPr>
            <a:r>
              <a:rPr lang="en-US" sz="900" b="1" u="sng" spc="100" kern="0" dirty="0">
                <a:solidFill>
                  <a:srgbClr val="5EFFC1"/>
                </a:solidFill>
                <a:latin typeface="Consolas" pitchFamily="34" charset="0"/>
                <a:ea typeface="Consolas" pitchFamily="34" charset="-122"/>
                <a:cs typeface="Consolas" pitchFamily="34" charset="-120"/>
                <a:hlinkClick r:id="rId10" action="ppaction://hlinksldjump" tooltip="">
                  <a:extLst>
                    <a:ext uri="{A12FA001-AC4F-418D-AE19-62706E023703}">
                      <ahyp:hlinkClr xmlns:ahyp="http://schemas.microsoft.com/office/drawing/2018/hyperlinkcolor" val="tx"/>
                    </a:ext>
                  </a:extLst>
                </a:hlinkClick>
              </a:rPr>
              <a:t>VIEW  →</a:t>
            </a:r>
            <a:endParaRPr lang="en-US" sz="900" dirty="0"/>
          </a:p>
        </p:txBody>
      </p:sp>
      <p:sp>
        <p:nvSpPr>
          <p:cNvPr id="28" name="Shape 26"/>
          <p:cNvSpPr/>
          <p:nvPr/>
        </p:nvSpPr>
        <p:spPr>
          <a:xfrm>
            <a:off x="548640" y="3063240"/>
            <a:ext cx="11064240" cy="932688"/>
          </a:xfrm>
          <a:prstGeom prst="roundRect">
            <a:avLst>
              <a:gd name="adj" fmla="val 6863"/>
            </a:avLst>
          </a:prstGeom>
          <a:solidFill>
            <a:srgbClr val="0F1B26"/>
          </a:solidFill>
          <a:ln w="12700">
            <a:solidFill>
              <a:srgbClr val="1A3A50"/>
            </a:solidFill>
            <a:prstDash val="solid"/>
          </a:ln>
        </p:spPr>
      </p:sp>
      <p:sp>
        <p:nvSpPr>
          <p:cNvPr id="29" name="Text 27"/>
          <p:cNvSpPr/>
          <p:nvPr/>
        </p:nvSpPr>
        <p:spPr>
          <a:xfrm>
            <a:off x="868680" y="3063240"/>
            <a:ext cx="822960" cy="932688"/>
          </a:xfrm>
          <a:prstGeom prst="rect">
            <a:avLst/>
          </a:prstGeom>
          <a:noFill/>
          <a:ln/>
        </p:spPr>
        <p:txBody>
          <a:bodyPr wrap="square" lIns="0" tIns="0" rIns="0" bIns="0" rtlCol="0" anchor="ctr"/>
          <a:lstStyle/>
          <a:p>
            <a:pPr indent="0" marL="0">
              <a:buNone/>
            </a:pPr>
            <a:r>
              <a:rPr lang="en-US" sz="2200" b="1" dirty="0">
                <a:solidFill>
                  <a:srgbClr val="4A6072"/>
                </a:solidFill>
                <a:latin typeface="Consolas" pitchFamily="34" charset="0"/>
                <a:ea typeface="Consolas" pitchFamily="34" charset="-122"/>
                <a:cs typeface="Consolas" pitchFamily="34" charset="-120"/>
              </a:rPr>
              <a:t>02</a:t>
            </a:r>
            <a:endParaRPr lang="en-US" sz="2200" dirty="0"/>
          </a:p>
        </p:txBody>
      </p:sp>
      <p:sp>
        <p:nvSpPr>
          <p:cNvPr id="30" name="Text 28"/>
          <p:cNvSpPr/>
          <p:nvPr/>
        </p:nvSpPr>
        <p:spPr>
          <a:xfrm>
            <a:off x="1737360" y="3172968"/>
            <a:ext cx="5120640" cy="365760"/>
          </a:xfrm>
          <a:prstGeom prst="rect">
            <a:avLst/>
          </a:prstGeom>
          <a:noFill/>
          <a:ln/>
        </p:spPr>
        <p:txBody>
          <a:bodyPr wrap="square" lIns="0" tIns="0" rIns="0" bIns="0" rtlCol="0" anchor="ctr"/>
          <a:lstStyle/>
          <a:p>
            <a:pPr indent="0" marL="0">
              <a:buNone/>
            </a:pPr>
            <a:r>
              <a:rPr lang="en-US" sz="1600" b="1" dirty="0">
                <a:solidFill>
                  <a:srgbClr val="F2F6F8"/>
                </a:solidFill>
                <a:latin typeface="Arial" pitchFamily="34" charset="0"/>
                <a:ea typeface="Arial" pitchFamily="34" charset="-122"/>
                <a:cs typeface="Arial" pitchFamily="34" charset="-120"/>
              </a:rPr>
              <a:t>Explainability Engine</a:t>
            </a:r>
            <a:endParaRPr lang="en-US" sz="1600" dirty="0"/>
          </a:p>
        </p:txBody>
      </p:sp>
      <p:sp>
        <p:nvSpPr>
          <p:cNvPr id="31" name="Text 29"/>
          <p:cNvSpPr/>
          <p:nvPr/>
        </p:nvSpPr>
        <p:spPr>
          <a:xfrm>
            <a:off x="1737360" y="3538728"/>
            <a:ext cx="6309360" cy="365760"/>
          </a:xfrm>
          <a:prstGeom prst="rect">
            <a:avLst/>
          </a:prstGeom>
          <a:noFill/>
          <a:ln/>
        </p:spPr>
        <p:txBody>
          <a:bodyPr wrap="square" lIns="0" tIns="0" rIns="0" bIns="0" rtlCol="0" anchor="ctr"/>
          <a:lstStyle/>
          <a:p>
            <a:pPr indent="0" marL="0">
              <a:buNone/>
            </a:pPr>
            <a:r>
              <a:rPr lang="en-US" sz="1150" dirty="0">
                <a:solidFill>
                  <a:srgbClr val="7C93A3"/>
                </a:solidFill>
                <a:latin typeface="Arial" pitchFamily="34" charset="0"/>
                <a:ea typeface="Arial" pitchFamily="34" charset="-122"/>
                <a:cs typeface="Arial" pitchFamily="34" charset="-120"/>
              </a:rPr>
              <a:t>Confidence score, data sources, reasoning — for every single recommendation.</a:t>
            </a:r>
            <a:endParaRPr lang="en-US" sz="1150" dirty="0"/>
          </a:p>
        </p:txBody>
      </p:sp>
      <p:sp>
        <p:nvSpPr>
          <p:cNvPr id="32" name="Shape 30"/>
          <p:cNvSpPr/>
          <p:nvPr/>
        </p:nvSpPr>
        <p:spPr>
          <a:xfrm>
            <a:off x="9921240" y="3300984"/>
            <a:ext cx="1554480" cy="457200"/>
          </a:xfrm>
          <a:prstGeom prst="roundRect">
            <a:avLst>
              <a:gd name="adj" fmla="val 50000"/>
            </a:avLst>
          </a:prstGeom>
          <a:solidFill>
            <a:srgbClr val="12222C"/>
          </a:solidFill>
          <a:ln w="12700">
            <a:solidFill>
              <a:srgbClr val="5EFFC1"/>
            </a:solidFill>
            <a:prstDash val="solid"/>
          </a:ln>
        </p:spPr>
      </p:sp>
      <p:sp>
        <p:nvSpPr>
          <p:cNvPr id="33" name="Text 31">
            <a:hlinkClick r:id="rId11" tooltip="" action="ppaction://hlinksldjump"/>
          </p:cNvPr>
          <p:cNvSpPr/>
          <p:nvPr/>
        </p:nvSpPr>
        <p:spPr>
          <a:xfrm>
            <a:off x="9921240" y="3300984"/>
            <a:ext cx="1554480" cy="457200"/>
          </a:xfrm>
          <a:prstGeom prst="rect">
            <a:avLst/>
          </a:prstGeom>
          <a:noFill/>
          <a:ln/>
        </p:spPr>
        <p:txBody>
          <a:bodyPr wrap="square" lIns="0" tIns="0" rIns="0" bIns="0" rtlCol="0" anchor="ctr"/>
          <a:lstStyle/>
          <a:p>
            <a:pPr algn="ctr" indent="0" marL="0">
              <a:buNone/>
            </a:pPr>
            <a:r>
              <a:rPr lang="en-US" sz="900" b="1" u="sng" spc="100" kern="0" dirty="0">
                <a:solidFill>
                  <a:srgbClr val="5EFFC1"/>
                </a:solidFill>
                <a:latin typeface="Consolas" pitchFamily="34" charset="0"/>
                <a:ea typeface="Consolas" pitchFamily="34" charset="-122"/>
                <a:cs typeface="Consolas" pitchFamily="34" charset="-120"/>
                <a:hlinkClick r:id="rId11" action="ppaction://hlinksldjump" tooltip="">
                  <a:extLst>
                    <a:ext uri="{A12FA001-AC4F-418D-AE19-62706E023703}">
                      <ahyp:hlinkClr xmlns:ahyp="http://schemas.microsoft.com/office/drawing/2018/hyperlinkcolor" val="tx"/>
                    </a:ext>
                  </a:extLst>
                </a:hlinkClick>
              </a:rPr>
              <a:t>VIEW  →</a:t>
            </a:r>
            <a:endParaRPr lang="en-US" sz="900" dirty="0"/>
          </a:p>
        </p:txBody>
      </p:sp>
      <p:sp>
        <p:nvSpPr>
          <p:cNvPr id="34" name="Shape 32"/>
          <p:cNvSpPr/>
          <p:nvPr/>
        </p:nvSpPr>
        <p:spPr>
          <a:xfrm>
            <a:off x="548640" y="4160520"/>
            <a:ext cx="11064240" cy="932688"/>
          </a:xfrm>
          <a:prstGeom prst="roundRect">
            <a:avLst>
              <a:gd name="adj" fmla="val 6863"/>
            </a:avLst>
          </a:prstGeom>
          <a:solidFill>
            <a:srgbClr val="0F1B26"/>
          </a:solidFill>
          <a:ln w="12700">
            <a:solidFill>
              <a:srgbClr val="1A3A50"/>
            </a:solidFill>
            <a:prstDash val="solid"/>
          </a:ln>
        </p:spPr>
      </p:sp>
      <p:sp>
        <p:nvSpPr>
          <p:cNvPr id="35" name="Text 33"/>
          <p:cNvSpPr/>
          <p:nvPr/>
        </p:nvSpPr>
        <p:spPr>
          <a:xfrm>
            <a:off x="868680" y="4160520"/>
            <a:ext cx="822960" cy="932688"/>
          </a:xfrm>
          <a:prstGeom prst="rect">
            <a:avLst/>
          </a:prstGeom>
          <a:noFill/>
          <a:ln/>
        </p:spPr>
        <p:txBody>
          <a:bodyPr wrap="square" lIns="0" tIns="0" rIns="0" bIns="0" rtlCol="0" anchor="ctr"/>
          <a:lstStyle/>
          <a:p>
            <a:pPr indent="0" marL="0">
              <a:buNone/>
            </a:pPr>
            <a:r>
              <a:rPr lang="en-US" sz="2200" b="1" dirty="0">
                <a:solidFill>
                  <a:srgbClr val="4A6072"/>
                </a:solidFill>
                <a:latin typeface="Consolas" pitchFamily="34" charset="0"/>
                <a:ea typeface="Consolas" pitchFamily="34" charset="-122"/>
                <a:cs typeface="Consolas" pitchFamily="34" charset="-120"/>
              </a:rPr>
              <a:t>03</a:t>
            </a:r>
            <a:endParaRPr lang="en-US" sz="2200" dirty="0"/>
          </a:p>
        </p:txBody>
      </p:sp>
      <p:sp>
        <p:nvSpPr>
          <p:cNvPr id="36" name="Text 34"/>
          <p:cNvSpPr/>
          <p:nvPr/>
        </p:nvSpPr>
        <p:spPr>
          <a:xfrm>
            <a:off x="1737360" y="4270248"/>
            <a:ext cx="5120640" cy="365760"/>
          </a:xfrm>
          <a:prstGeom prst="rect">
            <a:avLst/>
          </a:prstGeom>
          <a:noFill/>
          <a:ln/>
        </p:spPr>
        <p:txBody>
          <a:bodyPr wrap="square" lIns="0" tIns="0" rIns="0" bIns="0" rtlCol="0" anchor="ctr"/>
          <a:lstStyle/>
          <a:p>
            <a:pPr indent="0" marL="0">
              <a:buNone/>
            </a:pPr>
            <a:r>
              <a:rPr lang="en-US" sz="1600" b="1" dirty="0">
                <a:solidFill>
                  <a:srgbClr val="F2F6F8"/>
                </a:solidFill>
                <a:latin typeface="Arial" pitchFamily="34" charset="0"/>
                <a:ea typeface="Arial" pitchFamily="34" charset="-122"/>
                <a:cs typeface="Arial" pitchFamily="34" charset="-120"/>
              </a:rPr>
              <a:t>Case Governance</a:t>
            </a:r>
            <a:endParaRPr lang="en-US" sz="1600" dirty="0"/>
          </a:p>
        </p:txBody>
      </p:sp>
      <p:sp>
        <p:nvSpPr>
          <p:cNvPr id="37" name="Text 35"/>
          <p:cNvSpPr/>
          <p:nvPr/>
        </p:nvSpPr>
        <p:spPr>
          <a:xfrm>
            <a:off x="1737360" y="4636008"/>
            <a:ext cx="6309360" cy="365760"/>
          </a:xfrm>
          <a:prstGeom prst="rect">
            <a:avLst/>
          </a:prstGeom>
          <a:noFill/>
          <a:ln/>
        </p:spPr>
        <p:txBody>
          <a:bodyPr wrap="square" lIns="0" tIns="0" rIns="0" bIns="0" rtlCol="0" anchor="ctr"/>
          <a:lstStyle/>
          <a:p>
            <a:pPr indent="0" marL="0">
              <a:buNone/>
            </a:pPr>
            <a:r>
              <a:rPr lang="en-US" sz="1150" dirty="0">
                <a:solidFill>
                  <a:srgbClr val="7C93A3"/>
                </a:solidFill>
                <a:latin typeface="Arial" pitchFamily="34" charset="0"/>
                <a:ea typeface="Arial" pitchFamily="34" charset="-122"/>
                <a:cs typeface="Arial" pitchFamily="34" charset="-120"/>
              </a:rPr>
              <a:t>Every exception becomes an auditable case with a named human sign-off.</a:t>
            </a:r>
            <a:endParaRPr lang="en-US" sz="1150" dirty="0"/>
          </a:p>
        </p:txBody>
      </p:sp>
      <p:sp>
        <p:nvSpPr>
          <p:cNvPr id="38" name="Shape 36"/>
          <p:cNvSpPr/>
          <p:nvPr/>
        </p:nvSpPr>
        <p:spPr>
          <a:xfrm>
            <a:off x="9921240" y="4398264"/>
            <a:ext cx="1554480" cy="457200"/>
          </a:xfrm>
          <a:prstGeom prst="roundRect">
            <a:avLst>
              <a:gd name="adj" fmla="val 50000"/>
            </a:avLst>
          </a:prstGeom>
          <a:solidFill>
            <a:srgbClr val="12222C"/>
          </a:solidFill>
          <a:ln w="12700">
            <a:solidFill>
              <a:srgbClr val="5EFFC1"/>
            </a:solidFill>
            <a:prstDash val="solid"/>
          </a:ln>
        </p:spPr>
      </p:sp>
      <p:sp>
        <p:nvSpPr>
          <p:cNvPr id="39" name="Text 37">
            <a:hlinkClick r:id="rId12" tooltip="" action="ppaction://hlinksldjump"/>
          </p:cNvPr>
          <p:cNvSpPr/>
          <p:nvPr/>
        </p:nvSpPr>
        <p:spPr>
          <a:xfrm>
            <a:off x="9921240" y="4398264"/>
            <a:ext cx="1554480" cy="457200"/>
          </a:xfrm>
          <a:prstGeom prst="rect">
            <a:avLst/>
          </a:prstGeom>
          <a:noFill/>
          <a:ln/>
        </p:spPr>
        <p:txBody>
          <a:bodyPr wrap="square" lIns="0" tIns="0" rIns="0" bIns="0" rtlCol="0" anchor="ctr"/>
          <a:lstStyle/>
          <a:p>
            <a:pPr algn="ctr" indent="0" marL="0">
              <a:buNone/>
            </a:pPr>
            <a:r>
              <a:rPr lang="en-US" sz="900" b="1" u="sng" spc="100" kern="0" dirty="0">
                <a:solidFill>
                  <a:srgbClr val="5EFFC1"/>
                </a:solidFill>
                <a:latin typeface="Consolas" pitchFamily="34" charset="0"/>
                <a:ea typeface="Consolas" pitchFamily="34" charset="-122"/>
                <a:cs typeface="Consolas" pitchFamily="34" charset="-120"/>
                <a:hlinkClick r:id="rId12" action="ppaction://hlinksldjump" tooltip="">
                  <a:extLst>
                    <a:ext uri="{A12FA001-AC4F-418D-AE19-62706E023703}">
                      <ahyp:hlinkClr xmlns:ahyp="http://schemas.microsoft.com/office/drawing/2018/hyperlinkcolor" val="tx"/>
                    </a:ext>
                  </a:extLst>
                </a:hlinkClick>
              </a:rPr>
              <a:t>VIEW  →</a:t>
            </a:r>
            <a:endParaRPr lang="en-US" sz="900" dirty="0"/>
          </a:p>
        </p:txBody>
      </p:sp>
      <p:sp>
        <p:nvSpPr>
          <p:cNvPr id="40" name="Shape 38"/>
          <p:cNvSpPr/>
          <p:nvPr/>
        </p:nvSpPr>
        <p:spPr>
          <a:xfrm>
            <a:off x="548640" y="5257800"/>
            <a:ext cx="11064240" cy="932688"/>
          </a:xfrm>
          <a:prstGeom prst="roundRect">
            <a:avLst>
              <a:gd name="adj" fmla="val 6863"/>
            </a:avLst>
          </a:prstGeom>
          <a:solidFill>
            <a:srgbClr val="0F1B26"/>
          </a:solidFill>
          <a:ln w="12700">
            <a:solidFill>
              <a:srgbClr val="1A3A50"/>
            </a:solidFill>
            <a:prstDash val="solid"/>
          </a:ln>
        </p:spPr>
      </p:sp>
      <p:sp>
        <p:nvSpPr>
          <p:cNvPr id="41" name="Text 39"/>
          <p:cNvSpPr/>
          <p:nvPr/>
        </p:nvSpPr>
        <p:spPr>
          <a:xfrm>
            <a:off x="868680" y="5257800"/>
            <a:ext cx="822960" cy="932688"/>
          </a:xfrm>
          <a:prstGeom prst="rect">
            <a:avLst/>
          </a:prstGeom>
          <a:noFill/>
          <a:ln/>
        </p:spPr>
        <p:txBody>
          <a:bodyPr wrap="square" lIns="0" tIns="0" rIns="0" bIns="0" rtlCol="0" anchor="ctr"/>
          <a:lstStyle/>
          <a:p>
            <a:pPr indent="0" marL="0">
              <a:buNone/>
            </a:pPr>
            <a:r>
              <a:rPr lang="en-US" sz="2200" b="1" dirty="0">
                <a:solidFill>
                  <a:srgbClr val="4A6072"/>
                </a:solidFill>
                <a:latin typeface="Consolas" pitchFamily="34" charset="0"/>
                <a:ea typeface="Consolas" pitchFamily="34" charset="-122"/>
                <a:cs typeface="Consolas" pitchFamily="34" charset="-120"/>
              </a:rPr>
              <a:t>04</a:t>
            </a:r>
            <a:endParaRPr lang="en-US" sz="2200" dirty="0"/>
          </a:p>
        </p:txBody>
      </p:sp>
      <p:sp>
        <p:nvSpPr>
          <p:cNvPr id="42" name="Text 40"/>
          <p:cNvSpPr/>
          <p:nvPr/>
        </p:nvSpPr>
        <p:spPr>
          <a:xfrm>
            <a:off x="1737360" y="5367528"/>
            <a:ext cx="5120640" cy="365760"/>
          </a:xfrm>
          <a:prstGeom prst="rect">
            <a:avLst/>
          </a:prstGeom>
          <a:noFill/>
          <a:ln/>
        </p:spPr>
        <p:txBody>
          <a:bodyPr wrap="square" lIns="0" tIns="0" rIns="0" bIns="0" rtlCol="0" anchor="ctr"/>
          <a:lstStyle/>
          <a:p>
            <a:pPr indent="0" marL="0">
              <a:buNone/>
            </a:pPr>
            <a:r>
              <a:rPr lang="en-US" sz="1600" b="1" dirty="0">
                <a:solidFill>
                  <a:srgbClr val="F2F6F8"/>
                </a:solidFill>
                <a:latin typeface="Arial" pitchFamily="34" charset="0"/>
                <a:ea typeface="Arial" pitchFamily="34" charset="-122"/>
                <a:cs typeface="Arial" pitchFamily="34" charset="-120"/>
              </a:rPr>
              <a:t>One-Click Delivery Package</a:t>
            </a:r>
            <a:endParaRPr lang="en-US" sz="1600" dirty="0"/>
          </a:p>
        </p:txBody>
      </p:sp>
      <p:sp>
        <p:nvSpPr>
          <p:cNvPr id="43" name="Text 41"/>
          <p:cNvSpPr/>
          <p:nvPr/>
        </p:nvSpPr>
        <p:spPr>
          <a:xfrm>
            <a:off x="1737360" y="5733288"/>
            <a:ext cx="6309360" cy="365760"/>
          </a:xfrm>
          <a:prstGeom prst="rect">
            <a:avLst/>
          </a:prstGeom>
          <a:noFill/>
          <a:ln/>
        </p:spPr>
        <p:txBody>
          <a:bodyPr wrap="square" lIns="0" tIns="0" rIns="0" bIns="0" rtlCol="0" anchor="ctr"/>
          <a:lstStyle/>
          <a:p>
            <a:pPr indent="0" marL="0">
              <a:buNone/>
            </a:pPr>
            <a:r>
              <a:rPr lang="en-US" sz="1150" dirty="0">
                <a:solidFill>
                  <a:srgbClr val="7C93A3"/>
                </a:solidFill>
                <a:latin typeface="Arial" pitchFamily="34" charset="0"/>
                <a:ea typeface="Arial" pitchFamily="34" charset="-122"/>
                <a:cs typeface="Arial" pitchFamily="34" charset="-120"/>
              </a:rPr>
              <a:t>The whole audit trail, bundled and downloadable, on demand.</a:t>
            </a:r>
            <a:endParaRPr lang="en-US" sz="1150" dirty="0"/>
          </a:p>
        </p:txBody>
      </p:sp>
      <p:sp>
        <p:nvSpPr>
          <p:cNvPr id="44" name="Shape 42"/>
          <p:cNvSpPr/>
          <p:nvPr/>
        </p:nvSpPr>
        <p:spPr>
          <a:xfrm>
            <a:off x="9921240" y="5495544"/>
            <a:ext cx="1554480" cy="457200"/>
          </a:xfrm>
          <a:prstGeom prst="roundRect">
            <a:avLst>
              <a:gd name="adj" fmla="val 50000"/>
            </a:avLst>
          </a:prstGeom>
          <a:solidFill>
            <a:srgbClr val="12222C"/>
          </a:solidFill>
          <a:ln w="12700">
            <a:solidFill>
              <a:srgbClr val="5EFFC1"/>
            </a:solidFill>
            <a:prstDash val="solid"/>
          </a:ln>
        </p:spPr>
      </p:sp>
      <p:sp>
        <p:nvSpPr>
          <p:cNvPr id="45" name="Text 43">
            <a:hlinkClick r:id="rId13" tooltip="" action="ppaction://hlinksldjump"/>
          </p:cNvPr>
          <p:cNvSpPr/>
          <p:nvPr/>
        </p:nvSpPr>
        <p:spPr>
          <a:xfrm>
            <a:off x="9921240" y="5495544"/>
            <a:ext cx="1554480" cy="457200"/>
          </a:xfrm>
          <a:prstGeom prst="rect">
            <a:avLst/>
          </a:prstGeom>
          <a:noFill/>
          <a:ln/>
        </p:spPr>
        <p:txBody>
          <a:bodyPr wrap="square" lIns="0" tIns="0" rIns="0" bIns="0" rtlCol="0" anchor="ctr"/>
          <a:lstStyle/>
          <a:p>
            <a:pPr algn="ctr" indent="0" marL="0">
              <a:buNone/>
            </a:pPr>
            <a:r>
              <a:rPr lang="en-US" sz="900" b="1" u="sng" spc="100" kern="0" dirty="0">
                <a:solidFill>
                  <a:srgbClr val="5EFFC1"/>
                </a:solidFill>
                <a:latin typeface="Consolas" pitchFamily="34" charset="0"/>
                <a:ea typeface="Consolas" pitchFamily="34" charset="-122"/>
                <a:cs typeface="Consolas" pitchFamily="34" charset="-120"/>
                <a:hlinkClick r:id="rId13" action="ppaction://hlinksldjump" tooltip="">
                  <a:extLst>
                    <a:ext uri="{A12FA001-AC4F-418D-AE19-62706E023703}">
                      <ahyp:hlinkClr xmlns:ahyp="http://schemas.microsoft.com/office/drawing/2018/hyperlinkcolor" val="tx"/>
                    </a:ext>
                  </a:extLst>
                </a:hlinkClick>
              </a:rPr>
              <a:t>VIEW  →</a:t>
            </a:r>
            <a:endParaRPr lang="en-US" sz="900" dirty="0"/>
          </a:p>
        </p:txBody>
      </p:sp>
      <p:sp>
        <p:nvSpPr>
          <p:cNvPr id="46" name="Text 44"/>
          <p:cNvSpPr/>
          <p:nvPr/>
        </p:nvSpPr>
        <p:spPr>
          <a:xfrm>
            <a:off x="548640" y="6528816"/>
            <a:ext cx="4572000" cy="256032"/>
          </a:xfrm>
          <a:prstGeom prst="rect">
            <a:avLst/>
          </a:prstGeom>
          <a:noFill/>
          <a:ln/>
        </p:spPr>
        <p:txBody>
          <a:bodyPr wrap="square" lIns="0" tIns="0" rIns="0" bIns="0" rtlCol="0" anchor="ctr"/>
          <a:lstStyle/>
          <a:p>
            <a:pPr indent="0" marL="0">
              <a:buNone/>
            </a:pPr>
            <a:r>
              <a:rPr lang="en-US" sz="800" spc="100" kern="0" dirty="0">
                <a:solidFill>
                  <a:srgbClr val="4A6072"/>
                </a:solidFill>
                <a:latin typeface="Consolas" pitchFamily="34" charset="0"/>
                <a:ea typeface="Consolas" pitchFamily="34" charset="-122"/>
                <a:cs typeface="Consolas" pitchFamily="34" charset="-120"/>
              </a:rPr>
              <a:t>TSM BPO EXECUTIVE PORTAL</a:t>
            </a:r>
            <a:endParaRPr lang="en-US" sz="800" dirty="0"/>
          </a:p>
        </p:txBody>
      </p:sp>
      <p:sp>
        <p:nvSpPr>
          <p:cNvPr id="47" name="Text 45"/>
          <p:cNvSpPr/>
          <p:nvPr/>
        </p:nvSpPr>
        <p:spPr>
          <a:xfrm>
            <a:off x="11185855" y="6528816"/>
            <a:ext cx="457200" cy="256032"/>
          </a:xfrm>
          <a:prstGeom prst="rect">
            <a:avLst/>
          </a:prstGeom>
          <a:noFill/>
          <a:ln/>
        </p:spPr>
        <p:txBody>
          <a:bodyPr wrap="square" lIns="0" tIns="0" rIns="0" bIns="0" rtlCol="0" anchor="ctr"/>
          <a:lstStyle/>
          <a:p>
            <a:pPr algn="r" indent="0" marL="0">
              <a:buNone/>
            </a:pPr>
            <a:r>
              <a:rPr lang="en-US" sz="800" dirty="0">
                <a:solidFill>
                  <a:srgbClr val="4A6072"/>
                </a:solidFill>
                <a:latin typeface="Consolas" pitchFamily="34" charset="0"/>
                <a:ea typeface="Consolas" pitchFamily="34" charset="-122"/>
                <a:cs typeface="Consolas"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1A"/>
        </a:solidFill>
      </p:bgPr>
    </p:bg>
    <p:spTree>
      <p:nvGrpSpPr>
        <p:cNvPr id="1" name=""/>
        <p:cNvGrpSpPr/>
        <p:nvPr/>
      </p:nvGrpSpPr>
      <p:grpSpPr>
        <a:xfrm>
          <a:off x="0" y="0"/>
          <a:ext cx="0" cy="0"/>
          <a:chOff x="0" y="0"/>
          <a:chExt cx="0" cy="0"/>
        </a:xfrm>
      </p:grpSpPr>
      <p:sp>
        <p:nvSpPr>
          <p:cNvPr id="2" name="Shape 0"/>
          <p:cNvSpPr/>
          <p:nvPr/>
        </p:nvSpPr>
        <p:spPr>
          <a:xfrm>
            <a:off x="274320" y="256032"/>
            <a:ext cx="1228649" cy="310896"/>
          </a:xfrm>
          <a:prstGeom prst="roundRect">
            <a:avLst>
              <a:gd name="adj" fmla="val 17647"/>
            </a:avLst>
          </a:prstGeom>
          <a:solidFill>
            <a:srgbClr val="13232F"/>
          </a:solidFill>
          <a:ln w="9525">
            <a:solidFill>
              <a:srgbClr val="1A3A50"/>
            </a:solidFill>
            <a:prstDash val="solid"/>
          </a:ln>
        </p:spPr>
      </p:sp>
      <p:sp>
        <p:nvSpPr>
          <p:cNvPr id="3" name="Text 1">
            <a:hlinkClick r:id="rId1" tooltip="" action="ppaction://hlinksldjump"/>
          </p:cNvPr>
          <p:cNvSpPr/>
          <p:nvPr/>
        </p:nvSpPr>
        <p:spPr>
          <a:xfrm>
            <a:off x="274320"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1" action="ppaction://hlinksldjump" tooltip="">
                  <a:extLst>
                    <a:ext uri="{A12FA001-AC4F-418D-AE19-62706E023703}">
                      <ahyp:hlinkClr xmlns:ahyp="http://schemas.microsoft.com/office/drawing/2018/hyperlinkcolor" val="tx"/>
                    </a:ext>
                  </a:extLst>
                </a:hlinkClick>
              </a:rPr>
              <a:t>AGENDA</a:t>
            </a:r>
            <a:endParaRPr lang="en-US" sz="750" dirty="0"/>
          </a:p>
        </p:txBody>
      </p:sp>
      <p:sp>
        <p:nvSpPr>
          <p:cNvPr id="4" name="Shape 2"/>
          <p:cNvSpPr/>
          <p:nvPr/>
        </p:nvSpPr>
        <p:spPr>
          <a:xfrm>
            <a:off x="1576121" y="256032"/>
            <a:ext cx="1228649" cy="310896"/>
          </a:xfrm>
          <a:prstGeom prst="roundRect">
            <a:avLst>
              <a:gd name="adj" fmla="val 17647"/>
            </a:avLst>
          </a:prstGeom>
          <a:solidFill>
            <a:srgbClr val="5EFFC1"/>
          </a:solidFill>
          <a:ln w="9525">
            <a:solidFill>
              <a:srgbClr val="5EFFC1"/>
            </a:solidFill>
            <a:prstDash val="solid"/>
          </a:ln>
        </p:spPr>
      </p:sp>
      <p:sp>
        <p:nvSpPr>
          <p:cNvPr id="5" name="Text 3">
            <a:hlinkClick r:id="rId2" tooltip="" action="ppaction://hlinksldjump"/>
          </p:cNvPr>
          <p:cNvSpPr/>
          <p:nvPr/>
        </p:nvSpPr>
        <p:spPr>
          <a:xfrm>
            <a:off x="1576121" y="256032"/>
            <a:ext cx="1228649" cy="310896"/>
          </a:xfrm>
          <a:prstGeom prst="rect">
            <a:avLst/>
          </a:prstGeom>
          <a:noFill/>
          <a:ln/>
        </p:spPr>
        <p:txBody>
          <a:bodyPr wrap="square" lIns="0" tIns="0" rIns="0" bIns="0" rtlCol="0" anchor="ctr"/>
          <a:lstStyle/>
          <a:p>
            <a:pPr algn="ctr" indent="0" marL="0">
              <a:buNone/>
            </a:pPr>
            <a:r>
              <a:rPr lang="en-US" sz="750" b="1" u="sng" spc="50" kern="0" dirty="0">
                <a:solidFill>
                  <a:srgbClr val="07120D"/>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THE PROBLEM</a:t>
            </a:r>
            <a:endParaRPr lang="en-US" sz="750" dirty="0"/>
          </a:p>
        </p:txBody>
      </p:sp>
      <p:sp>
        <p:nvSpPr>
          <p:cNvPr id="6" name="Shape 4"/>
          <p:cNvSpPr/>
          <p:nvPr/>
        </p:nvSpPr>
        <p:spPr>
          <a:xfrm>
            <a:off x="2877922" y="256032"/>
            <a:ext cx="1228649" cy="310896"/>
          </a:xfrm>
          <a:prstGeom prst="roundRect">
            <a:avLst>
              <a:gd name="adj" fmla="val 17647"/>
            </a:avLst>
          </a:prstGeom>
          <a:solidFill>
            <a:srgbClr val="13232F"/>
          </a:solidFill>
          <a:ln w="9525">
            <a:solidFill>
              <a:srgbClr val="1A3A50"/>
            </a:solidFill>
            <a:prstDash val="solid"/>
          </a:ln>
        </p:spPr>
      </p:sp>
      <p:sp>
        <p:nvSpPr>
          <p:cNvPr id="7" name="Text 5">
            <a:hlinkClick r:id="rId3" tooltip="" action="ppaction://hlinksldjump"/>
          </p:cNvPr>
          <p:cNvSpPr/>
          <p:nvPr/>
        </p:nvSpPr>
        <p:spPr>
          <a:xfrm>
            <a:off x="28779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LIVE WIP</a:t>
            </a:r>
            <a:endParaRPr lang="en-US" sz="750" dirty="0"/>
          </a:p>
        </p:txBody>
      </p:sp>
      <p:sp>
        <p:nvSpPr>
          <p:cNvPr id="8" name="Shape 6"/>
          <p:cNvSpPr/>
          <p:nvPr/>
        </p:nvSpPr>
        <p:spPr>
          <a:xfrm>
            <a:off x="4179722" y="256032"/>
            <a:ext cx="1228649" cy="310896"/>
          </a:xfrm>
          <a:prstGeom prst="roundRect">
            <a:avLst>
              <a:gd name="adj" fmla="val 17647"/>
            </a:avLst>
          </a:prstGeom>
          <a:solidFill>
            <a:srgbClr val="13232F"/>
          </a:solidFill>
          <a:ln w="9525">
            <a:solidFill>
              <a:srgbClr val="1A3A50"/>
            </a:solidFill>
            <a:prstDash val="solid"/>
          </a:ln>
        </p:spPr>
      </p:sp>
      <p:sp>
        <p:nvSpPr>
          <p:cNvPr id="9" name="Text 7">
            <a:hlinkClick r:id="rId4" tooltip="" action="ppaction://hlinksldjump"/>
          </p:cNvPr>
          <p:cNvSpPr/>
          <p:nvPr/>
        </p:nvSpPr>
        <p:spPr>
          <a:xfrm>
            <a:off x="41797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4" action="ppaction://hlinksldjump" tooltip="">
                  <a:extLst>
                    <a:ext uri="{A12FA001-AC4F-418D-AE19-62706E023703}">
                      <ahyp:hlinkClr xmlns:ahyp="http://schemas.microsoft.com/office/drawing/2018/hyperlinkcolor" val="tx"/>
                    </a:ext>
                  </a:extLst>
                </a:hlinkClick>
              </a:rPr>
              <a:t>EXPLAINABILITY</a:t>
            </a:r>
            <a:endParaRPr lang="en-US" sz="750" dirty="0"/>
          </a:p>
        </p:txBody>
      </p:sp>
      <p:sp>
        <p:nvSpPr>
          <p:cNvPr id="10" name="Shape 8"/>
          <p:cNvSpPr/>
          <p:nvPr/>
        </p:nvSpPr>
        <p:spPr>
          <a:xfrm>
            <a:off x="5481523" y="256032"/>
            <a:ext cx="1228649" cy="310896"/>
          </a:xfrm>
          <a:prstGeom prst="roundRect">
            <a:avLst>
              <a:gd name="adj" fmla="val 17647"/>
            </a:avLst>
          </a:prstGeom>
          <a:solidFill>
            <a:srgbClr val="13232F"/>
          </a:solidFill>
          <a:ln w="9525">
            <a:solidFill>
              <a:srgbClr val="1A3A50"/>
            </a:solidFill>
            <a:prstDash val="solid"/>
          </a:ln>
        </p:spPr>
      </p:sp>
      <p:sp>
        <p:nvSpPr>
          <p:cNvPr id="11" name="Text 9">
            <a:hlinkClick r:id="rId5" tooltip="" action="ppaction://hlinksldjump"/>
          </p:cNvPr>
          <p:cNvSpPr/>
          <p:nvPr/>
        </p:nvSpPr>
        <p:spPr>
          <a:xfrm>
            <a:off x="5481523"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5" action="ppaction://hlinksldjump" tooltip="">
                  <a:extLst>
                    <a:ext uri="{A12FA001-AC4F-418D-AE19-62706E023703}">
                      <ahyp:hlinkClr xmlns:ahyp="http://schemas.microsoft.com/office/drawing/2018/hyperlinkcolor" val="tx"/>
                    </a:ext>
                  </a:extLst>
                </a:hlinkClick>
              </a:rPr>
              <a:t>CASE GOVERNANCE</a:t>
            </a:r>
            <a:endParaRPr lang="en-US" sz="750" dirty="0"/>
          </a:p>
        </p:txBody>
      </p:sp>
      <p:sp>
        <p:nvSpPr>
          <p:cNvPr id="12" name="Shape 10"/>
          <p:cNvSpPr/>
          <p:nvPr/>
        </p:nvSpPr>
        <p:spPr>
          <a:xfrm>
            <a:off x="6783324" y="256032"/>
            <a:ext cx="1228649" cy="310896"/>
          </a:xfrm>
          <a:prstGeom prst="roundRect">
            <a:avLst>
              <a:gd name="adj" fmla="val 17647"/>
            </a:avLst>
          </a:prstGeom>
          <a:solidFill>
            <a:srgbClr val="13232F"/>
          </a:solidFill>
          <a:ln w="9525">
            <a:solidFill>
              <a:srgbClr val="1A3A50"/>
            </a:solidFill>
            <a:prstDash val="solid"/>
          </a:ln>
        </p:spPr>
      </p:sp>
      <p:sp>
        <p:nvSpPr>
          <p:cNvPr id="13" name="Text 11">
            <a:hlinkClick r:id="rId6" tooltip="" action="ppaction://hlinksldjump"/>
          </p:cNvPr>
          <p:cNvSpPr/>
          <p:nvPr/>
        </p:nvSpPr>
        <p:spPr>
          <a:xfrm>
            <a:off x="6783324"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6" action="ppaction://hlinksldjump" tooltip="">
                  <a:extLst>
                    <a:ext uri="{A12FA001-AC4F-418D-AE19-62706E023703}">
                      <ahyp:hlinkClr xmlns:ahyp="http://schemas.microsoft.com/office/drawing/2018/hyperlinkcolor" val="tx"/>
                    </a:ext>
                  </a:extLst>
                </a:hlinkClick>
              </a:rPr>
              <a:t>DELIVERY PKG</a:t>
            </a:r>
            <a:endParaRPr lang="en-US" sz="750" dirty="0"/>
          </a:p>
        </p:txBody>
      </p:sp>
      <p:sp>
        <p:nvSpPr>
          <p:cNvPr id="14" name="Shape 12"/>
          <p:cNvSpPr/>
          <p:nvPr/>
        </p:nvSpPr>
        <p:spPr>
          <a:xfrm>
            <a:off x="8085125" y="256032"/>
            <a:ext cx="1228649" cy="310896"/>
          </a:xfrm>
          <a:prstGeom prst="roundRect">
            <a:avLst>
              <a:gd name="adj" fmla="val 17647"/>
            </a:avLst>
          </a:prstGeom>
          <a:solidFill>
            <a:srgbClr val="13232F"/>
          </a:solidFill>
          <a:ln w="9525">
            <a:solidFill>
              <a:srgbClr val="1A3A50"/>
            </a:solidFill>
            <a:prstDash val="solid"/>
          </a:ln>
        </p:spPr>
      </p:sp>
      <p:sp>
        <p:nvSpPr>
          <p:cNvPr id="15" name="Text 13">
            <a:hlinkClick r:id="rId7" tooltip="" action="ppaction://hlinksldjump"/>
          </p:cNvPr>
          <p:cNvSpPr/>
          <p:nvPr/>
        </p:nvSpPr>
        <p:spPr>
          <a:xfrm>
            <a:off x="8085125"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7" action="ppaction://hlinksldjump" tooltip="">
                  <a:extLst>
                    <a:ext uri="{A12FA001-AC4F-418D-AE19-62706E023703}">
                      <ahyp:hlinkClr xmlns:ahyp="http://schemas.microsoft.com/office/drawing/2018/hyperlinkcolor" val="tx"/>
                    </a:ext>
                  </a:extLst>
                </a:hlinkClick>
              </a:rPr>
              <a:t>ONE PLATFORM</a:t>
            </a:r>
            <a:endParaRPr lang="en-US" sz="750" dirty="0"/>
          </a:p>
        </p:txBody>
      </p:sp>
      <p:sp>
        <p:nvSpPr>
          <p:cNvPr id="16" name="Shape 14"/>
          <p:cNvSpPr/>
          <p:nvPr/>
        </p:nvSpPr>
        <p:spPr>
          <a:xfrm>
            <a:off x="9386926" y="256032"/>
            <a:ext cx="1228649" cy="310896"/>
          </a:xfrm>
          <a:prstGeom prst="roundRect">
            <a:avLst>
              <a:gd name="adj" fmla="val 17647"/>
            </a:avLst>
          </a:prstGeom>
          <a:solidFill>
            <a:srgbClr val="13232F"/>
          </a:solidFill>
          <a:ln w="9525">
            <a:solidFill>
              <a:srgbClr val="1A3A50"/>
            </a:solidFill>
            <a:prstDash val="solid"/>
          </a:ln>
        </p:spPr>
      </p:sp>
      <p:sp>
        <p:nvSpPr>
          <p:cNvPr id="17" name="Text 15">
            <a:hlinkClick r:id="rId8" tooltip="" action="ppaction://hlinksldjump"/>
          </p:cNvPr>
          <p:cNvSpPr/>
          <p:nvPr/>
        </p:nvSpPr>
        <p:spPr>
          <a:xfrm>
            <a:off x="93869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8" action="ppaction://hlinksldjump" tooltip="">
                  <a:extLst>
                    <a:ext uri="{A12FA001-AC4F-418D-AE19-62706E023703}">
                      <ahyp:hlinkClr xmlns:ahyp="http://schemas.microsoft.com/office/drawing/2018/hyperlinkcolor" val="tx"/>
                    </a:ext>
                  </a:extLst>
                </a:hlinkClick>
              </a:rPr>
              <a:t>LIVE DEMO</a:t>
            </a:r>
            <a:endParaRPr lang="en-US" sz="750" dirty="0"/>
          </a:p>
        </p:txBody>
      </p:sp>
      <p:sp>
        <p:nvSpPr>
          <p:cNvPr id="18" name="Shape 16"/>
          <p:cNvSpPr/>
          <p:nvPr/>
        </p:nvSpPr>
        <p:spPr>
          <a:xfrm>
            <a:off x="10688726" y="256032"/>
            <a:ext cx="1228649" cy="310896"/>
          </a:xfrm>
          <a:prstGeom prst="roundRect">
            <a:avLst>
              <a:gd name="adj" fmla="val 17647"/>
            </a:avLst>
          </a:prstGeom>
          <a:solidFill>
            <a:srgbClr val="13232F"/>
          </a:solidFill>
          <a:ln w="9525">
            <a:solidFill>
              <a:srgbClr val="1A3A50"/>
            </a:solidFill>
            <a:prstDash val="solid"/>
          </a:ln>
        </p:spPr>
      </p:sp>
      <p:sp>
        <p:nvSpPr>
          <p:cNvPr id="19" name="Text 17">
            <a:hlinkClick r:id="rId9" tooltip="" action="ppaction://hlinksldjump"/>
          </p:cNvPr>
          <p:cNvSpPr/>
          <p:nvPr/>
        </p:nvSpPr>
        <p:spPr>
          <a:xfrm>
            <a:off x="106887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9" action="ppaction://hlinksldjump" tooltip="">
                  <a:extLst>
                    <a:ext uri="{A12FA001-AC4F-418D-AE19-62706E023703}">
                      <ahyp:hlinkClr xmlns:ahyp="http://schemas.microsoft.com/office/drawing/2018/hyperlinkcolor" val="tx"/>
                    </a:ext>
                  </a:extLst>
                </a:hlinkClick>
              </a:rPr>
              <a:t>THE ASK</a:t>
            </a:r>
            <a:endParaRPr lang="en-US" sz="750" dirty="0"/>
          </a:p>
        </p:txBody>
      </p:sp>
      <p:sp>
        <p:nvSpPr>
          <p:cNvPr id="20" name="Text 18"/>
          <p:cNvSpPr/>
          <p:nvPr/>
        </p:nvSpPr>
        <p:spPr>
          <a:xfrm>
            <a:off x="548640" y="868680"/>
            <a:ext cx="7315200" cy="274320"/>
          </a:xfrm>
          <a:prstGeom prst="rect">
            <a:avLst/>
          </a:prstGeom>
          <a:noFill/>
          <a:ln/>
        </p:spPr>
        <p:txBody>
          <a:bodyPr wrap="square" lIns="0" tIns="0" rIns="0" bIns="0" rtlCol="0" anchor="ctr"/>
          <a:lstStyle/>
          <a:p>
            <a:pPr indent="0" marL="0">
              <a:buNone/>
            </a:pPr>
            <a:r>
              <a:rPr lang="en-US" sz="1100" b="1" spc="200" kern="0" dirty="0">
                <a:solidFill>
                  <a:srgbClr val="5EFFC1"/>
                </a:solidFill>
                <a:latin typeface="Consolas" pitchFamily="34" charset="0"/>
                <a:ea typeface="Consolas" pitchFamily="34" charset="-122"/>
                <a:cs typeface="Consolas" pitchFamily="34" charset="-120"/>
              </a:rPr>
              <a:t>WHY THIS MEETING IS HAPPENING</a:t>
            </a:r>
            <a:endParaRPr lang="en-US" sz="1100" dirty="0"/>
          </a:p>
        </p:txBody>
      </p:sp>
      <p:sp>
        <p:nvSpPr>
          <p:cNvPr id="21" name="Text 19"/>
          <p:cNvSpPr/>
          <p:nvPr/>
        </p:nvSpPr>
        <p:spPr>
          <a:xfrm>
            <a:off x="548640" y="1161288"/>
            <a:ext cx="10515600" cy="822960"/>
          </a:xfrm>
          <a:prstGeom prst="rect">
            <a:avLst/>
          </a:prstGeom>
          <a:noFill/>
          <a:ln/>
        </p:spPr>
        <p:txBody>
          <a:bodyPr wrap="square" lIns="0" tIns="0" rIns="0" bIns="0" rtlCol="0" anchor="ctr"/>
          <a:lstStyle/>
          <a:p>
            <a:pPr indent="0" marL="0">
              <a:buNone/>
            </a:pPr>
            <a:r>
              <a:rPr lang="en-US" sz="3000" b="1" dirty="0">
                <a:solidFill>
                  <a:srgbClr val="F2F6F8"/>
                </a:solidFill>
                <a:latin typeface="Arial" pitchFamily="34" charset="0"/>
                <a:ea typeface="Arial" pitchFamily="34" charset="-122"/>
                <a:cs typeface="Arial" pitchFamily="34" charset="-120"/>
              </a:rPr>
              <a:t>Every BPO AI Vendor Says</a:t>
            </a:r>
            <a:endParaRPr lang="en-US" sz="3000" dirty="0"/>
          </a:p>
          <a:p>
            <a:pPr indent="0" marL="0">
              <a:buNone/>
            </a:pPr>
            <a:r>
              <a:rPr lang="en-US" sz="3000" b="1" dirty="0">
                <a:solidFill>
                  <a:srgbClr val="F2F6F8"/>
                </a:solidFill>
                <a:latin typeface="Arial" pitchFamily="34" charset="0"/>
                <a:ea typeface="Arial" pitchFamily="34" charset="-122"/>
                <a:cs typeface="Arial" pitchFamily="34" charset="-120"/>
              </a:rPr>
              <a:t>“Trust Us.” None of Them Show You Why.</a:t>
            </a:r>
            <a:endParaRPr lang="en-US" sz="3000" dirty="0"/>
          </a:p>
        </p:txBody>
      </p:sp>
      <p:sp>
        <p:nvSpPr>
          <p:cNvPr id="22" name="Shape 20"/>
          <p:cNvSpPr/>
          <p:nvPr/>
        </p:nvSpPr>
        <p:spPr>
          <a:xfrm>
            <a:off x="548640" y="2148840"/>
            <a:ext cx="3566160" cy="3246120"/>
          </a:xfrm>
          <a:prstGeom prst="roundRect">
            <a:avLst>
              <a:gd name="adj" fmla="val 2254"/>
            </a:avLst>
          </a:prstGeom>
          <a:solidFill>
            <a:srgbClr val="0F1B26"/>
          </a:solidFill>
          <a:ln w="12700">
            <a:solidFill>
              <a:srgbClr val="1A3A50"/>
            </a:solidFill>
            <a:prstDash val="solid"/>
          </a:ln>
        </p:spPr>
      </p:sp>
      <p:sp>
        <p:nvSpPr>
          <p:cNvPr id="23" name="Shape 21"/>
          <p:cNvSpPr/>
          <p:nvPr/>
        </p:nvSpPr>
        <p:spPr>
          <a:xfrm>
            <a:off x="868680" y="2468880"/>
            <a:ext cx="548640" cy="548640"/>
          </a:xfrm>
          <a:prstGeom prst="ellipse">
            <a:avLst/>
          </a:prstGeom>
          <a:solidFill>
            <a:srgbClr val="2A1418"/>
          </a:solidFill>
          <a:ln w="12700">
            <a:solidFill>
              <a:srgbClr val="FF6B6B"/>
            </a:solidFill>
            <a:prstDash val="solid"/>
          </a:ln>
        </p:spPr>
      </p:sp>
      <p:sp>
        <p:nvSpPr>
          <p:cNvPr id="24" name="Text 22"/>
          <p:cNvSpPr/>
          <p:nvPr/>
        </p:nvSpPr>
        <p:spPr>
          <a:xfrm>
            <a:off x="868680" y="2468880"/>
            <a:ext cx="548640" cy="548640"/>
          </a:xfrm>
          <a:prstGeom prst="rect">
            <a:avLst/>
          </a:prstGeom>
          <a:noFill/>
          <a:ln/>
        </p:spPr>
        <p:txBody>
          <a:bodyPr wrap="square" lIns="0" tIns="0" rIns="0" bIns="0" rtlCol="0" anchor="ctr"/>
          <a:lstStyle/>
          <a:p>
            <a:pPr algn="ctr" indent="0" marL="0">
              <a:buNone/>
            </a:pPr>
            <a:r>
              <a:rPr lang="en-US" sz="1800" b="1" dirty="0">
                <a:solidFill>
                  <a:srgbClr val="FF6B6B"/>
                </a:solidFill>
                <a:latin typeface="Consolas" pitchFamily="34" charset="0"/>
                <a:ea typeface="Consolas" pitchFamily="34" charset="-122"/>
                <a:cs typeface="Consolas" pitchFamily="34" charset="-120"/>
              </a:rPr>
              <a:t>?</a:t>
            </a:r>
            <a:endParaRPr lang="en-US" sz="1800" dirty="0"/>
          </a:p>
        </p:txBody>
      </p:sp>
      <p:sp>
        <p:nvSpPr>
          <p:cNvPr id="25" name="Text 23"/>
          <p:cNvSpPr/>
          <p:nvPr/>
        </p:nvSpPr>
        <p:spPr>
          <a:xfrm>
            <a:off x="868680" y="3200400"/>
            <a:ext cx="2926080" cy="685800"/>
          </a:xfrm>
          <a:prstGeom prst="rect">
            <a:avLst/>
          </a:prstGeom>
          <a:noFill/>
          <a:ln/>
        </p:spPr>
        <p:txBody>
          <a:bodyPr wrap="square" lIns="0" tIns="0" rIns="0" bIns="0" rtlCol="0" anchor="ctr"/>
          <a:lstStyle/>
          <a:p>
            <a:pPr indent="0" marL="0">
              <a:lnSpc>
                <a:spcPct val="110000"/>
              </a:lnSpc>
              <a:buNone/>
            </a:pPr>
            <a:r>
              <a:rPr lang="en-US" sz="1500" b="1" dirty="0">
                <a:solidFill>
                  <a:srgbClr val="F2F6F8"/>
                </a:solidFill>
                <a:latin typeface="Arial" pitchFamily="34" charset="0"/>
                <a:ea typeface="Arial" pitchFamily="34" charset="-122"/>
                <a:cs typeface="Arial" pitchFamily="34" charset="-120"/>
              </a:rPr>
              <a:t>Black-box recommendations</a:t>
            </a:r>
            <a:endParaRPr lang="en-US" sz="1500" dirty="0"/>
          </a:p>
        </p:txBody>
      </p:sp>
      <p:sp>
        <p:nvSpPr>
          <p:cNvPr id="26" name="Text 24"/>
          <p:cNvSpPr/>
          <p:nvPr/>
        </p:nvSpPr>
        <p:spPr>
          <a:xfrm>
            <a:off x="868680" y="3931920"/>
            <a:ext cx="2926080" cy="1280160"/>
          </a:xfrm>
          <a:prstGeom prst="rect">
            <a:avLst/>
          </a:prstGeom>
          <a:noFill/>
          <a:ln/>
        </p:spPr>
        <p:txBody>
          <a:bodyPr wrap="square" lIns="0" tIns="0" rIns="0" bIns="0" rtlCol="0" anchor="ctr"/>
          <a:lstStyle/>
          <a:p>
            <a:pPr indent="0" marL="0">
              <a:lnSpc>
                <a:spcPct val="130000"/>
              </a:lnSpc>
              <a:buNone/>
            </a:pPr>
            <a:r>
              <a:rPr lang="en-US" sz="1100" dirty="0">
                <a:solidFill>
                  <a:srgbClr val="7C93A3"/>
                </a:solidFill>
                <a:latin typeface="Arial" pitchFamily="34" charset="0"/>
                <a:ea typeface="Arial" pitchFamily="34" charset="-122"/>
                <a:cs typeface="Arial" pitchFamily="34" charset="-120"/>
              </a:rPr>
              <a:t>The system tells you WHAT to do. It never shows you WHY, or what data it used to get there.</a:t>
            </a:r>
            <a:endParaRPr lang="en-US" sz="1100" dirty="0"/>
          </a:p>
        </p:txBody>
      </p:sp>
      <p:sp>
        <p:nvSpPr>
          <p:cNvPr id="27" name="Shape 25"/>
          <p:cNvSpPr/>
          <p:nvPr/>
        </p:nvSpPr>
        <p:spPr>
          <a:xfrm>
            <a:off x="4343400" y="2148840"/>
            <a:ext cx="3566160" cy="3246120"/>
          </a:xfrm>
          <a:prstGeom prst="roundRect">
            <a:avLst>
              <a:gd name="adj" fmla="val 2254"/>
            </a:avLst>
          </a:prstGeom>
          <a:solidFill>
            <a:srgbClr val="0F1B26"/>
          </a:solidFill>
          <a:ln w="12700">
            <a:solidFill>
              <a:srgbClr val="1A3A50"/>
            </a:solidFill>
            <a:prstDash val="solid"/>
          </a:ln>
        </p:spPr>
      </p:sp>
      <p:sp>
        <p:nvSpPr>
          <p:cNvPr id="28" name="Shape 26"/>
          <p:cNvSpPr/>
          <p:nvPr/>
        </p:nvSpPr>
        <p:spPr>
          <a:xfrm>
            <a:off x="4663440" y="2468880"/>
            <a:ext cx="548640" cy="548640"/>
          </a:xfrm>
          <a:prstGeom prst="ellipse">
            <a:avLst/>
          </a:prstGeom>
          <a:solidFill>
            <a:srgbClr val="2A1418"/>
          </a:solidFill>
          <a:ln w="12700">
            <a:solidFill>
              <a:srgbClr val="FF6B6B"/>
            </a:solidFill>
            <a:prstDash val="solid"/>
          </a:ln>
        </p:spPr>
      </p:sp>
      <p:sp>
        <p:nvSpPr>
          <p:cNvPr id="29" name="Text 27"/>
          <p:cNvSpPr/>
          <p:nvPr/>
        </p:nvSpPr>
        <p:spPr>
          <a:xfrm>
            <a:off x="4663440" y="2468880"/>
            <a:ext cx="548640" cy="548640"/>
          </a:xfrm>
          <a:prstGeom prst="rect">
            <a:avLst/>
          </a:prstGeom>
          <a:noFill/>
          <a:ln/>
        </p:spPr>
        <p:txBody>
          <a:bodyPr wrap="square" lIns="0" tIns="0" rIns="0" bIns="0" rtlCol="0" anchor="ctr"/>
          <a:lstStyle/>
          <a:p>
            <a:pPr algn="ctr" indent="0" marL="0">
              <a:buNone/>
            </a:pPr>
            <a:r>
              <a:rPr lang="en-US" sz="1800" b="1" dirty="0">
                <a:solidFill>
                  <a:srgbClr val="FF6B6B"/>
                </a:solidFill>
                <a:latin typeface="Consolas" pitchFamily="34" charset="0"/>
                <a:ea typeface="Consolas" pitchFamily="34" charset="-122"/>
                <a:cs typeface="Consolas" pitchFamily="34" charset="-120"/>
              </a:rPr>
              <a:t>!</a:t>
            </a:r>
            <a:endParaRPr lang="en-US" sz="1800" dirty="0"/>
          </a:p>
        </p:txBody>
      </p:sp>
      <p:sp>
        <p:nvSpPr>
          <p:cNvPr id="30" name="Text 28"/>
          <p:cNvSpPr/>
          <p:nvPr/>
        </p:nvSpPr>
        <p:spPr>
          <a:xfrm>
            <a:off x="4663440" y="3200400"/>
            <a:ext cx="2926080" cy="685800"/>
          </a:xfrm>
          <a:prstGeom prst="rect">
            <a:avLst/>
          </a:prstGeom>
          <a:noFill/>
          <a:ln/>
        </p:spPr>
        <p:txBody>
          <a:bodyPr wrap="square" lIns="0" tIns="0" rIns="0" bIns="0" rtlCol="0" anchor="ctr"/>
          <a:lstStyle/>
          <a:p>
            <a:pPr indent="0" marL="0">
              <a:lnSpc>
                <a:spcPct val="110000"/>
              </a:lnSpc>
              <a:buNone/>
            </a:pPr>
            <a:r>
              <a:rPr lang="en-US" sz="1500" b="1" dirty="0">
                <a:solidFill>
                  <a:srgbClr val="F2F6F8"/>
                </a:solidFill>
                <a:latin typeface="Arial" pitchFamily="34" charset="0"/>
                <a:ea typeface="Arial" pitchFamily="34" charset="-122"/>
                <a:cs typeface="Arial" pitchFamily="34" charset="-120"/>
              </a:rPr>
              <a:t>Exceptions vanish into Slack/email</a:t>
            </a:r>
            <a:endParaRPr lang="en-US" sz="1500" dirty="0"/>
          </a:p>
        </p:txBody>
      </p:sp>
      <p:sp>
        <p:nvSpPr>
          <p:cNvPr id="31" name="Text 29"/>
          <p:cNvSpPr/>
          <p:nvPr/>
        </p:nvSpPr>
        <p:spPr>
          <a:xfrm>
            <a:off x="4663440" y="3931920"/>
            <a:ext cx="2926080" cy="1280160"/>
          </a:xfrm>
          <a:prstGeom prst="rect">
            <a:avLst/>
          </a:prstGeom>
          <a:noFill/>
          <a:ln/>
        </p:spPr>
        <p:txBody>
          <a:bodyPr wrap="square" lIns="0" tIns="0" rIns="0" bIns="0" rtlCol="0" anchor="ctr"/>
          <a:lstStyle/>
          <a:p>
            <a:pPr indent="0" marL="0">
              <a:lnSpc>
                <a:spcPct val="130000"/>
              </a:lnSpc>
              <a:buNone/>
            </a:pPr>
            <a:r>
              <a:rPr lang="en-US" sz="1100" dirty="0">
                <a:solidFill>
                  <a:srgbClr val="7C93A3"/>
                </a:solidFill>
                <a:latin typeface="Arial" pitchFamily="34" charset="0"/>
                <a:ea typeface="Arial" pitchFamily="34" charset="-122"/>
                <a:cs typeface="Arial" pitchFamily="34" charset="-120"/>
              </a:rPr>
              <a:t>No system of record. No sign-off. When the audit asks “who approved this,” nobody has an answer.</a:t>
            </a:r>
            <a:endParaRPr lang="en-US" sz="1100" dirty="0"/>
          </a:p>
        </p:txBody>
      </p:sp>
      <p:sp>
        <p:nvSpPr>
          <p:cNvPr id="32" name="Shape 30"/>
          <p:cNvSpPr/>
          <p:nvPr/>
        </p:nvSpPr>
        <p:spPr>
          <a:xfrm>
            <a:off x="8138160" y="2148840"/>
            <a:ext cx="3566160" cy="3246120"/>
          </a:xfrm>
          <a:prstGeom prst="roundRect">
            <a:avLst>
              <a:gd name="adj" fmla="val 2254"/>
            </a:avLst>
          </a:prstGeom>
          <a:solidFill>
            <a:srgbClr val="0F1B26"/>
          </a:solidFill>
          <a:ln w="12700">
            <a:solidFill>
              <a:srgbClr val="1A3A50"/>
            </a:solidFill>
            <a:prstDash val="solid"/>
          </a:ln>
        </p:spPr>
      </p:sp>
      <p:sp>
        <p:nvSpPr>
          <p:cNvPr id="33" name="Shape 31"/>
          <p:cNvSpPr/>
          <p:nvPr/>
        </p:nvSpPr>
        <p:spPr>
          <a:xfrm>
            <a:off x="8458200" y="2468880"/>
            <a:ext cx="548640" cy="548640"/>
          </a:xfrm>
          <a:prstGeom prst="ellipse">
            <a:avLst/>
          </a:prstGeom>
          <a:solidFill>
            <a:srgbClr val="2A1418"/>
          </a:solidFill>
          <a:ln w="12700">
            <a:solidFill>
              <a:srgbClr val="FF6B6B"/>
            </a:solidFill>
            <a:prstDash val="solid"/>
          </a:ln>
        </p:spPr>
      </p:sp>
      <p:sp>
        <p:nvSpPr>
          <p:cNvPr id="34" name="Text 32"/>
          <p:cNvSpPr/>
          <p:nvPr/>
        </p:nvSpPr>
        <p:spPr>
          <a:xfrm>
            <a:off x="8458200" y="2468880"/>
            <a:ext cx="548640" cy="548640"/>
          </a:xfrm>
          <a:prstGeom prst="rect">
            <a:avLst/>
          </a:prstGeom>
          <a:noFill/>
          <a:ln/>
        </p:spPr>
        <p:txBody>
          <a:bodyPr wrap="square" lIns="0" tIns="0" rIns="0" bIns="0" rtlCol="0" anchor="ctr"/>
          <a:lstStyle/>
          <a:p>
            <a:pPr algn="ctr" indent="0" marL="0">
              <a:buNone/>
            </a:pPr>
            <a:r>
              <a:rPr lang="en-US" sz="1800" b="1" dirty="0">
                <a:solidFill>
                  <a:srgbClr val="FF6B6B"/>
                </a:solidFill>
                <a:latin typeface="Consolas" pitchFamily="34" charset="0"/>
                <a:ea typeface="Consolas" pitchFamily="34" charset="-122"/>
                <a:cs typeface="Consolas" pitchFamily="34" charset="-120"/>
              </a:rPr>
              <a:t>✕</a:t>
            </a:r>
            <a:endParaRPr lang="en-US" sz="1800" dirty="0"/>
          </a:p>
        </p:txBody>
      </p:sp>
      <p:sp>
        <p:nvSpPr>
          <p:cNvPr id="35" name="Text 33"/>
          <p:cNvSpPr/>
          <p:nvPr/>
        </p:nvSpPr>
        <p:spPr>
          <a:xfrm>
            <a:off x="8458200" y="3200400"/>
            <a:ext cx="2926080" cy="685800"/>
          </a:xfrm>
          <a:prstGeom prst="rect">
            <a:avLst/>
          </a:prstGeom>
          <a:noFill/>
          <a:ln/>
        </p:spPr>
        <p:txBody>
          <a:bodyPr wrap="square" lIns="0" tIns="0" rIns="0" bIns="0" rtlCol="0" anchor="ctr"/>
          <a:lstStyle/>
          <a:p>
            <a:pPr indent="0" marL="0">
              <a:lnSpc>
                <a:spcPct val="110000"/>
              </a:lnSpc>
              <a:buNone/>
            </a:pPr>
            <a:r>
              <a:rPr lang="en-US" sz="1500" b="1" dirty="0">
                <a:solidFill>
                  <a:srgbClr val="F2F6F8"/>
                </a:solidFill>
                <a:latin typeface="Arial" pitchFamily="34" charset="0"/>
                <a:ea typeface="Arial" pitchFamily="34" charset="-122"/>
                <a:cs typeface="Arial" pitchFamily="34" charset="-120"/>
              </a:rPr>
              <a:t>Client reporting is a manual scramble</a:t>
            </a:r>
            <a:endParaRPr lang="en-US" sz="1500" dirty="0"/>
          </a:p>
        </p:txBody>
      </p:sp>
      <p:sp>
        <p:nvSpPr>
          <p:cNvPr id="36" name="Text 34"/>
          <p:cNvSpPr/>
          <p:nvPr/>
        </p:nvSpPr>
        <p:spPr>
          <a:xfrm>
            <a:off x="8458200" y="3931920"/>
            <a:ext cx="2926080" cy="1280160"/>
          </a:xfrm>
          <a:prstGeom prst="rect">
            <a:avLst/>
          </a:prstGeom>
          <a:noFill/>
          <a:ln/>
        </p:spPr>
        <p:txBody>
          <a:bodyPr wrap="square" lIns="0" tIns="0" rIns="0" bIns="0" rtlCol="0" anchor="ctr"/>
          <a:lstStyle/>
          <a:p>
            <a:pPr indent="0" marL="0">
              <a:lnSpc>
                <a:spcPct val="130000"/>
              </a:lnSpc>
              <a:buNone/>
            </a:pPr>
            <a:r>
              <a:rPr lang="en-US" sz="1100" dirty="0">
                <a:solidFill>
                  <a:srgbClr val="7C93A3"/>
                </a:solidFill>
                <a:latin typeface="Arial" pitchFamily="34" charset="0"/>
                <a:ea typeface="Arial" pitchFamily="34" charset="-122"/>
                <a:cs typeface="Arial" pitchFamily="34" charset="-120"/>
              </a:rPr>
              <a:t>Someone stitches together a PDF from four tools the night before the client review.</a:t>
            </a:r>
            <a:endParaRPr lang="en-US" sz="1100" dirty="0"/>
          </a:p>
        </p:txBody>
      </p:sp>
      <p:sp>
        <p:nvSpPr>
          <p:cNvPr id="37" name="Text 35"/>
          <p:cNvSpPr/>
          <p:nvPr/>
        </p:nvSpPr>
        <p:spPr>
          <a:xfrm>
            <a:off x="548640" y="6528816"/>
            <a:ext cx="4572000" cy="256032"/>
          </a:xfrm>
          <a:prstGeom prst="rect">
            <a:avLst/>
          </a:prstGeom>
          <a:noFill/>
          <a:ln/>
        </p:spPr>
        <p:txBody>
          <a:bodyPr wrap="square" lIns="0" tIns="0" rIns="0" bIns="0" rtlCol="0" anchor="ctr"/>
          <a:lstStyle/>
          <a:p>
            <a:pPr indent="0" marL="0">
              <a:buNone/>
            </a:pPr>
            <a:r>
              <a:rPr lang="en-US" sz="800" spc="100" kern="0" dirty="0">
                <a:solidFill>
                  <a:srgbClr val="4A6072"/>
                </a:solidFill>
                <a:latin typeface="Consolas" pitchFamily="34" charset="0"/>
                <a:ea typeface="Consolas" pitchFamily="34" charset="-122"/>
                <a:cs typeface="Consolas" pitchFamily="34" charset="-120"/>
              </a:rPr>
              <a:t>TSM BPO EXECUTIVE PORTAL</a:t>
            </a:r>
            <a:endParaRPr lang="en-US" sz="800" dirty="0"/>
          </a:p>
        </p:txBody>
      </p:sp>
      <p:sp>
        <p:nvSpPr>
          <p:cNvPr id="38" name="Text 36"/>
          <p:cNvSpPr/>
          <p:nvPr/>
        </p:nvSpPr>
        <p:spPr>
          <a:xfrm>
            <a:off x="11185855" y="6528816"/>
            <a:ext cx="457200" cy="256032"/>
          </a:xfrm>
          <a:prstGeom prst="rect">
            <a:avLst/>
          </a:prstGeom>
          <a:noFill/>
          <a:ln/>
        </p:spPr>
        <p:txBody>
          <a:bodyPr wrap="square" lIns="0" tIns="0" rIns="0" bIns="0" rtlCol="0" anchor="ctr"/>
          <a:lstStyle/>
          <a:p>
            <a:pPr algn="r" indent="0" marL="0">
              <a:buNone/>
            </a:pPr>
            <a:r>
              <a:rPr lang="en-US" sz="800" dirty="0">
                <a:solidFill>
                  <a:srgbClr val="4A6072"/>
                </a:solidFill>
                <a:latin typeface="Consolas" pitchFamily="34" charset="0"/>
                <a:ea typeface="Consolas" pitchFamily="34" charset="-122"/>
                <a:cs typeface="Consola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1A"/>
        </a:solidFill>
      </p:bgPr>
    </p:bg>
    <p:spTree>
      <p:nvGrpSpPr>
        <p:cNvPr id="1" name=""/>
        <p:cNvGrpSpPr/>
        <p:nvPr/>
      </p:nvGrpSpPr>
      <p:grpSpPr>
        <a:xfrm>
          <a:off x="0" y="0"/>
          <a:ext cx="0" cy="0"/>
          <a:chOff x="0" y="0"/>
          <a:chExt cx="0" cy="0"/>
        </a:xfrm>
      </p:grpSpPr>
      <p:sp>
        <p:nvSpPr>
          <p:cNvPr id="2" name="Shape 0"/>
          <p:cNvSpPr/>
          <p:nvPr/>
        </p:nvSpPr>
        <p:spPr>
          <a:xfrm>
            <a:off x="274320" y="256032"/>
            <a:ext cx="1228649" cy="310896"/>
          </a:xfrm>
          <a:prstGeom prst="roundRect">
            <a:avLst>
              <a:gd name="adj" fmla="val 17647"/>
            </a:avLst>
          </a:prstGeom>
          <a:solidFill>
            <a:srgbClr val="13232F"/>
          </a:solidFill>
          <a:ln w="9525">
            <a:solidFill>
              <a:srgbClr val="1A3A50"/>
            </a:solidFill>
            <a:prstDash val="solid"/>
          </a:ln>
        </p:spPr>
      </p:sp>
      <p:sp>
        <p:nvSpPr>
          <p:cNvPr id="3" name="Text 1">
            <a:hlinkClick r:id="rId1" tooltip="" action="ppaction://hlinksldjump"/>
          </p:cNvPr>
          <p:cNvSpPr/>
          <p:nvPr/>
        </p:nvSpPr>
        <p:spPr>
          <a:xfrm>
            <a:off x="274320"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1" action="ppaction://hlinksldjump" tooltip="">
                  <a:extLst>
                    <a:ext uri="{A12FA001-AC4F-418D-AE19-62706E023703}">
                      <ahyp:hlinkClr xmlns:ahyp="http://schemas.microsoft.com/office/drawing/2018/hyperlinkcolor" val="tx"/>
                    </a:ext>
                  </a:extLst>
                </a:hlinkClick>
              </a:rPr>
              <a:t>AGENDA</a:t>
            </a:r>
            <a:endParaRPr lang="en-US" sz="750" dirty="0"/>
          </a:p>
        </p:txBody>
      </p:sp>
      <p:sp>
        <p:nvSpPr>
          <p:cNvPr id="4" name="Shape 2"/>
          <p:cNvSpPr/>
          <p:nvPr/>
        </p:nvSpPr>
        <p:spPr>
          <a:xfrm>
            <a:off x="1576121" y="256032"/>
            <a:ext cx="1228649" cy="310896"/>
          </a:xfrm>
          <a:prstGeom prst="roundRect">
            <a:avLst>
              <a:gd name="adj" fmla="val 17647"/>
            </a:avLst>
          </a:prstGeom>
          <a:solidFill>
            <a:srgbClr val="13232F"/>
          </a:solidFill>
          <a:ln w="9525">
            <a:solidFill>
              <a:srgbClr val="1A3A50"/>
            </a:solidFill>
            <a:prstDash val="solid"/>
          </a:ln>
        </p:spPr>
      </p:sp>
      <p:sp>
        <p:nvSpPr>
          <p:cNvPr id="5" name="Text 3">
            <a:hlinkClick r:id="rId2" tooltip="" action="ppaction://hlinksldjump"/>
          </p:cNvPr>
          <p:cNvSpPr/>
          <p:nvPr/>
        </p:nvSpPr>
        <p:spPr>
          <a:xfrm>
            <a:off x="1576121"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THE PROBLEM</a:t>
            </a:r>
            <a:endParaRPr lang="en-US" sz="750" dirty="0"/>
          </a:p>
        </p:txBody>
      </p:sp>
      <p:sp>
        <p:nvSpPr>
          <p:cNvPr id="6" name="Shape 4"/>
          <p:cNvSpPr/>
          <p:nvPr/>
        </p:nvSpPr>
        <p:spPr>
          <a:xfrm>
            <a:off x="2877922" y="256032"/>
            <a:ext cx="1228649" cy="310896"/>
          </a:xfrm>
          <a:prstGeom prst="roundRect">
            <a:avLst>
              <a:gd name="adj" fmla="val 17647"/>
            </a:avLst>
          </a:prstGeom>
          <a:solidFill>
            <a:srgbClr val="5EFFC1"/>
          </a:solidFill>
          <a:ln w="9525">
            <a:solidFill>
              <a:srgbClr val="5EFFC1"/>
            </a:solidFill>
            <a:prstDash val="solid"/>
          </a:ln>
        </p:spPr>
      </p:sp>
      <p:sp>
        <p:nvSpPr>
          <p:cNvPr id="7" name="Text 5">
            <a:hlinkClick r:id="rId3" tooltip="" action="ppaction://hlinksldjump"/>
          </p:cNvPr>
          <p:cNvSpPr/>
          <p:nvPr/>
        </p:nvSpPr>
        <p:spPr>
          <a:xfrm>
            <a:off x="2877922" y="256032"/>
            <a:ext cx="1228649" cy="310896"/>
          </a:xfrm>
          <a:prstGeom prst="rect">
            <a:avLst/>
          </a:prstGeom>
          <a:noFill/>
          <a:ln/>
        </p:spPr>
        <p:txBody>
          <a:bodyPr wrap="square" lIns="0" tIns="0" rIns="0" bIns="0" rtlCol="0" anchor="ctr"/>
          <a:lstStyle/>
          <a:p>
            <a:pPr algn="ctr" indent="0" marL="0">
              <a:buNone/>
            </a:pPr>
            <a:r>
              <a:rPr lang="en-US" sz="750" b="1" u="sng" spc="50" kern="0" dirty="0">
                <a:solidFill>
                  <a:srgbClr val="07120D"/>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LIVE WIP</a:t>
            </a:r>
            <a:endParaRPr lang="en-US" sz="750" dirty="0"/>
          </a:p>
        </p:txBody>
      </p:sp>
      <p:sp>
        <p:nvSpPr>
          <p:cNvPr id="8" name="Shape 6"/>
          <p:cNvSpPr/>
          <p:nvPr/>
        </p:nvSpPr>
        <p:spPr>
          <a:xfrm>
            <a:off x="4179722" y="256032"/>
            <a:ext cx="1228649" cy="310896"/>
          </a:xfrm>
          <a:prstGeom prst="roundRect">
            <a:avLst>
              <a:gd name="adj" fmla="val 17647"/>
            </a:avLst>
          </a:prstGeom>
          <a:solidFill>
            <a:srgbClr val="13232F"/>
          </a:solidFill>
          <a:ln w="9525">
            <a:solidFill>
              <a:srgbClr val="1A3A50"/>
            </a:solidFill>
            <a:prstDash val="solid"/>
          </a:ln>
        </p:spPr>
      </p:sp>
      <p:sp>
        <p:nvSpPr>
          <p:cNvPr id="9" name="Text 7">
            <a:hlinkClick r:id="rId4" tooltip="" action="ppaction://hlinksldjump"/>
          </p:cNvPr>
          <p:cNvSpPr/>
          <p:nvPr/>
        </p:nvSpPr>
        <p:spPr>
          <a:xfrm>
            <a:off x="41797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4" action="ppaction://hlinksldjump" tooltip="">
                  <a:extLst>
                    <a:ext uri="{A12FA001-AC4F-418D-AE19-62706E023703}">
                      <ahyp:hlinkClr xmlns:ahyp="http://schemas.microsoft.com/office/drawing/2018/hyperlinkcolor" val="tx"/>
                    </a:ext>
                  </a:extLst>
                </a:hlinkClick>
              </a:rPr>
              <a:t>EXPLAINABILITY</a:t>
            </a:r>
            <a:endParaRPr lang="en-US" sz="750" dirty="0"/>
          </a:p>
        </p:txBody>
      </p:sp>
      <p:sp>
        <p:nvSpPr>
          <p:cNvPr id="10" name="Shape 8"/>
          <p:cNvSpPr/>
          <p:nvPr/>
        </p:nvSpPr>
        <p:spPr>
          <a:xfrm>
            <a:off x="5481523" y="256032"/>
            <a:ext cx="1228649" cy="310896"/>
          </a:xfrm>
          <a:prstGeom prst="roundRect">
            <a:avLst>
              <a:gd name="adj" fmla="val 17647"/>
            </a:avLst>
          </a:prstGeom>
          <a:solidFill>
            <a:srgbClr val="13232F"/>
          </a:solidFill>
          <a:ln w="9525">
            <a:solidFill>
              <a:srgbClr val="1A3A50"/>
            </a:solidFill>
            <a:prstDash val="solid"/>
          </a:ln>
        </p:spPr>
      </p:sp>
      <p:sp>
        <p:nvSpPr>
          <p:cNvPr id="11" name="Text 9">
            <a:hlinkClick r:id="rId5" tooltip="" action="ppaction://hlinksldjump"/>
          </p:cNvPr>
          <p:cNvSpPr/>
          <p:nvPr/>
        </p:nvSpPr>
        <p:spPr>
          <a:xfrm>
            <a:off x="5481523"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5" action="ppaction://hlinksldjump" tooltip="">
                  <a:extLst>
                    <a:ext uri="{A12FA001-AC4F-418D-AE19-62706E023703}">
                      <ahyp:hlinkClr xmlns:ahyp="http://schemas.microsoft.com/office/drawing/2018/hyperlinkcolor" val="tx"/>
                    </a:ext>
                  </a:extLst>
                </a:hlinkClick>
              </a:rPr>
              <a:t>CASE GOVERNANCE</a:t>
            </a:r>
            <a:endParaRPr lang="en-US" sz="750" dirty="0"/>
          </a:p>
        </p:txBody>
      </p:sp>
      <p:sp>
        <p:nvSpPr>
          <p:cNvPr id="12" name="Shape 10"/>
          <p:cNvSpPr/>
          <p:nvPr/>
        </p:nvSpPr>
        <p:spPr>
          <a:xfrm>
            <a:off x="6783324" y="256032"/>
            <a:ext cx="1228649" cy="310896"/>
          </a:xfrm>
          <a:prstGeom prst="roundRect">
            <a:avLst>
              <a:gd name="adj" fmla="val 17647"/>
            </a:avLst>
          </a:prstGeom>
          <a:solidFill>
            <a:srgbClr val="13232F"/>
          </a:solidFill>
          <a:ln w="9525">
            <a:solidFill>
              <a:srgbClr val="1A3A50"/>
            </a:solidFill>
            <a:prstDash val="solid"/>
          </a:ln>
        </p:spPr>
      </p:sp>
      <p:sp>
        <p:nvSpPr>
          <p:cNvPr id="13" name="Text 11">
            <a:hlinkClick r:id="rId6" tooltip="" action="ppaction://hlinksldjump"/>
          </p:cNvPr>
          <p:cNvSpPr/>
          <p:nvPr/>
        </p:nvSpPr>
        <p:spPr>
          <a:xfrm>
            <a:off x="6783324"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6" action="ppaction://hlinksldjump" tooltip="">
                  <a:extLst>
                    <a:ext uri="{A12FA001-AC4F-418D-AE19-62706E023703}">
                      <ahyp:hlinkClr xmlns:ahyp="http://schemas.microsoft.com/office/drawing/2018/hyperlinkcolor" val="tx"/>
                    </a:ext>
                  </a:extLst>
                </a:hlinkClick>
              </a:rPr>
              <a:t>DELIVERY PKG</a:t>
            </a:r>
            <a:endParaRPr lang="en-US" sz="750" dirty="0"/>
          </a:p>
        </p:txBody>
      </p:sp>
      <p:sp>
        <p:nvSpPr>
          <p:cNvPr id="14" name="Shape 12"/>
          <p:cNvSpPr/>
          <p:nvPr/>
        </p:nvSpPr>
        <p:spPr>
          <a:xfrm>
            <a:off x="8085125" y="256032"/>
            <a:ext cx="1228649" cy="310896"/>
          </a:xfrm>
          <a:prstGeom prst="roundRect">
            <a:avLst>
              <a:gd name="adj" fmla="val 17647"/>
            </a:avLst>
          </a:prstGeom>
          <a:solidFill>
            <a:srgbClr val="13232F"/>
          </a:solidFill>
          <a:ln w="9525">
            <a:solidFill>
              <a:srgbClr val="1A3A50"/>
            </a:solidFill>
            <a:prstDash val="solid"/>
          </a:ln>
        </p:spPr>
      </p:sp>
      <p:sp>
        <p:nvSpPr>
          <p:cNvPr id="15" name="Text 13">
            <a:hlinkClick r:id="rId7" tooltip="" action="ppaction://hlinksldjump"/>
          </p:cNvPr>
          <p:cNvSpPr/>
          <p:nvPr/>
        </p:nvSpPr>
        <p:spPr>
          <a:xfrm>
            <a:off x="8085125"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7" action="ppaction://hlinksldjump" tooltip="">
                  <a:extLst>
                    <a:ext uri="{A12FA001-AC4F-418D-AE19-62706E023703}">
                      <ahyp:hlinkClr xmlns:ahyp="http://schemas.microsoft.com/office/drawing/2018/hyperlinkcolor" val="tx"/>
                    </a:ext>
                  </a:extLst>
                </a:hlinkClick>
              </a:rPr>
              <a:t>ONE PLATFORM</a:t>
            </a:r>
            <a:endParaRPr lang="en-US" sz="750" dirty="0"/>
          </a:p>
        </p:txBody>
      </p:sp>
      <p:sp>
        <p:nvSpPr>
          <p:cNvPr id="16" name="Shape 14"/>
          <p:cNvSpPr/>
          <p:nvPr/>
        </p:nvSpPr>
        <p:spPr>
          <a:xfrm>
            <a:off x="9386926" y="256032"/>
            <a:ext cx="1228649" cy="310896"/>
          </a:xfrm>
          <a:prstGeom prst="roundRect">
            <a:avLst>
              <a:gd name="adj" fmla="val 17647"/>
            </a:avLst>
          </a:prstGeom>
          <a:solidFill>
            <a:srgbClr val="13232F"/>
          </a:solidFill>
          <a:ln w="9525">
            <a:solidFill>
              <a:srgbClr val="1A3A50"/>
            </a:solidFill>
            <a:prstDash val="solid"/>
          </a:ln>
        </p:spPr>
      </p:sp>
      <p:sp>
        <p:nvSpPr>
          <p:cNvPr id="17" name="Text 15">
            <a:hlinkClick r:id="rId8" tooltip="" action="ppaction://hlinksldjump"/>
          </p:cNvPr>
          <p:cNvSpPr/>
          <p:nvPr/>
        </p:nvSpPr>
        <p:spPr>
          <a:xfrm>
            <a:off x="93869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8" action="ppaction://hlinksldjump" tooltip="">
                  <a:extLst>
                    <a:ext uri="{A12FA001-AC4F-418D-AE19-62706E023703}">
                      <ahyp:hlinkClr xmlns:ahyp="http://schemas.microsoft.com/office/drawing/2018/hyperlinkcolor" val="tx"/>
                    </a:ext>
                  </a:extLst>
                </a:hlinkClick>
              </a:rPr>
              <a:t>LIVE DEMO</a:t>
            </a:r>
            <a:endParaRPr lang="en-US" sz="750" dirty="0"/>
          </a:p>
        </p:txBody>
      </p:sp>
      <p:sp>
        <p:nvSpPr>
          <p:cNvPr id="18" name="Shape 16"/>
          <p:cNvSpPr/>
          <p:nvPr/>
        </p:nvSpPr>
        <p:spPr>
          <a:xfrm>
            <a:off x="10688726" y="256032"/>
            <a:ext cx="1228649" cy="310896"/>
          </a:xfrm>
          <a:prstGeom prst="roundRect">
            <a:avLst>
              <a:gd name="adj" fmla="val 17647"/>
            </a:avLst>
          </a:prstGeom>
          <a:solidFill>
            <a:srgbClr val="13232F"/>
          </a:solidFill>
          <a:ln w="9525">
            <a:solidFill>
              <a:srgbClr val="1A3A50"/>
            </a:solidFill>
            <a:prstDash val="solid"/>
          </a:ln>
        </p:spPr>
      </p:sp>
      <p:sp>
        <p:nvSpPr>
          <p:cNvPr id="19" name="Text 17">
            <a:hlinkClick r:id="rId9" tooltip="" action="ppaction://hlinksldjump"/>
          </p:cNvPr>
          <p:cNvSpPr/>
          <p:nvPr/>
        </p:nvSpPr>
        <p:spPr>
          <a:xfrm>
            <a:off x="106887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9" action="ppaction://hlinksldjump" tooltip="">
                  <a:extLst>
                    <a:ext uri="{A12FA001-AC4F-418D-AE19-62706E023703}">
                      <ahyp:hlinkClr xmlns:ahyp="http://schemas.microsoft.com/office/drawing/2018/hyperlinkcolor" val="tx"/>
                    </a:ext>
                  </a:extLst>
                </a:hlinkClick>
              </a:rPr>
              <a:t>THE ASK</a:t>
            </a:r>
            <a:endParaRPr lang="en-US" sz="750" dirty="0"/>
          </a:p>
        </p:txBody>
      </p:sp>
      <p:sp>
        <p:nvSpPr>
          <p:cNvPr id="20" name="Text 18"/>
          <p:cNvSpPr/>
          <p:nvPr/>
        </p:nvSpPr>
        <p:spPr>
          <a:xfrm>
            <a:off x="548640" y="868680"/>
            <a:ext cx="7315200" cy="274320"/>
          </a:xfrm>
          <a:prstGeom prst="rect">
            <a:avLst/>
          </a:prstGeom>
          <a:noFill/>
          <a:ln/>
        </p:spPr>
        <p:txBody>
          <a:bodyPr wrap="square" lIns="0" tIns="0" rIns="0" bIns="0" rtlCol="0" anchor="ctr"/>
          <a:lstStyle/>
          <a:p>
            <a:pPr indent="0" marL="0">
              <a:buNone/>
            </a:pPr>
            <a:r>
              <a:rPr lang="en-US" sz="1100" b="1" spc="200" kern="0" dirty="0">
                <a:solidFill>
                  <a:srgbClr val="5EFFC1"/>
                </a:solidFill>
                <a:latin typeface="Consolas" pitchFamily="34" charset="0"/>
                <a:ea typeface="Consolas" pitchFamily="34" charset="-122"/>
                <a:cs typeface="Consolas" pitchFamily="34" charset="-120"/>
              </a:rPr>
              <a:t>WOW FEATURE 01</a:t>
            </a:r>
            <a:endParaRPr lang="en-US" sz="1100" dirty="0"/>
          </a:p>
        </p:txBody>
      </p:sp>
      <p:sp>
        <p:nvSpPr>
          <p:cNvPr id="21" name="Text 19"/>
          <p:cNvSpPr/>
          <p:nvPr/>
        </p:nvSpPr>
        <p:spPr>
          <a:xfrm>
            <a:off x="548640" y="1161288"/>
            <a:ext cx="10515600" cy="822960"/>
          </a:xfrm>
          <a:prstGeom prst="rect">
            <a:avLst/>
          </a:prstGeom>
          <a:noFill/>
          <a:ln/>
        </p:spPr>
        <p:txBody>
          <a:bodyPr wrap="square" lIns="0" tIns="0" rIns="0" bIns="0" rtlCol="0" anchor="ctr"/>
          <a:lstStyle/>
          <a:p>
            <a:pPr indent="0" marL="0">
              <a:buNone/>
            </a:pPr>
            <a:r>
              <a:rPr lang="en-US" sz="3000" b="1" dirty="0">
                <a:solidFill>
                  <a:srgbClr val="F2F6F8"/>
                </a:solidFill>
                <a:latin typeface="Arial" pitchFamily="34" charset="0"/>
                <a:ea typeface="Arial" pitchFamily="34" charset="-122"/>
                <a:cs typeface="Arial" pitchFamily="34" charset="-120"/>
              </a:rPr>
              <a:t>The Pipeline Status Board</a:t>
            </a:r>
            <a:endParaRPr lang="en-US" sz="3000" dirty="0"/>
          </a:p>
          <a:p>
            <a:pPr indent="0" marL="0">
              <a:buNone/>
            </a:pPr>
            <a:r>
              <a:rPr lang="en-US" sz="3000" b="1" dirty="0">
                <a:solidFill>
                  <a:srgbClr val="F2F6F8"/>
                </a:solidFill>
                <a:latin typeface="Arial" pitchFamily="34" charset="0"/>
                <a:ea typeface="Arial" pitchFamily="34" charset="-122"/>
                <a:cs typeface="Arial" pitchFamily="34" charset="-120"/>
              </a:rPr>
              <a:t>That Refreshes Itself</a:t>
            </a:r>
            <a:endParaRPr lang="en-US" sz="3000" dirty="0"/>
          </a:p>
        </p:txBody>
      </p:sp>
      <p:sp>
        <p:nvSpPr>
          <p:cNvPr id="22" name="Shape 20"/>
          <p:cNvSpPr/>
          <p:nvPr/>
        </p:nvSpPr>
        <p:spPr>
          <a:xfrm>
            <a:off x="548640" y="2148840"/>
            <a:ext cx="6583680" cy="3977640"/>
          </a:xfrm>
          <a:prstGeom prst="roundRect">
            <a:avLst>
              <a:gd name="adj" fmla="val 1839"/>
            </a:avLst>
          </a:prstGeom>
          <a:solidFill>
            <a:srgbClr val="0F1B26"/>
          </a:solidFill>
          <a:ln w="12700">
            <a:solidFill>
              <a:srgbClr val="1A3A50"/>
            </a:solidFill>
            <a:prstDash val="solid"/>
          </a:ln>
        </p:spPr>
      </p:sp>
      <p:sp>
        <p:nvSpPr>
          <p:cNvPr id="23" name="Text 21"/>
          <p:cNvSpPr/>
          <p:nvPr/>
        </p:nvSpPr>
        <p:spPr>
          <a:xfrm>
            <a:off x="822960" y="2350008"/>
            <a:ext cx="4572000" cy="274320"/>
          </a:xfrm>
          <a:prstGeom prst="rect">
            <a:avLst/>
          </a:prstGeom>
          <a:noFill/>
          <a:ln/>
        </p:spPr>
        <p:txBody>
          <a:bodyPr wrap="square" lIns="0" tIns="0" rIns="0" bIns="0" rtlCol="0" anchor="ctr"/>
          <a:lstStyle/>
          <a:p>
            <a:pPr indent="0" marL="0">
              <a:buNone/>
            </a:pPr>
            <a:r>
              <a:rPr lang="en-US" sz="1000" b="1" spc="150" kern="0" dirty="0">
                <a:solidFill>
                  <a:srgbClr val="7C93A3"/>
                </a:solidFill>
                <a:latin typeface="Consolas" pitchFamily="34" charset="0"/>
                <a:ea typeface="Consolas" pitchFamily="34" charset="-122"/>
                <a:cs typeface="Consolas" pitchFamily="34" charset="-120"/>
              </a:rPr>
              <a:t>BPO PIPELINE STATUS</a:t>
            </a:r>
            <a:endParaRPr lang="en-US" sz="1000" dirty="0"/>
          </a:p>
        </p:txBody>
      </p:sp>
      <p:sp>
        <p:nvSpPr>
          <p:cNvPr id="24" name="Text 22"/>
          <p:cNvSpPr/>
          <p:nvPr/>
        </p:nvSpPr>
        <p:spPr>
          <a:xfrm>
            <a:off x="5394960" y="2350008"/>
            <a:ext cx="1463040" cy="274320"/>
          </a:xfrm>
          <a:prstGeom prst="rect">
            <a:avLst/>
          </a:prstGeom>
          <a:noFill/>
          <a:ln/>
        </p:spPr>
        <p:txBody>
          <a:bodyPr wrap="square" lIns="0" tIns="0" rIns="0" bIns="0" rtlCol="0" anchor="ctr"/>
          <a:lstStyle/>
          <a:p>
            <a:pPr algn="r" indent="0" marL="0">
              <a:buNone/>
            </a:pPr>
            <a:r>
              <a:rPr lang="en-US" sz="900" dirty="0">
                <a:solidFill>
                  <a:srgbClr val="5EFFC1"/>
                </a:solidFill>
                <a:latin typeface="Consolas" pitchFamily="34" charset="0"/>
                <a:ea typeface="Consolas" pitchFamily="34" charset="-122"/>
                <a:cs typeface="Consolas" pitchFamily="34" charset="-120"/>
              </a:rPr>
              <a:t>Relay: live</a:t>
            </a:r>
            <a:endParaRPr lang="en-US" sz="900" dirty="0"/>
          </a:p>
        </p:txBody>
      </p:sp>
      <p:sp>
        <p:nvSpPr>
          <p:cNvPr id="25" name="Text 23"/>
          <p:cNvSpPr/>
          <p:nvPr/>
        </p:nvSpPr>
        <p:spPr>
          <a:xfrm>
            <a:off x="822960" y="2834640"/>
            <a:ext cx="3108960" cy="274320"/>
          </a:xfrm>
          <a:prstGeom prst="rect">
            <a:avLst/>
          </a:prstGeom>
          <a:noFill/>
          <a:ln/>
        </p:spPr>
        <p:txBody>
          <a:bodyPr wrap="square" lIns="0" tIns="0" rIns="0" bIns="0" rtlCol="0" anchor="ctr"/>
          <a:lstStyle/>
          <a:p>
            <a:pPr indent="0" marL="0">
              <a:buNone/>
            </a:pPr>
            <a:r>
              <a:rPr lang="en-US" sz="1150" dirty="0">
                <a:solidFill>
                  <a:srgbClr val="F2F6F8"/>
                </a:solidFill>
                <a:latin typeface="Arial" pitchFamily="34" charset="0"/>
                <a:ea typeface="Arial" pitchFamily="34" charset="-122"/>
                <a:cs typeface="Arial" pitchFamily="34" charset="-120"/>
              </a:rPr>
              <a:t>Intake &amp; Triage</a:t>
            </a:r>
            <a:endParaRPr lang="en-US" sz="1150" dirty="0"/>
          </a:p>
        </p:txBody>
      </p:sp>
      <p:sp>
        <p:nvSpPr>
          <p:cNvPr id="26" name="Text 24"/>
          <p:cNvSpPr/>
          <p:nvPr/>
        </p:nvSpPr>
        <p:spPr>
          <a:xfrm>
            <a:off x="6217920" y="2834640"/>
            <a:ext cx="640080" cy="274320"/>
          </a:xfrm>
          <a:prstGeom prst="rect">
            <a:avLst/>
          </a:prstGeom>
          <a:noFill/>
          <a:ln/>
        </p:spPr>
        <p:txBody>
          <a:bodyPr wrap="square" lIns="0" tIns="0" rIns="0" bIns="0" rtlCol="0" anchor="ctr"/>
          <a:lstStyle/>
          <a:p>
            <a:pPr algn="r" indent="0" marL="0">
              <a:buNone/>
            </a:pPr>
            <a:r>
              <a:rPr lang="en-US" sz="1050" b="1" dirty="0">
                <a:solidFill>
                  <a:srgbClr val="5EFFC1"/>
                </a:solidFill>
                <a:latin typeface="Consolas" pitchFamily="34" charset="0"/>
                <a:ea typeface="Consolas" pitchFamily="34" charset="-122"/>
                <a:cs typeface="Consolas" pitchFamily="34" charset="-120"/>
              </a:rPr>
              <a:t>100%</a:t>
            </a:r>
            <a:endParaRPr lang="en-US" sz="1050" dirty="0"/>
          </a:p>
        </p:txBody>
      </p:sp>
      <p:sp>
        <p:nvSpPr>
          <p:cNvPr id="27" name="Shape 25"/>
          <p:cNvSpPr/>
          <p:nvPr/>
        </p:nvSpPr>
        <p:spPr>
          <a:xfrm>
            <a:off x="822960" y="3127248"/>
            <a:ext cx="6035040" cy="146304"/>
          </a:xfrm>
          <a:prstGeom prst="roundRect">
            <a:avLst>
              <a:gd name="adj" fmla="val 18750"/>
            </a:avLst>
          </a:prstGeom>
          <a:solidFill>
            <a:srgbClr val="0A1620"/>
          </a:solidFill>
          <a:ln w="6350">
            <a:solidFill>
              <a:srgbClr val="1A3A50"/>
            </a:solidFill>
            <a:prstDash val="solid"/>
          </a:ln>
        </p:spPr>
      </p:sp>
      <p:sp>
        <p:nvSpPr>
          <p:cNvPr id="28" name="Shape 26"/>
          <p:cNvSpPr/>
          <p:nvPr/>
        </p:nvSpPr>
        <p:spPr>
          <a:xfrm>
            <a:off x="822960" y="3127248"/>
            <a:ext cx="6035040" cy="146304"/>
          </a:xfrm>
          <a:prstGeom prst="roundRect">
            <a:avLst>
              <a:gd name="adj" fmla="val 18750"/>
            </a:avLst>
          </a:prstGeom>
          <a:solidFill>
            <a:srgbClr val="5EFFC1"/>
          </a:solidFill>
          <a:ln/>
        </p:spPr>
      </p:sp>
      <p:sp>
        <p:nvSpPr>
          <p:cNvPr id="29" name="Text 27"/>
          <p:cNvSpPr/>
          <p:nvPr/>
        </p:nvSpPr>
        <p:spPr>
          <a:xfrm>
            <a:off x="822960" y="3493008"/>
            <a:ext cx="3108960" cy="274320"/>
          </a:xfrm>
          <a:prstGeom prst="rect">
            <a:avLst/>
          </a:prstGeom>
          <a:noFill/>
          <a:ln/>
        </p:spPr>
        <p:txBody>
          <a:bodyPr wrap="square" lIns="0" tIns="0" rIns="0" bIns="0" rtlCol="0" anchor="ctr"/>
          <a:lstStyle/>
          <a:p>
            <a:pPr indent="0" marL="0">
              <a:buNone/>
            </a:pPr>
            <a:r>
              <a:rPr lang="en-US" sz="1150" dirty="0">
                <a:solidFill>
                  <a:srgbClr val="F2F6F8"/>
                </a:solidFill>
                <a:latin typeface="Arial" pitchFamily="34" charset="0"/>
                <a:ea typeface="Arial" pitchFamily="34" charset="-122"/>
                <a:cs typeface="Arial" pitchFamily="34" charset="-120"/>
              </a:rPr>
              <a:t>AI First-Pass Resolution</a:t>
            </a:r>
            <a:endParaRPr lang="en-US" sz="1150" dirty="0"/>
          </a:p>
        </p:txBody>
      </p:sp>
      <p:sp>
        <p:nvSpPr>
          <p:cNvPr id="30" name="Text 28"/>
          <p:cNvSpPr/>
          <p:nvPr/>
        </p:nvSpPr>
        <p:spPr>
          <a:xfrm>
            <a:off x="6217920" y="3493008"/>
            <a:ext cx="640080" cy="274320"/>
          </a:xfrm>
          <a:prstGeom prst="rect">
            <a:avLst/>
          </a:prstGeom>
          <a:noFill/>
          <a:ln/>
        </p:spPr>
        <p:txBody>
          <a:bodyPr wrap="square" lIns="0" tIns="0" rIns="0" bIns="0" rtlCol="0" anchor="ctr"/>
          <a:lstStyle/>
          <a:p>
            <a:pPr algn="r" indent="0" marL="0">
              <a:buNone/>
            </a:pPr>
            <a:r>
              <a:rPr lang="en-US" sz="1050" b="1" dirty="0">
                <a:solidFill>
                  <a:srgbClr val="5EFFC1"/>
                </a:solidFill>
                <a:latin typeface="Consolas" pitchFamily="34" charset="0"/>
                <a:ea typeface="Consolas" pitchFamily="34" charset="-122"/>
                <a:cs typeface="Consolas" pitchFamily="34" charset="-120"/>
              </a:rPr>
              <a:t>100%</a:t>
            </a:r>
            <a:endParaRPr lang="en-US" sz="1050" dirty="0"/>
          </a:p>
        </p:txBody>
      </p:sp>
      <p:sp>
        <p:nvSpPr>
          <p:cNvPr id="31" name="Shape 29"/>
          <p:cNvSpPr/>
          <p:nvPr/>
        </p:nvSpPr>
        <p:spPr>
          <a:xfrm>
            <a:off x="822960" y="3785616"/>
            <a:ext cx="6035040" cy="146304"/>
          </a:xfrm>
          <a:prstGeom prst="roundRect">
            <a:avLst>
              <a:gd name="adj" fmla="val 18750"/>
            </a:avLst>
          </a:prstGeom>
          <a:solidFill>
            <a:srgbClr val="0A1620"/>
          </a:solidFill>
          <a:ln w="6350">
            <a:solidFill>
              <a:srgbClr val="1A3A50"/>
            </a:solidFill>
            <a:prstDash val="solid"/>
          </a:ln>
        </p:spPr>
      </p:sp>
      <p:sp>
        <p:nvSpPr>
          <p:cNvPr id="32" name="Shape 30"/>
          <p:cNvSpPr/>
          <p:nvPr/>
        </p:nvSpPr>
        <p:spPr>
          <a:xfrm>
            <a:off x="822960" y="3785616"/>
            <a:ext cx="6035040" cy="146304"/>
          </a:xfrm>
          <a:prstGeom prst="roundRect">
            <a:avLst>
              <a:gd name="adj" fmla="val 18750"/>
            </a:avLst>
          </a:prstGeom>
          <a:solidFill>
            <a:srgbClr val="5EFFC1"/>
          </a:solidFill>
          <a:ln/>
        </p:spPr>
      </p:sp>
      <p:sp>
        <p:nvSpPr>
          <p:cNvPr id="33" name="Text 31"/>
          <p:cNvSpPr/>
          <p:nvPr/>
        </p:nvSpPr>
        <p:spPr>
          <a:xfrm>
            <a:off x="822960" y="4151376"/>
            <a:ext cx="3108960" cy="274320"/>
          </a:xfrm>
          <a:prstGeom prst="rect">
            <a:avLst/>
          </a:prstGeom>
          <a:noFill/>
          <a:ln/>
        </p:spPr>
        <p:txBody>
          <a:bodyPr wrap="square" lIns="0" tIns="0" rIns="0" bIns="0" rtlCol="0" anchor="ctr"/>
          <a:lstStyle/>
          <a:p>
            <a:pPr indent="0" marL="0">
              <a:buNone/>
            </a:pPr>
            <a:r>
              <a:rPr lang="en-US" sz="1150" dirty="0">
                <a:solidFill>
                  <a:srgbClr val="F2F6F8"/>
                </a:solidFill>
                <a:latin typeface="Arial" pitchFamily="34" charset="0"/>
                <a:ea typeface="Arial" pitchFamily="34" charset="-122"/>
                <a:cs typeface="Arial" pitchFamily="34" charset="-120"/>
              </a:rPr>
              <a:t>Exception Review</a:t>
            </a:r>
            <a:endParaRPr lang="en-US" sz="1150" dirty="0"/>
          </a:p>
        </p:txBody>
      </p:sp>
      <p:sp>
        <p:nvSpPr>
          <p:cNvPr id="34" name="Text 32"/>
          <p:cNvSpPr/>
          <p:nvPr/>
        </p:nvSpPr>
        <p:spPr>
          <a:xfrm>
            <a:off x="6217920" y="4151376"/>
            <a:ext cx="640080" cy="274320"/>
          </a:xfrm>
          <a:prstGeom prst="rect">
            <a:avLst/>
          </a:prstGeom>
          <a:noFill/>
          <a:ln/>
        </p:spPr>
        <p:txBody>
          <a:bodyPr wrap="square" lIns="0" tIns="0" rIns="0" bIns="0" rtlCol="0" anchor="ctr"/>
          <a:lstStyle/>
          <a:p>
            <a:pPr algn="r" indent="0" marL="0">
              <a:buNone/>
            </a:pPr>
            <a:r>
              <a:rPr lang="en-US" sz="1050" b="1" dirty="0">
                <a:solidFill>
                  <a:srgbClr val="FFB74D"/>
                </a:solidFill>
                <a:latin typeface="Consolas" pitchFamily="34" charset="0"/>
                <a:ea typeface="Consolas" pitchFamily="34" charset="-122"/>
                <a:cs typeface="Consolas" pitchFamily="34" charset="-120"/>
              </a:rPr>
              <a:t>64%</a:t>
            </a:r>
            <a:endParaRPr lang="en-US" sz="1050" dirty="0"/>
          </a:p>
        </p:txBody>
      </p:sp>
      <p:sp>
        <p:nvSpPr>
          <p:cNvPr id="35" name="Shape 33"/>
          <p:cNvSpPr/>
          <p:nvPr/>
        </p:nvSpPr>
        <p:spPr>
          <a:xfrm>
            <a:off x="822960" y="4443984"/>
            <a:ext cx="6035040" cy="146304"/>
          </a:xfrm>
          <a:prstGeom prst="roundRect">
            <a:avLst>
              <a:gd name="adj" fmla="val 18750"/>
            </a:avLst>
          </a:prstGeom>
          <a:solidFill>
            <a:srgbClr val="0A1620"/>
          </a:solidFill>
          <a:ln w="6350">
            <a:solidFill>
              <a:srgbClr val="1A3A50"/>
            </a:solidFill>
            <a:prstDash val="solid"/>
          </a:ln>
        </p:spPr>
      </p:sp>
      <p:sp>
        <p:nvSpPr>
          <p:cNvPr id="36" name="Shape 34"/>
          <p:cNvSpPr/>
          <p:nvPr/>
        </p:nvSpPr>
        <p:spPr>
          <a:xfrm>
            <a:off x="822960" y="4443984"/>
            <a:ext cx="3862426" cy="146304"/>
          </a:xfrm>
          <a:prstGeom prst="roundRect">
            <a:avLst>
              <a:gd name="adj" fmla="val 18750"/>
            </a:avLst>
          </a:prstGeom>
          <a:solidFill>
            <a:srgbClr val="FFB74D"/>
          </a:solidFill>
          <a:ln/>
        </p:spPr>
      </p:sp>
      <p:sp>
        <p:nvSpPr>
          <p:cNvPr id="37" name="Text 35"/>
          <p:cNvSpPr/>
          <p:nvPr/>
        </p:nvSpPr>
        <p:spPr>
          <a:xfrm>
            <a:off x="822960" y="4809744"/>
            <a:ext cx="3108960" cy="274320"/>
          </a:xfrm>
          <a:prstGeom prst="rect">
            <a:avLst/>
          </a:prstGeom>
          <a:noFill/>
          <a:ln/>
        </p:spPr>
        <p:txBody>
          <a:bodyPr wrap="square" lIns="0" tIns="0" rIns="0" bIns="0" rtlCol="0" anchor="ctr"/>
          <a:lstStyle/>
          <a:p>
            <a:pPr indent="0" marL="0">
              <a:buNone/>
            </a:pPr>
            <a:r>
              <a:rPr lang="en-US" sz="1150" dirty="0">
                <a:solidFill>
                  <a:srgbClr val="F2F6F8"/>
                </a:solidFill>
                <a:latin typeface="Arial" pitchFamily="34" charset="0"/>
                <a:ea typeface="Arial" pitchFamily="34" charset="-122"/>
                <a:cs typeface="Arial" pitchFamily="34" charset="-120"/>
              </a:rPr>
              <a:t>Case Approval (HITL)</a:t>
            </a:r>
            <a:endParaRPr lang="en-US" sz="1150" dirty="0"/>
          </a:p>
        </p:txBody>
      </p:sp>
      <p:sp>
        <p:nvSpPr>
          <p:cNvPr id="38" name="Text 36"/>
          <p:cNvSpPr/>
          <p:nvPr/>
        </p:nvSpPr>
        <p:spPr>
          <a:xfrm>
            <a:off x="6217920" y="4809744"/>
            <a:ext cx="640080" cy="274320"/>
          </a:xfrm>
          <a:prstGeom prst="rect">
            <a:avLst/>
          </a:prstGeom>
          <a:noFill/>
          <a:ln/>
        </p:spPr>
        <p:txBody>
          <a:bodyPr wrap="square" lIns="0" tIns="0" rIns="0" bIns="0" rtlCol="0" anchor="ctr"/>
          <a:lstStyle/>
          <a:p>
            <a:pPr algn="r" indent="0" marL="0">
              <a:buNone/>
            </a:pPr>
            <a:r>
              <a:rPr lang="en-US" sz="1050" b="1" dirty="0">
                <a:solidFill>
                  <a:srgbClr val="00E5FF"/>
                </a:solidFill>
                <a:latin typeface="Consolas" pitchFamily="34" charset="0"/>
                <a:ea typeface="Consolas" pitchFamily="34" charset="-122"/>
                <a:cs typeface="Consolas" pitchFamily="34" charset="-120"/>
              </a:rPr>
              <a:t>30%</a:t>
            </a:r>
            <a:endParaRPr lang="en-US" sz="1050" dirty="0"/>
          </a:p>
        </p:txBody>
      </p:sp>
      <p:sp>
        <p:nvSpPr>
          <p:cNvPr id="39" name="Shape 37"/>
          <p:cNvSpPr/>
          <p:nvPr/>
        </p:nvSpPr>
        <p:spPr>
          <a:xfrm>
            <a:off x="822960" y="5102352"/>
            <a:ext cx="6035040" cy="146304"/>
          </a:xfrm>
          <a:prstGeom prst="roundRect">
            <a:avLst>
              <a:gd name="adj" fmla="val 18750"/>
            </a:avLst>
          </a:prstGeom>
          <a:solidFill>
            <a:srgbClr val="0A1620"/>
          </a:solidFill>
          <a:ln w="6350">
            <a:solidFill>
              <a:srgbClr val="1A3A50"/>
            </a:solidFill>
            <a:prstDash val="solid"/>
          </a:ln>
        </p:spPr>
      </p:sp>
      <p:sp>
        <p:nvSpPr>
          <p:cNvPr id="40" name="Shape 38"/>
          <p:cNvSpPr/>
          <p:nvPr/>
        </p:nvSpPr>
        <p:spPr>
          <a:xfrm>
            <a:off x="822960" y="5102352"/>
            <a:ext cx="1810512" cy="146304"/>
          </a:xfrm>
          <a:prstGeom prst="roundRect">
            <a:avLst>
              <a:gd name="adj" fmla="val 18750"/>
            </a:avLst>
          </a:prstGeom>
          <a:solidFill>
            <a:srgbClr val="00E5FF"/>
          </a:solidFill>
          <a:ln/>
        </p:spPr>
      </p:sp>
      <p:sp>
        <p:nvSpPr>
          <p:cNvPr id="41" name="Text 39"/>
          <p:cNvSpPr/>
          <p:nvPr/>
        </p:nvSpPr>
        <p:spPr>
          <a:xfrm>
            <a:off x="822960" y="5468112"/>
            <a:ext cx="3108960" cy="274320"/>
          </a:xfrm>
          <a:prstGeom prst="rect">
            <a:avLst/>
          </a:prstGeom>
          <a:noFill/>
          <a:ln/>
        </p:spPr>
        <p:txBody>
          <a:bodyPr wrap="square" lIns="0" tIns="0" rIns="0" bIns="0" rtlCol="0" anchor="ctr"/>
          <a:lstStyle/>
          <a:p>
            <a:pPr indent="0" marL="0">
              <a:buNone/>
            </a:pPr>
            <a:r>
              <a:rPr lang="en-US" sz="1150" dirty="0">
                <a:solidFill>
                  <a:srgbClr val="F2F6F8"/>
                </a:solidFill>
                <a:latin typeface="Arial" pitchFamily="34" charset="0"/>
                <a:ea typeface="Arial" pitchFamily="34" charset="-122"/>
                <a:cs typeface="Arial" pitchFamily="34" charset="-120"/>
              </a:rPr>
              <a:t>Client Delivery</a:t>
            </a:r>
            <a:endParaRPr lang="en-US" sz="1150" dirty="0"/>
          </a:p>
        </p:txBody>
      </p:sp>
      <p:sp>
        <p:nvSpPr>
          <p:cNvPr id="42" name="Text 40"/>
          <p:cNvSpPr/>
          <p:nvPr/>
        </p:nvSpPr>
        <p:spPr>
          <a:xfrm>
            <a:off x="6217920" y="5468112"/>
            <a:ext cx="640080" cy="274320"/>
          </a:xfrm>
          <a:prstGeom prst="rect">
            <a:avLst/>
          </a:prstGeom>
          <a:noFill/>
          <a:ln/>
        </p:spPr>
        <p:txBody>
          <a:bodyPr wrap="square" lIns="0" tIns="0" rIns="0" bIns="0" rtlCol="0" anchor="ctr"/>
          <a:lstStyle/>
          <a:p>
            <a:pPr algn="r" indent="0" marL="0">
              <a:buNone/>
            </a:pPr>
            <a:r>
              <a:rPr lang="en-US" sz="1050" b="1" dirty="0">
                <a:solidFill>
                  <a:srgbClr val="4A6072"/>
                </a:solidFill>
                <a:latin typeface="Consolas" pitchFamily="34" charset="0"/>
                <a:ea typeface="Consolas" pitchFamily="34" charset="-122"/>
                <a:cs typeface="Consolas" pitchFamily="34" charset="-120"/>
              </a:rPr>
              <a:t>0%</a:t>
            </a:r>
            <a:endParaRPr lang="en-US" sz="1050" dirty="0"/>
          </a:p>
        </p:txBody>
      </p:sp>
      <p:sp>
        <p:nvSpPr>
          <p:cNvPr id="43" name="Shape 41"/>
          <p:cNvSpPr/>
          <p:nvPr/>
        </p:nvSpPr>
        <p:spPr>
          <a:xfrm>
            <a:off x="822960" y="5760720"/>
            <a:ext cx="6035040" cy="146304"/>
          </a:xfrm>
          <a:prstGeom prst="roundRect">
            <a:avLst>
              <a:gd name="adj" fmla="val 18750"/>
            </a:avLst>
          </a:prstGeom>
          <a:solidFill>
            <a:srgbClr val="0A1620"/>
          </a:solidFill>
          <a:ln w="6350">
            <a:solidFill>
              <a:srgbClr val="1A3A50"/>
            </a:solidFill>
            <a:prstDash val="solid"/>
          </a:ln>
        </p:spPr>
      </p:sp>
      <p:sp>
        <p:nvSpPr>
          <p:cNvPr id="44" name="Text 42"/>
          <p:cNvSpPr/>
          <p:nvPr/>
        </p:nvSpPr>
        <p:spPr>
          <a:xfrm>
            <a:off x="7452360" y="2286000"/>
            <a:ext cx="4114800" cy="365760"/>
          </a:xfrm>
          <a:prstGeom prst="rect">
            <a:avLst/>
          </a:prstGeom>
          <a:noFill/>
          <a:ln/>
        </p:spPr>
        <p:txBody>
          <a:bodyPr wrap="square" lIns="0" tIns="0" rIns="0" bIns="0" rtlCol="0" anchor="ctr"/>
          <a:lstStyle/>
          <a:p>
            <a:pPr indent="0" marL="0">
              <a:buNone/>
            </a:pPr>
            <a:r>
              <a:rPr lang="en-US" sz="1600" b="1" dirty="0">
                <a:solidFill>
                  <a:srgbClr val="F2F6F8"/>
                </a:solidFill>
                <a:latin typeface="Arial" pitchFamily="34" charset="0"/>
                <a:ea typeface="Arial" pitchFamily="34" charset="-122"/>
                <a:cs typeface="Arial" pitchFamily="34" charset="-120"/>
              </a:rPr>
              <a:t>No status meeting required</a:t>
            </a:r>
            <a:endParaRPr lang="en-US" sz="1600" dirty="0"/>
          </a:p>
        </p:txBody>
      </p:sp>
      <p:sp>
        <p:nvSpPr>
          <p:cNvPr id="45" name="Shape 43"/>
          <p:cNvSpPr/>
          <p:nvPr/>
        </p:nvSpPr>
        <p:spPr>
          <a:xfrm>
            <a:off x="7452360" y="2862072"/>
            <a:ext cx="82296" cy="82296"/>
          </a:xfrm>
          <a:prstGeom prst="ellipse">
            <a:avLst/>
          </a:prstGeom>
          <a:solidFill>
            <a:srgbClr val="5EFFC1"/>
          </a:solidFill>
          <a:ln/>
        </p:spPr>
      </p:sp>
      <p:sp>
        <p:nvSpPr>
          <p:cNvPr id="46" name="Text 44"/>
          <p:cNvSpPr/>
          <p:nvPr/>
        </p:nvSpPr>
        <p:spPr>
          <a:xfrm>
            <a:off x="7680960" y="2715768"/>
            <a:ext cx="3840480" cy="868680"/>
          </a:xfrm>
          <a:prstGeom prst="rect">
            <a:avLst/>
          </a:prstGeom>
          <a:noFill/>
          <a:ln/>
        </p:spPr>
        <p:txBody>
          <a:bodyPr wrap="square" lIns="0" tIns="0" rIns="0" bIns="0" rtlCol="0" anchor="t"/>
          <a:lstStyle/>
          <a:p>
            <a:pPr indent="0" marL="0">
              <a:lnSpc>
                <a:spcPct val="125000"/>
              </a:lnSpc>
              <a:buNone/>
            </a:pPr>
            <a:r>
              <a:rPr lang="en-US" sz="1100" dirty="0">
                <a:solidFill>
                  <a:srgbClr val="7C93A3"/>
                </a:solidFill>
                <a:latin typeface="Arial" pitchFamily="34" charset="0"/>
                <a:ea typeface="Arial" pitchFamily="34" charset="-122"/>
                <a:cs typeface="Arial" pitchFamily="34" charset="-120"/>
              </a:rPr>
              <a:t>Reads directly from the strategist relay — the same data the analysts are working from, not a snapshot from yesterday's sync.</a:t>
            </a:r>
            <a:endParaRPr lang="en-US" sz="1100" dirty="0"/>
          </a:p>
        </p:txBody>
      </p:sp>
      <p:sp>
        <p:nvSpPr>
          <p:cNvPr id="47" name="Shape 45"/>
          <p:cNvSpPr/>
          <p:nvPr/>
        </p:nvSpPr>
        <p:spPr>
          <a:xfrm>
            <a:off x="7452360" y="3822192"/>
            <a:ext cx="82296" cy="82296"/>
          </a:xfrm>
          <a:prstGeom prst="ellipse">
            <a:avLst/>
          </a:prstGeom>
          <a:solidFill>
            <a:srgbClr val="5EFFC1"/>
          </a:solidFill>
          <a:ln/>
        </p:spPr>
      </p:sp>
      <p:sp>
        <p:nvSpPr>
          <p:cNvPr id="48" name="Text 46"/>
          <p:cNvSpPr/>
          <p:nvPr/>
        </p:nvSpPr>
        <p:spPr>
          <a:xfrm>
            <a:off x="7680960" y="3675888"/>
            <a:ext cx="3840480" cy="868680"/>
          </a:xfrm>
          <a:prstGeom prst="rect">
            <a:avLst/>
          </a:prstGeom>
          <a:noFill/>
          <a:ln/>
        </p:spPr>
        <p:txBody>
          <a:bodyPr wrap="square" lIns="0" tIns="0" rIns="0" bIns="0" rtlCol="0" anchor="t"/>
          <a:lstStyle/>
          <a:p>
            <a:pPr indent="0" marL="0">
              <a:lnSpc>
                <a:spcPct val="125000"/>
              </a:lnSpc>
              <a:buNone/>
            </a:pPr>
            <a:r>
              <a:rPr lang="en-US" sz="1100" dirty="0">
                <a:solidFill>
                  <a:srgbClr val="7C93A3"/>
                </a:solidFill>
                <a:latin typeface="Arial" pitchFamily="34" charset="0"/>
                <a:ea typeface="Arial" pitchFamily="34" charset="-122"/>
                <a:cs typeface="Arial" pitchFamily="34" charset="-120"/>
              </a:rPr>
              <a:t>Any stage still at 0% is labeled that way, honestly — never a fabricated “in progress” placeholder.</a:t>
            </a:r>
            <a:endParaRPr lang="en-US" sz="1100" dirty="0"/>
          </a:p>
        </p:txBody>
      </p:sp>
      <p:sp>
        <p:nvSpPr>
          <p:cNvPr id="49" name="Shape 47"/>
          <p:cNvSpPr/>
          <p:nvPr/>
        </p:nvSpPr>
        <p:spPr>
          <a:xfrm>
            <a:off x="7452360" y="4782312"/>
            <a:ext cx="82296" cy="82296"/>
          </a:xfrm>
          <a:prstGeom prst="ellipse">
            <a:avLst/>
          </a:prstGeom>
          <a:solidFill>
            <a:srgbClr val="5EFFC1"/>
          </a:solidFill>
          <a:ln/>
        </p:spPr>
      </p:sp>
      <p:sp>
        <p:nvSpPr>
          <p:cNvPr id="50" name="Text 48"/>
          <p:cNvSpPr/>
          <p:nvPr/>
        </p:nvSpPr>
        <p:spPr>
          <a:xfrm>
            <a:off x="7680960" y="4636008"/>
            <a:ext cx="3840480" cy="868680"/>
          </a:xfrm>
          <a:prstGeom prst="rect">
            <a:avLst/>
          </a:prstGeom>
          <a:noFill/>
          <a:ln/>
        </p:spPr>
        <p:txBody>
          <a:bodyPr wrap="square" lIns="0" tIns="0" rIns="0" bIns="0" rtlCol="0" anchor="t"/>
          <a:lstStyle/>
          <a:p>
            <a:pPr indent="0" marL="0">
              <a:lnSpc>
                <a:spcPct val="125000"/>
              </a:lnSpc>
              <a:buNone/>
            </a:pPr>
            <a:r>
              <a:rPr lang="en-US" sz="1100" dirty="0">
                <a:solidFill>
                  <a:srgbClr val="7C93A3"/>
                </a:solidFill>
                <a:latin typeface="Arial" pitchFamily="34" charset="0"/>
                <a:ea typeface="Arial" pitchFamily="34" charset="-122"/>
                <a:cs typeface="Arial" pitchFamily="34" charset="-120"/>
              </a:rPr>
              <a:t>Storage-event driven: if the relay updates while the exec has the tab open, the board redraws itself, live.</a:t>
            </a:r>
            <a:endParaRPr lang="en-US" sz="1100" dirty="0"/>
          </a:p>
        </p:txBody>
      </p:sp>
      <p:sp>
        <p:nvSpPr>
          <p:cNvPr id="51" name="Text 49"/>
          <p:cNvSpPr/>
          <p:nvPr/>
        </p:nvSpPr>
        <p:spPr>
          <a:xfrm>
            <a:off x="548640" y="6528816"/>
            <a:ext cx="4572000" cy="256032"/>
          </a:xfrm>
          <a:prstGeom prst="rect">
            <a:avLst/>
          </a:prstGeom>
          <a:noFill/>
          <a:ln/>
        </p:spPr>
        <p:txBody>
          <a:bodyPr wrap="square" lIns="0" tIns="0" rIns="0" bIns="0" rtlCol="0" anchor="ctr"/>
          <a:lstStyle/>
          <a:p>
            <a:pPr indent="0" marL="0">
              <a:buNone/>
            </a:pPr>
            <a:r>
              <a:rPr lang="en-US" sz="800" spc="100" kern="0" dirty="0">
                <a:solidFill>
                  <a:srgbClr val="4A6072"/>
                </a:solidFill>
                <a:latin typeface="Consolas" pitchFamily="34" charset="0"/>
                <a:ea typeface="Consolas" pitchFamily="34" charset="-122"/>
                <a:cs typeface="Consolas" pitchFamily="34" charset="-120"/>
              </a:rPr>
              <a:t>TSM BPO EXECUTIVE PORTAL</a:t>
            </a:r>
            <a:endParaRPr lang="en-US" sz="800" dirty="0"/>
          </a:p>
        </p:txBody>
      </p:sp>
      <p:sp>
        <p:nvSpPr>
          <p:cNvPr id="52" name="Text 50"/>
          <p:cNvSpPr/>
          <p:nvPr/>
        </p:nvSpPr>
        <p:spPr>
          <a:xfrm>
            <a:off x="11185855" y="6528816"/>
            <a:ext cx="457200" cy="256032"/>
          </a:xfrm>
          <a:prstGeom prst="rect">
            <a:avLst/>
          </a:prstGeom>
          <a:noFill/>
          <a:ln/>
        </p:spPr>
        <p:txBody>
          <a:bodyPr wrap="square" lIns="0" tIns="0" rIns="0" bIns="0" rtlCol="0" anchor="ctr"/>
          <a:lstStyle/>
          <a:p>
            <a:pPr algn="r" indent="0" marL="0">
              <a:buNone/>
            </a:pPr>
            <a:r>
              <a:rPr lang="en-US" sz="800" dirty="0">
                <a:solidFill>
                  <a:srgbClr val="4A6072"/>
                </a:solidFill>
                <a:latin typeface="Consolas" pitchFamily="34" charset="0"/>
                <a:ea typeface="Consolas" pitchFamily="34" charset="-122"/>
                <a:cs typeface="Consolas"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1A"/>
        </a:solidFill>
      </p:bgPr>
    </p:bg>
    <p:spTree>
      <p:nvGrpSpPr>
        <p:cNvPr id="1" name=""/>
        <p:cNvGrpSpPr/>
        <p:nvPr/>
      </p:nvGrpSpPr>
      <p:grpSpPr>
        <a:xfrm>
          <a:off x="0" y="0"/>
          <a:ext cx="0" cy="0"/>
          <a:chOff x="0" y="0"/>
          <a:chExt cx="0" cy="0"/>
        </a:xfrm>
      </p:grpSpPr>
      <p:sp>
        <p:nvSpPr>
          <p:cNvPr id="2" name="Shape 0"/>
          <p:cNvSpPr/>
          <p:nvPr/>
        </p:nvSpPr>
        <p:spPr>
          <a:xfrm>
            <a:off x="274320" y="256032"/>
            <a:ext cx="1228649" cy="310896"/>
          </a:xfrm>
          <a:prstGeom prst="roundRect">
            <a:avLst>
              <a:gd name="adj" fmla="val 17647"/>
            </a:avLst>
          </a:prstGeom>
          <a:solidFill>
            <a:srgbClr val="13232F"/>
          </a:solidFill>
          <a:ln w="9525">
            <a:solidFill>
              <a:srgbClr val="1A3A50"/>
            </a:solidFill>
            <a:prstDash val="solid"/>
          </a:ln>
        </p:spPr>
      </p:sp>
      <p:sp>
        <p:nvSpPr>
          <p:cNvPr id="3" name="Text 1">
            <a:hlinkClick r:id="rId1" tooltip="" action="ppaction://hlinksldjump"/>
          </p:cNvPr>
          <p:cNvSpPr/>
          <p:nvPr/>
        </p:nvSpPr>
        <p:spPr>
          <a:xfrm>
            <a:off x="274320"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1" action="ppaction://hlinksldjump" tooltip="">
                  <a:extLst>
                    <a:ext uri="{A12FA001-AC4F-418D-AE19-62706E023703}">
                      <ahyp:hlinkClr xmlns:ahyp="http://schemas.microsoft.com/office/drawing/2018/hyperlinkcolor" val="tx"/>
                    </a:ext>
                  </a:extLst>
                </a:hlinkClick>
              </a:rPr>
              <a:t>AGENDA</a:t>
            </a:r>
            <a:endParaRPr lang="en-US" sz="750" dirty="0"/>
          </a:p>
        </p:txBody>
      </p:sp>
      <p:sp>
        <p:nvSpPr>
          <p:cNvPr id="4" name="Shape 2"/>
          <p:cNvSpPr/>
          <p:nvPr/>
        </p:nvSpPr>
        <p:spPr>
          <a:xfrm>
            <a:off x="1576121" y="256032"/>
            <a:ext cx="1228649" cy="310896"/>
          </a:xfrm>
          <a:prstGeom prst="roundRect">
            <a:avLst>
              <a:gd name="adj" fmla="val 17647"/>
            </a:avLst>
          </a:prstGeom>
          <a:solidFill>
            <a:srgbClr val="13232F"/>
          </a:solidFill>
          <a:ln w="9525">
            <a:solidFill>
              <a:srgbClr val="1A3A50"/>
            </a:solidFill>
            <a:prstDash val="solid"/>
          </a:ln>
        </p:spPr>
      </p:sp>
      <p:sp>
        <p:nvSpPr>
          <p:cNvPr id="5" name="Text 3">
            <a:hlinkClick r:id="rId2" tooltip="" action="ppaction://hlinksldjump"/>
          </p:cNvPr>
          <p:cNvSpPr/>
          <p:nvPr/>
        </p:nvSpPr>
        <p:spPr>
          <a:xfrm>
            <a:off x="1576121"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THE PROBLEM</a:t>
            </a:r>
            <a:endParaRPr lang="en-US" sz="750" dirty="0"/>
          </a:p>
        </p:txBody>
      </p:sp>
      <p:sp>
        <p:nvSpPr>
          <p:cNvPr id="6" name="Shape 4"/>
          <p:cNvSpPr/>
          <p:nvPr/>
        </p:nvSpPr>
        <p:spPr>
          <a:xfrm>
            <a:off x="2877922" y="256032"/>
            <a:ext cx="1228649" cy="310896"/>
          </a:xfrm>
          <a:prstGeom prst="roundRect">
            <a:avLst>
              <a:gd name="adj" fmla="val 17647"/>
            </a:avLst>
          </a:prstGeom>
          <a:solidFill>
            <a:srgbClr val="13232F"/>
          </a:solidFill>
          <a:ln w="9525">
            <a:solidFill>
              <a:srgbClr val="1A3A50"/>
            </a:solidFill>
            <a:prstDash val="solid"/>
          </a:ln>
        </p:spPr>
      </p:sp>
      <p:sp>
        <p:nvSpPr>
          <p:cNvPr id="7" name="Text 5">
            <a:hlinkClick r:id="rId3" tooltip="" action="ppaction://hlinksldjump"/>
          </p:cNvPr>
          <p:cNvSpPr/>
          <p:nvPr/>
        </p:nvSpPr>
        <p:spPr>
          <a:xfrm>
            <a:off x="28779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LIVE WIP</a:t>
            </a:r>
            <a:endParaRPr lang="en-US" sz="750" dirty="0"/>
          </a:p>
        </p:txBody>
      </p:sp>
      <p:sp>
        <p:nvSpPr>
          <p:cNvPr id="8" name="Shape 6"/>
          <p:cNvSpPr/>
          <p:nvPr/>
        </p:nvSpPr>
        <p:spPr>
          <a:xfrm>
            <a:off x="4179722" y="256032"/>
            <a:ext cx="1228649" cy="310896"/>
          </a:xfrm>
          <a:prstGeom prst="roundRect">
            <a:avLst>
              <a:gd name="adj" fmla="val 17647"/>
            </a:avLst>
          </a:prstGeom>
          <a:solidFill>
            <a:srgbClr val="5EFFC1"/>
          </a:solidFill>
          <a:ln w="9525">
            <a:solidFill>
              <a:srgbClr val="5EFFC1"/>
            </a:solidFill>
            <a:prstDash val="solid"/>
          </a:ln>
        </p:spPr>
      </p:sp>
      <p:sp>
        <p:nvSpPr>
          <p:cNvPr id="9" name="Text 7">
            <a:hlinkClick r:id="rId4" tooltip="" action="ppaction://hlinksldjump"/>
          </p:cNvPr>
          <p:cNvSpPr/>
          <p:nvPr/>
        </p:nvSpPr>
        <p:spPr>
          <a:xfrm>
            <a:off x="4179722" y="256032"/>
            <a:ext cx="1228649" cy="310896"/>
          </a:xfrm>
          <a:prstGeom prst="rect">
            <a:avLst/>
          </a:prstGeom>
          <a:noFill/>
          <a:ln/>
        </p:spPr>
        <p:txBody>
          <a:bodyPr wrap="square" lIns="0" tIns="0" rIns="0" bIns="0" rtlCol="0" anchor="ctr"/>
          <a:lstStyle/>
          <a:p>
            <a:pPr algn="ctr" indent="0" marL="0">
              <a:buNone/>
            </a:pPr>
            <a:r>
              <a:rPr lang="en-US" sz="750" b="1" u="sng" spc="50" kern="0" dirty="0">
                <a:solidFill>
                  <a:srgbClr val="07120D"/>
                </a:solidFill>
                <a:latin typeface="Consolas" pitchFamily="34" charset="0"/>
                <a:ea typeface="Consolas" pitchFamily="34" charset="-122"/>
                <a:cs typeface="Consolas" pitchFamily="34" charset="-120"/>
                <a:hlinkClick r:id="rId4" action="ppaction://hlinksldjump" tooltip="">
                  <a:extLst>
                    <a:ext uri="{A12FA001-AC4F-418D-AE19-62706E023703}">
                      <ahyp:hlinkClr xmlns:ahyp="http://schemas.microsoft.com/office/drawing/2018/hyperlinkcolor" val="tx"/>
                    </a:ext>
                  </a:extLst>
                </a:hlinkClick>
              </a:rPr>
              <a:t>EXPLAINABILITY</a:t>
            </a:r>
            <a:endParaRPr lang="en-US" sz="750" dirty="0"/>
          </a:p>
        </p:txBody>
      </p:sp>
      <p:sp>
        <p:nvSpPr>
          <p:cNvPr id="10" name="Shape 8"/>
          <p:cNvSpPr/>
          <p:nvPr/>
        </p:nvSpPr>
        <p:spPr>
          <a:xfrm>
            <a:off x="5481523" y="256032"/>
            <a:ext cx="1228649" cy="310896"/>
          </a:xfrm>
          <a:prstGeom prst="roundRect">
            <a:avLst>
              <a:gd name="adj" fmla="val 17647"/>
            </a:avLst>
          </a:prstGeom>
          <a:solidFill>
            <a:srgbClr val="13232F"/>
          </a:solidFill>
          <a:ln w="9525">
            <a:solidFill>
              <a:srgbClr val="1A3A50"/>
            </a:solidFill>
            <a:prstDash val="solid"/>
          </a:ln>
        </p:spPr>
      </p:sp>
      <p:sp>
        <p:nvSpPr>
          <p:cNvPr id="11" name="Text 9">
            <a:hlinkClick r:id="rId5" tooltip="" action="ppaction://hlinksldjump"/>
          </p:cNvPr>
          <p:cNvSpPr/>
          <p:nvPr/>
        </p:nvSpPr>
        <p:spPr>
          <a:xfrm>
            <a:off x="5481523"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5" action="ppaction://hlinksldjump" tooltip="">
                  <a:extLst>
                    <a:ext uri="{A12FA001-AC4F-418D-AE19-62706E023703}">
                      <ahyp:hlinkClr xmlns:ahyp="http://schemas.microsoft.com/office/drawing/2018/hyperlinkcolor" val="tx"/>
                    </a:ext>
                  </a:extLst>
                </a:hlinkClick>
              </a:rPr>
              <a:t>CASE GOVERNANCE</a:t>
            </a:r>
            <a:endParaRPr lang="en-US" sz="750" dirty="0"/>
          </a:p>
        </p:txBody>
      </p:sp>
      <p:sp>
        <p:nvSpPr>
          <p:cNvPr id="12" name="Shape 10"/>
          <p:cNvSpPr/>
          <p:nvPr/>
        </p:nvSpPr>
        <p:spPr>
          <a:xfrm>
            <a:off x="6783324" y="256032"/>
            <a:ext cx="1228649" cy="310896"/>
          </a:xfrm>
          <a:prstGeom prst="roundRect">
            <a:avLst>
              <a:gd name="adj" fmla="val 17647"/>
            </a:avLst>
          </a:prstGeom>
          <a:solidFill>
            <a:srgbClr val="13232F"/>
          </a:solidFill>
          <a:ln w="9525">
            <a:solidFill>
              <a:srgbClr val="1A3A50"/>
            </a:solidFill>
            <a:prstDash val="solid"/>
          </a:ln>
        </p:spPr>
      </p:sp>
      <p:sp>
        <p:nvSpPr>
          <p:cNvPr id="13" name="Text 11">
            <a:hlinkClick r:id="rId6" tooltip="" action="ppaction://hlinksldjump"/>
          </p:cNvPr>
          <p:cNvSpPr/>
          <p:nvPr/>
        </p:nvSpPr>
        <p:spPr>
          <a:xfrm>
            <a:off x="6783324"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6" action="ppaction://hlinksldjump" tooltip="">
                  <a:extLst>
                    <a:ext uri="{A12FA001-AC4F-418D-AE19-62706E023703}">
                      <ahyp:hlinkClr xmlns:ahyp="http://schemas.microsoft.com/office/drawing/2018/hyperlinkcolor" val="tx"/>
                    </a:ext>
                  </a:extLst>
                </a:hlinkClick>
              </a:rPr>
              <a:t>DELIVERY PKG</a:t>
            </a:r>
            <a:endParaRPr lang="en-US" sz="750" dirty="0"/>
          </a:p>
        </p:txBody>
      </p:sp>
      <p:sp>
        <p:nvSpPr>
          <p:cNvPr id="14" name="Shape 12"/>
          <p:cNvSpPr/>
          <p:nvPr/>
        </p:nvSpPr>
        <p:spPr>
          <a:xfrm>
            <a:off x="8085125" y="256032"/>
            <a:ext cx="1228649" cy="310896"/>
          </a:xfrm>
          <a:prstGeom prst="roundRect">
            <a:avLst>
              <a:gd name="adj" fmla="val 17647"/>
            </a:avLst>
          </a:prstGeom>
          <a:solidFill>
            <a:srgbClr val="13232F"/>
          </a:solidFill>
          <a:ln w="9525">
            <a:solidFill>
              <a:srgbClr val="1A3A50"/>
            </a:solidFill>
            <a:prstDash val="solid"/>
          </a:ln>
        </p:spPr>
      </p:sp>
      <p:sp>
        <p:nvSpPr>
          <p:cNvPr id="15" name="Text 13">
            <a:hlinkClick r:id="rId7" tooltip="" action="ppaction://hlinksldjump"/>
          </p:cNvPr>
          <p:cNvSpPr/>
          <p:nvPr/>
        </p:nvSpPr>
        <p:spPr>
          <a:xfrm>
            <a:off x="8085125"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7" action="ppaction://hlinksldjump" tooltip="">
                  <a:extLst>
                    <a:ext uri="{A12FA001-AC4F-418D-AE19-62706E023703}">
                      <ahyp:hlinkClr xmlns:ahyp="http://schemas.microsoft.com/office/drawing/2018/hyperlinkcolor" val="tx"/>
                    </a:ext>
                  </a:extLst>
                </a:hlinkClick>
              </a:rPr>
              <a:t>ONE PLATFORM</a:t>
            </a:r>
            <a:endParaRPr lang="en-US" sz="750" dirty="0"/>
          </a:p>
        </p:txBody>
      </p:sp>
      <p:sp>
        <p:nvSpPr>
          <p:cNvPr id="16" name="Shape 14"/>
          <p:cNvSpPr/>
          <p:nvPr/>
        </p:nvSpPr>
        <p:spPr>
          <a:xfrm>
            <a:off x="9386926" y="256032"/>
            <a:ext cx="1228649" cy="310896"/>
          </a:xfrm>
          <a:prstGeom prst="roundRect">
            <a:avLst>
              <a:gd name="adj" fmla="val 17647"/>
            </a:avLst>
          </a:prstGeom>
          <a:solidFill>
            <a:srgbClr val="13232F"/>
          </a:solidFill>
          <a:ln w="9525">
            <a:solidFill>
              <a:srgbClr val="1A3A50"/>
            </a:solidFill>
            <a:prstDash val="solid"/>
          </a:ln>
        </p:spPr>
      </p:sp>
      <p:sp>
        <p:nvSpPr>
          <p:cNvPr id="17" name="Text 15">
            <a:hlinkClick r:id="rId8" tooltip="" action="ppaction://hlinksldjump"/>
          </p:cNvPr>
          <p:cNvSpPr/>
          <p:nvPr/>
        </p:nvSpPr>
        <p:spPr>
          <a:xfrm>
            <a:off x="93869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8" action="ppaction://hlinksldjump" tooltip="">
                  <a:extLst>
                    <a:ext uri="{A12FA001-AC4F-418D-AE19-62706E023703}">
                      <ahyp:hlinkClr xmlns:ahyp="http://schemas.microsoft.com/office/drawing/2018/hyperlinkcolor" val="tx"/>
                    </a:ext>
                  </a:extLst>
                </a:hlinkClick>
              </a:rPr>
              <a:t>LIVE DEMO</a:t>
            </a:r>
            <a:endParaRPr lang="en-US" sz="750" dirty="0"/>
          </a:p>
        </p:txBody>
      </p:sp>
      <p:sp>
        <p:nvSpPr>
          <p:cNvPr id="18" name="Shape 16"/>
          <p:cNvSpPr/>
          <p:nvPr/>
        </p:nvSpPr>
        <p:spPr>
          <a:xfrm>
            <a:off x="10688726" y="256032"/>
            <a:ext cx="1228649" cy="310896"/>
          </a:xfrm>
          <a:prstGeom prst="roundRect">
            <a:avLst>
              <a:gd name="adj" fmla="val 17647"/>
            </a:avLst>
          </a:prstGeom>
          <a:solidFill>
            <a:srgbClr val="13232F"/>
          </a:solidFill>
          <a:ln w="9525">
            <a:solidFill>
              <a:srgbClr val="1A3A50"/>
            </a:solidFill>
            <a:prstDash val="solid"/>
          </a:ln>
        </p:spPr>
      </p:sp>
      <p:sp>
        <p:nvSpPr>
          <p:cNvPr id="19" name="Text 17">
            <a:hlinkClick r:id="rId9" tooltip="" action="ppaction://hlinksldjump"/>
          </p:cNvPr>
          <p:cNvSpPr/>
          <p:nvPr/>
        </p:nvSpPr>
        <p:spPr>
          <a:xfrm>
            <a:off x="106887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9" action="ppaction://hlinksldjump" tooltip="">
                  <a:extLst>
                    <a:ext uri="{A12FA001-AC4F-418D-AE19-62706E023703}">
                      <ahyp:hlinkClr xmlns:ahyp="http://schemas.microsoft.com/office/drawing/2018/hyperlinkcolor" val="tx"/>
                    </a:ext>
                  </a:extLst>
                </a:hlinkClick>
              </a:rPr>
              <a:t>THE ASK</a:t>
            </a:r>
            <a:endParaRPr lang="en-US" sz="750" dirty="0"/>
          </a:p>
        </p:txBody>
      </p:sp>
      <p:sp>
        <p:nvSpPr>
          <p:cNvPr id="20" name="Text 18"/>
          <p:cNvSpPr/>
          <p:nvPr/>
        </p:nvSpPr>
        <p:spPr>
          <a:xfrm>
            <a:off x="548640" y="868680"/>
            <a:ext cx="7315200" cy="274320"/>
          </a:xfrm>
          <a:prstGeom prst="rect">
            <a:avLst/>
          </a:prstGeom>
          <a:noFill/>
          <a:ln/>
        </p:spPr>
        <p:txBody>
          <a:bodyPr wrap="square" lIns="0" tIns="0" rIns="0" bIns="0" rtlCol="0" anchor="ctr"/>
          <a:lstStyle/>
          <a:p>
            <a:pPr indent="0" marL="0">
              <a:buNone/>
            </a:pPr>
            <a:r>
              <a:rPr lang="en-US" sz="1100" b="1" spc="200" kern="0" dirty="0">
                <a:solidFill>
                  <a:srgbClr val="5EFFC1"/>
                </a:solidFill>
                <a:latin typeface="Consolas" pitchFamily="34" charset="0"/>
                <a:ea typeface="Consolas" pitchFamily="34" charset="-122"/>
                <a:cs typeface="Consolas" pitchFamily="34" charset="-120"/>
              </a:rPr>
              <a:t>WOW FEATURE 02</a:t>
            </a:r>
            <a:endParaRPr lang="en-US" sz="1100" dirty="0"/>
          </a:p>
        </p:txBody>
      </p:sp>
      <p:sp>
        <p:nvSpPr>
          <p:cNvPr id="21" name="Text 19"/>
          <p:cNvSpPr/>
          <p:nvPr/>
        </p:nvSpPr>
        <p:spPr>
          <a:xfrm>
            <a:off x="548640" y="1161288"/>
            <a:ext cx="10515600" cy="822960"/>
          </a:xfrm>
          <a:prstGeom prst="rect">
            <a:avLst/>
          </a:prstGeom>
          <a:noFill/>
          <a:ln/>
        </p:spPr>
        <p:txBody>
          <a:bodyPr wrap="square" lIns="0" tIns="0" rIns="0" bIns="0" rtlCol="0" anchor="ctr"/>
          <a:lstStyle/>
          <a:p>
            <a:pPr indent="0" marL="0">
              <a:buNone/>
            </a:pPr>
            <a:r>
              <a:rPr lang="en-US" sz="3000" b="1" dirty="0">
                <a:solidFill>
                  <a:srgbClr val="F2F6F8"/>
                </a:solidFill>
                <a:latin typeface="Arial" pitchFamily="34" charset="0"/>
                <a:ea typeface="Arial" pitchFamily="34" charset="-122"/>
                <a:cs typeface="Arial" pitchFamily="34" charset="-120"/>
              </a:rPr>
              <a:t>No Recommendation Ships</a:t>
            </a:r>
            <a:endParaRPr lang="en-US" sz="3000" dirty="0"/>
          </a:p>
          <a:p>
            <a:pPr indent="0" marL="0">
              <a:buNone/>
            </a:pPr>
            <a:r>
              <a:rPr lang="en-US" sz="3000" b="1" dirty="0">
                <a:solidFill>
                  <a:srgbClr val="F2F6F8"/>
                </a:solidFill>
                <a:latin typeface="Arial" pitchFamily="34" charset="0"/>
                <a:ea typeface="Arial" pitchFamily="34" charset="-122"/>
                <a:cs typeface="Arial" pitchFamily="34" charset="-120"/>
              </a:rPr>
              <a:t>Without Its Receipts</a:t>
            </a:r>
            <a:endParaRPr lang="en-US" sz="3000" dirty="0"/>
          </a:p>
        </p:txBody>
      </p:sp>
      <p:sp>
        <p:nvSpPr>
          <p:cNvPr id="22" name="Shape 20"/>
          <p:cNvSpPr/>
          <p:nvPr/>
        </p:nvSpPr>
        <p:spPr>
          <a:xfrm>
            <a:off x="548640" y="2148840"/>
            <a:ext cx="6583680" cy="3977640"/>
          </a:xfrm>
          <a:prstGeom prst="roundRect">
            <a:avLst>
              <a:gd name="adj" fmla="val 1839"/>
            </a:avLst>
          </a:prstGeom>
          <a:solidFill>
            <a:srgbClr val="0F1B26"/>
          </a:solidFill>
          <a:ln w="12700">
            <a:solidFill>
              <a:srgbClr val="1A3A50"/>
            </a:solidFill>
            <a:prstDash val="solid"/>
          </a:ln>
        </p:spPr>
      </p:sp>
      <p:sp>
        <p:nvSpPr>
          <p:cNvPr id="23" name="Text 21"/>
          <p:cNvSpPr/>
          <p:nvPr/>
        </p:nvSpPr>
        <p:spPr>
          <a:xfrm>
            <a:off x="822960" y="2350008"/>
            <a:ext cx="4572000" cy="274320"/>
          </a:xfrm>
          <a:prstGeom prst="rect">
            <a:avLst/>
          </a:prstGeom>
          <a:noFill/>
          <a:ln/>
        </p:spPr>
        <p:txBody>
          <a:bodyPr wrap="square" lIns="0" tIns="0" rIns="0" bIns="0" rtlCol="0" anchor="ctr"/>
          <a:lstStyle/>
          <a:p>
            <a:pPr indent="0" marL="0">
              <a:buNone/>
            </a:pPr>
            <a:r>
              <a:rPr lang="en-US" sz="1000" b="1" spc="150" kern="0" dirty="0">
                <a:solidFill>
                  <a:srgbClr val="7C93A3"/>
                </a:solidFill>
                <a:latin typeface="Consolas" pitchFamily="34" charset="0"/>
                <a:ea typeface="Consolas" pitchFamily="34" charset="-122"/>
                <a:cs typeface="Consolas" pitchFamily="34" charset="-120"/>
              </a:rPr>
              <a:t>EXPLAINABILITY</a:t>
            </a:r>
            <a:endParaRPr lang="en-US" sz="1000" dirty="0"/>
          </a:p>
        </p:txBody>
      </p:sp>
      <p:sp>
        <p:nvSpPr>
          <p:cNvPr id="24" name="Text 22"/>
          <p:cNvSpPr/>
          <p:nvPr/>
        </p:nvSpPr>
        <p:spPr>
          <a:xfrm>
            <a:off x="822960" y="2770632"/>
            <a:ext cx="1828800" cy="228600"/>
          </a:xfrm>
          <a:prstGeom prst="rect">
            <a:avLst/>
          </a:prstGeom>
          <a:noFill/>
          <a:ln/>
        </p:spPr>
        <p:txBody>
          <a:bodyPr wrap="square" lIns="0" tIns="0" rIns="0" bIns="0" rtlCol="0" anchor="ctr"/>
          <a:lstStyle/>
          <a:p>
            <a:pPr indent="0" marL="0">
              <a:buNone/>
            </a:pPr>
            <a:r>
              <a:rPr lang="en-US" sz="850" spc="100" kern="0" dirty="0">
                <a:solidFill>
                  <a:srgbClr val="4A6072"/>
                </a:solidFill>
                <a:latin typeface="Consolas" pitchFamily="34" charset="0"/>
                <a:ea typeface="Consolas" pitchFamily="34" charset="-122"/>
                <a:cs typeface="Consolas" pitchFamily="34" charset="-120"/>
              </a:rPr>
              <a:t>CONFIDENCE</a:t>
            </a:r>
            <a:endParaRPr lang="en-US" sz="850" dirty="0"/>
          </a:p>
        </p:txBody>
      </p:sp>
      <p:sp>
        <p:nvSpPr>
          <p:cNvPr id="25" name="Text 23"/>
          <p:cNvSpPr/>
          <p:nvPr/>
        </p:nvSpPr>
        <p:spPr>
          <a:xfrm>
            <a:off x="822960" y="2990088"/>
            <a:ext cx="1828800" cy="502920"/>
          </a:xfrm>
          <a:prstGeom prst="rect">
            <a:avLst/>
          </a:prstGeom>
          <a:noFill/>
          <a:ln/>
        </p:spPr>
        <p:txBody>
          <a:bodyPr wrap="square" lIns="0" tIns="0" rIns="0" bIns="0" rtlCol="0" anchor="ctr"/>
          <a:lstStyle/>
          <a:p>
            <a:pPr indent="0" marL="0">
              <a:buNone/>
            </a:pPr>
            <a:r>
              <a:rPr lang="en-US" sz="3000" b="1" dirty="0">
                <a:solidFill>
                  <a:srgbClr val="5EFFC1"/>
                </a:solidFill>
                <a:latin typeface="Consolas" pitchFamily="34" charset="0"/>
                <a:ea typeface="Consolas" pitchFamily="34" charset="-122"/>
                <a:cs typeface="Consolas" pitchFamily="34" charset="-120"/>
              </a:rPr>
              <a:t>87%</a:t>
            </a:r>
            <a:endParaRPr lang="en-US" sz="3000" dirty="0"/>
          </a:p>
        </p:txBody>
      </p:sp>
      <p:sp>
        <p:nvSpPr>
          <p:cNvPr id="26" name="Shape 24"/>
          <p:cNvSpPr/>
          <p:nvPr/>
        </p:nvSpPr>
        <p:spPr>
          <a:xfrm>
            <a:off x="2926080" y="2807208"/>
            <a:ext cx="0" cy="868680"/>
          </a:xfrm>
          <a:prstGeom prst="line">
            <a:avLst/>
          </a:prstGeom>
          <a:noFill/>
          <a:ln w="12700">
            <a:solidFill>
              <a:srgbClr val="1A3A50"/>
            </a:solidFill>
            <a:prstDash val="solid"/>
          </a:ln>
        </p:spPr>
      </p:sp>
      <p:sp>
        <p:nvSpPr>
          <p:cNvPr id="27" name="Text 25"/>
          <p:cNvSpPr/>
          <p:nvPr/>
        </p:nvSpPr>
        <p:spPr>
          <a:xfrm>
            <a:off x="3200400" y="2770632"/>
            <a:ext cx="2743200" cy="228600"/>
          </a:xfrm>
          <a:prstGeom prst="rect">
            <a:avLst/>
          </a:prstGeom>
          <a:noFill/>
          <a:ln/>
        </p:spPr>
        <p:txBody>
          <a:bodyPr wrap="square" lIns="0" tIns="0" rIns="0" bIns="0" rtlCol="0" anchor="ctr"/>
          <a:lstStyle/>
          <a:p>
            <a:pPr indent="0" marL="0">
              <a:buNone/>
            </a:pPr>
            <a:r>
              <a:rPr lang="en-US" sz="850" spc="100" kern="0" dirty="0">
                <a:solidFill>
                  <a:srgbClr val="4A6072"/>
                </a:solidFill>
                <a:latin typeface="Consolas" pitchFamily="34" charset="0"/>
                <a:ea typeface="Consolas" pitchFamily="34" charset="-122"/>
                <a:cs typeface="Consolas" pitchFamily="34" charset="-120"/>
              </a:rPr>
              <a:t>DATA SOURCES</a:t>
            </a:r>
            <a:endParaRPr lang="en-US" sz="850" dirty="0"/>
          </a:p>
        </p:txBody>
      </p:sp>
      <p:sp>
        <p:nvSpPr>
          <p:cNvPr id="28" name="Text 26"/>
          <p:cNvSpPr/>
          <p:nvPr/>
        </p:nvSpPr>
        <p:spPr>
          <a:xfrm>
            <a:off x="3200400" y="3017520"/>
            <a:ext cx="2377440" cy="237744"/>
          </a:xfrm>
          <a:prstGeom prst="rect">
            <a:avLst/>
          </a:prstGeom>
          <a:noFill/>
          <a:ln/>
        </p:spPr>
        <p:txBody>
          <a:bodyPr wrap="square" lIns="0" tIns="0" rIns="0" bIns="0" rtlCol="0" anchor="ctr"/>
          <a:lstStyle/>
          <a:p>
            <a:pPr indent="0" marL="0">
              <a:buNone/>
            </a:pPr>
            <a:r>
              <a:rPr lang="en-US" sz="950" dirty="0">
                <a:solidFill>
                  <a:srgbClr val="F2F6F8"/>
                </a:solidFill>
                <a:latin typeface="Arial" pitchFamily="34" charset="0"/>
                <a:ea typeface="Arial" pitchFamily="34" charset="-122"/>
                <a:cs typeface="Arial" pitchFamily="34" charset="-120"/>
              </a:rPr>
              <a:t>✓  Ticket history (90d)</a:t>
            </a:r>
            <a:endParaRPr lang="en-US" sz="950" dirty="0"/>
          </a:p>
        </p:txBody>
      </p:sp>
      <p:sp>
        <p:nvSpPr>
          <p:cNvPr id="29" name="Text 27"/>
          <p:cNvSpPr/>
          <p:nvPr/>
        </p:nvSpPr>
        <p:spPr>
          <a:xfrm>
            <a:off x="5669280" y="3017520"/>
            <a:ext cx="548640" cy="237744"/>
          </a:xfrm>
          <a:prstGeom prst="rect">
            <a:avLst/>
          </a:prstGeom>
          <a:noFill/>
          <a:ln/>
        </p:spPr>
        <p:txBody>
          <a:bodyPr wrap="square" lIns="0" tIns="0" rIns="0" bIns="0" rtlCol="0" anchor="ctr"/>
          <a:lstStyle/>
          <a:p>
            <a:pPr algn="r" indent="0" marL="0">
              <a:buNone/>
            </a:pPr>
            <a:r>
              <a:rPr lang="en-US" sz="900" dirty="0">
                <a:solidFill>
                  <a:srgbClr val="7C93A3"/>
                </a:solidFill>
                <a:latin typeface="Consolas" pitchFamily="34" charset="0"/>
                <a:ea typeface="Consolas" pitchFamily="34" charset="-122"/>
                <a:cs typeface="Consolas" pitchFamily="34" charset="-120"/>
              </a:rPr>
              <a:t>0.42</a:t>
            </a:r>
            <a:endParaRPr lang="en-US" sz="900" dirty="0"/>
          </a:p>
        </p:txBody>
      </p:sp>
      <p:sp>
        <p:nvSpPr>
          <p:cNvPr id="30" name="Text 28"/>
          <p:cNvSpPr/>
          <p:nvPr/>
        </p:nvSpPr>
        <p:spPr>
          <a:xfrm>
            <a:off x="3200400" y="3291840"/>
            <a:ext cx="2377440" cy="237744"/>
          </a:xfrm>
          <a:prstGeom prst="rect">
            <a:avLst/>
          </a:prstGeom>
          <a:noFill/>
          <a:ln/>
        </p:spPr>
        <p:txBody>
          <a:bodyPr wrap="square" lIns="0" tIns="0" rIns="0" bIns="0" rtlCol="0" anchor="ctr"/>
          <a:lstStyle/>
          <a:p>
            <a:pPr indent="0" marL="0">
              <a:buNone/>
            </a:pPr>
            <a:r>
              <a:rPr lang="en-US" sz="950" dirty="0">
                <a:solidFill>
                  <a:srgbClr val="F2F6F8"/>
                </a:solidFill>
                <a:latin typeface="Arial" pitchFamily="34" charset="0"/>
                <a:ea typeface="Arial" pitchFamily="34" charset="-122"/>
                <a:cs typeface="Arial" pitchFamily="34" charset="-120"/>
              </a:rPr>
              <a:t>✓  SLA compliance log</a:t>
            </a:r>
            <a:endParaRPr lang="en-US" sz="950" dirty="0"/>
          </a:p>
        </p:txBody>
      </p:sp>
      <p:sp>
        <p:nvSpPr>
          <p:cNvPr id="31" name="Text 29"/>
          <p:cNvSpPr/>
          <p:nvPr/>
        </p:nvSpPr>
        <p:spPr>
          <a:xfrm>
            <a:off x="5669280" y="3291840"/>
            <a:ext cx="548640" cy="237744"/>
          </a:xfrm>
          <a:prstGeom prst="rect">
            <a:avLst/>
          </a:prstGeom>
          <a:noFill/>
          <a:ln/>
        </p:spPr>
        <p:txBody>
          <a:bodyPr wrap="square" lIns="0" tIns="0" rIns="0" bIns="0" rtlCol="0" anchor="ctr"/>
          <a:lstStyle/>
          <a:p>
            <a:pPr algn="r" indent="0" marL="0">
              <a:buNone/>
            </a:pPr>
            <a:r>
              <a:rPr lang="en-US" sz="900" dirty="0">
                <a:solidFill>
                  <a:srgbClr val="7C93A3"/>
                </a:solidFill>
                <a:latin typeface="Consolas" pitchFamily="34" charset="0"/>
                <a:ea typeface="Consolas" pitchFamily="34" charset="-122"/>
                <a:cs typeface="Consolas" pitchFamily="34" charset="-120"/>
              </a:rPr>
              <a:t>0.31</a:t>
            </a:r>
            <a:endParaRPr lang="en-US" sz="900" dirty="0"/>
          </a:p>
        </p:txBody>
      </p:sp>
      <p:sp>
        <p:nvSpPr>
          <p:cNvPr id="32" name="Text 30"/>
          <p:cNvSpPr/>
          <p:nvPr/>
        </p:nvSpPr>
        <p:spPr>
          <a:xfrm>
            <a:off x="3200400" y="3566160"/>
            <a:ext cx="2377440" cy="237744"/>
          </a:xfrm>
          <a:prstGeom prst="rect">
            <a:avLst/>
          </a:prstGeom>
          <a:noFill/>
          <a:ln/>
        </p:spPr>
        <p:txBody>
          <a:bodyPr wrap="square" lIns="0" tIns="0" rIns="0" bIns="0" rtlCol="0" anchor="ctr"/>
          <a:lstStyle/>
          <a:p>
            <a:pPr indent="0" marL="0">
              <a:buNone/>
            </a:pPr>
            <a:r>
              <a:rPr lang="en-US" sz="950" dirty="0">
                <a:solidFill>
                  <a:srgbClr val="F2F6F8"/>
                </a:solidFill>
                <a:latin typeface="Arial" pitchFamily="34" charset="0"/>
                <a:ea typeface="Arial" pitchFamily="34" charset="-122"/>
                <a:cs typeface="Arial" pitchFamily="34" charset="-120"/>
              </a:rPr>
              <a:t>✓  Client contract terms</a:t>
            </a:r>
            <a:endParaRPr lang="en-US" sz="950" dirty="0"/>
          </a:p>
        </p:txBody>
      </p:sp>
      <p:sp>
        <p:nvSpPr>
          <p:cNvPr id="33" name="Text 31"/>
          <p:cNvSpPr/>
          <p:nvPr/>
        </p:nvSpPr>
        <p:spPr>
          <a:xfrm>
            <a:off x="5669280" y="3566160"/>
            <a:ext cx="548640" cy="237744"/>
          </a:xfrm>
          <a:prstGeom prst="rect">
            <a:avLst/>
          </a:prstGeom>
          <a:noFill/>
          <a:ln/>
        </p:spPr>
        <p:txBody>
          <a:bodyPr wrap="square" lIns="0" tIns="0" rIns="0" bIns="0" rtlCol="0" anchor="ctr"/>
          <a:lstStyle/>
          <a:p>
            <a:pPr algn="r" indent="0" marL="0">
              <a:buNone/>
            </a:pPr>
            <a:r>
              <a:rPr lang="en-US" sz="900" dirty="0">
                <a:solidFill>
                  <a:srgbClr val="7C93A3"/>
                </a:solidFill>
                <a:latin typeface="Consolas" pitchFamily="34" charset="0"/>
                <a:ea typeface="Consolas" pitchFamily="34" charset="-122"/>
                <a:cs typeface="Consolas" pitchFamily="34" charset="-120"/>
              </a:rPr>
              <a:t>0.27</a:t>
            </a:r>
            <a:endParaRPr lang="en-US" sz="900" dirty="0"/>
          </a:p>
        </p:txBody>
      </p:sp>
      <p:sp>
        <p:nvSpPr>
          <p:cNvPr id="34" name="Shape 32"/>
          <p:cNvSpPr/>
          <p:nvPr/>
        </p:nvSpPr>
        <p:spPr>
          <a:xfrm>
            <a:off x="822960" y="3931920"/>
            <a:ext cx="6035040" cy="0"/>
          </a:xfrm>
          <a:prstGeom prst="line">
            <a:avLst/>
          </a:prstGeom>
          <a:noFill/>
          <a:ln w="12700">
            <a:solidFill>
              <a:srgbClr val="1A3A50"/>
            </a:solidFill>
            <a:prstDash val="solid"/>
          </a:ln>
        </p:spPr>
      </p:sp>
      <p:sp>
        <p:nvSpPr>
          <p:cNvPr id="35" name="Text 33"/>
          <p:cNvSpPr/>
          <p:nvPr/>
        </p:nvSpPr>
        <p:spPr>
          <a:xfrm>
            <a:off x="822960" y="4069080"/>
            <a:ext cx="2743200" cy="228600"/>
          </a:xfrm>
          <a:prstGeom prst="rect">
            <a:avLst/>
          </a:prstGeom>
          <a:noFill/>
          <a:ln/>
        </p:spPr>
        <p:txBody>
          <a:bodyPr wrap="square" lIns="0" tIns="0" rIns="0" bIns="0" rtlCol="0" anchor="ctr"/>
          <a:lstStyle/>
          <a:p>
            <a:pPr indent="0" marL="0">
              <a:buNone/>
            </a:pPr>
            <a:r>
              <a:rPr lang="en-US" sz="850" spc="100" kern="0" dirty="0">
                <a:solidFill>
                  <a:srgbClr val="4A6072"/>
                </a:solidFill>
                <a:latin typeface="Consolas" pitchFamily="34" charset="0"/>
                <a:ea typeface="Consolas" pitchFamily="34" charset="-122"/>
                <a:cs typeface="Consolas" pitchFamily="34" charset="-120"/>
              </a:rPr>
              <a:t>REASONING</a:t>
            </a:r>
            <a:endParaRPr lang="en-US" sz="850" dirty="0"/>
          </a:p>
        </p:txBody>
      </p:sp>
      <p:sp>
        <p:nvSpPr>
          <p:cNvPr id="36" name="Text 34"/>
          <p:cNvSpPr/>
          <p:nvPr/>
        </p:nvSpPr>
        <p:spPr>
          <a:xfrm>
            <a:off x="822960" y="4343400"/>
            <a:ext cx="1828800" cy="320040"/>
          </a:xfrm>
          <a:prstGeom prst="rect">
            <a:avLst/>
          </a:prstGeom>
          <a:noFill/>
          <a:ln/>
        </p:spPr>
        <p:txBody>
          <a:bodyPr wrap="square" lIns="0" tIns="0" rIns="0" bIns="0" rtlCol="0" anchor="ctr"/>
          <a:lstStyle/>
          <a:p>
            <a:pPr indent="0" marL="0">
              <a:buNone/>
            </a:pPr>
            <a:r>
              <a:rPr lang="en-US" sz="1000" b="1" dirty="0">
                <a:solidFill>
                  <a:srgbClr val="00E5FF"/>
                </a:solidFill>
                <a:latin typeface="Arial" pitchFamily="34" charset="0"/>
                <a:ea typeface="Arial" pitchFamily="34" charset="-122"/>
                <a:cs typeface="Arial" pitchFamily="34" charset="-120"/>
              </a:rPr>
              <a:t>Escalation risk:</a:t>
            </a:r>
            <a:endParaRPr lang="en-US" sz="1000" dirty="0"/>
          </a:p>
        </p:txBody>
      </p:sp>
      <p:sp>
        <p:nvSpPr>
          <p:cNvPr id="37" name="Text 35"/>
          <p:cNvSpPr/>
          <p:nvPr/>
        </p:nvSpPr>
        <p:spPr>
          <a:xfrm>
            <a:off x="2697480" y="4343400"/>
            <a:ext cx="4160520" cy="320040"/>
          </a:xfrm>
          <a:prstGeom prst="rect">
            <a:avLst/>
          </a:prstGeom>
          <a:noFill/>
          <a:ln/>
        </p:spPr>
        <p:txBody>
          <a:bodyPr wrap="square" lIns="0" tIns="0" rIns="0" bIns="0" rtlCol="0" anchor="ctr"/>
          <a:lstStyle/>
          <a:p>
            <a:pPr indent="0" marL="0">
              <a:buNone/>
            </a:pPr>
            <a:r>
              <a:rPr lang="en-US" sz="1000" dirty="0">
                <a:solidFill>
                  <a:srgbClr val="F2F6F8"/>
                </a:solidFill>
                <a:latin typeface="Arial" pitchFamily="34" charset="0"/>
                <a:ea typeface="Arial" pitchFamily="34" charset="-122"/>
                <a:cs typeface="Arial" pitchFamily="34" charset="-120"/>
              </a:rPr>
              <a:t>3 similar tickets breached SLA last cycle</a:t>
            </a:r>
            <a:endParaRPr lang="en-US" sz="1000" dirty="0"/>
          </a:p>
        </p:txBody>
      </p:sp>
      <p:sp>
        <p:nvSpPr>
          <p:cNvPr id="38" name="Text 36"/>
          <p:cNvSpPr/>
          <p:nvPr/>
        </p:nvSpPr>
        <p:spPr>
          <a:xfrm>
            <a:off x="822960" y="4800600"/>
            <a:ext cx="1828800" cy="320040"/>
          </a:xfrm>
          <a:prstGeom prst="rect">
            <a:avLst/>
          </a:prstGeom>
          <a:noFill/>
          <a:ln/>
        </p:spPr>
        <p:txBody>
          <a:bodyPr wrap="square" lIns="0" tIns="0" rIns="0" bIns="0" rtlCol="0" anchor="ctr"/>
          <a:lstStyle/>
          <a:p>
            <a:pPr indent="0" marL="0">
              <a:buNone/>
            </a:pPr>
            <a:r>
              <a:rPr lang="en-US" sz="1000" b="1" dirty="0">
                <a:solidFill>
                  <a:srgbClr val="00E5FF"/>
                </a:solidFill>
                <a:latin typeface="Arial" pitchFamily="34" charset="0"/>
                <a:ea typeface="Arial" pitchFamily="34" charset="-122"/>
                <a:cs typeface="Arial" pitchFamily="34" charset="-120"/>
              </a:rPr>
              <a:t>Contract clause:</a:t>
            </a:r>
            <a:endParaRPr lang="en-US" sz="1000" dirty="0"/>
          </a:p>
        </p:txBody>
      </p:sp>
      <p:sp>
        <p:nvSpPr>
          <p:cNvPr id="39" name="Text 37"/>
          <p:cNvSpPr/>
          <p:nvPr/>
        </p:nvSpPr>
        <p:spPr>
          <a:xfrm>
            <a:off x="2697480" y="4800600"/>
            <a:ext cx="4160520" cy="320040"/>
          </a:xfrm>
          <a:prstGeom prst="rect">
            <a:avLst/>
          </a:prstGeom>
          <a:noFill/>
          <a:ln/>
        </p:spPr>
        <p:txBody>
          <a:bodyPr wrap="square" lIns="0" tIns="0" rIns="0" bIns="0" rtlCol="0" anchor="ctr"/>
          <a:lstStyle/>
          <a:p>
            <a:pPr indent="0" marL="0">
              <a:buNone/>
            </a:pPr>
            <a:r>
              <a:rPr lang="en-US" sz="1000" dirty="0">
                <a:solidFill>
                  <a:srgbClr val="F2F6F8"/>
                </a:solidFill>
                <a:latin typeface="Arial" pitchFamily="34" charset="0"/>
                <a:ea typeface="Arial" pitchFamily="34" charset="-122"/>
                <a:cs typeface="Arial" pitchFamily="34" charset="-120"/>
              </a:rPr>
              <a:t>Tier-2 response required within 4h</a:t>
            </a:r>
            <a:endParaRPr lang="en-US" sz="1000" dirty="0"/>
          </a:p>
        </p:txBody>
      </p:sp>
      <p:sp>
        <p:nvSpPr>
          <p:cNvPr id="40" name="Text 38"/>
          <p:cNvSpPr/>
          <p:nvPr/>
        </p:nvSpPr>
        <p:spPr>
          <a:xfrm>
            <a:off x="822960" y="5257800"/>
            <a:ext cx="1828800" cy="320040"/>
          </a:xfrm>
          <a:prstGeom prst="rect">
            <a:avLst/>
          </a:prstGeom>
          <a:noFill/>
          <a:ln/>
        </p:spPr>
        <p:txBody>
          <a:bodyPr wrap="square" lIns="0" tIns="0" rIns="0" bIns="0" rtlCol="0" anchor="ctr"/>
          <a:lstStyle/>
          <a:p>
            <a:pPr indent="0" marL="0">
              <a:buNone/>
            </a:pPr>
            <a:r>
              <a:rPr lang="en-US" sz="1000" b="1" dirty="0">
                <a:solidFill>
                  <a:srgbClr val="00E5FF"/>
                </a:solidFill>
                <a:latin typeface="Arial" pitchFamily="34" charset="0"/>
                <a:ea typeface="Arial" pitchFamily="34" charset="-122"/>
                <a:cs typeface="Arial" pitchFamily="34" charset="-120"/>
              </a:rPr>
              <a:t>Recommended action:</a:t>
            </a:r>
            <a:endParaRPr lang="en-US" sz="1000" dirty="0"/>
          </a:p>
        </p:txBody>
      </p:sp>
      <p:sp>
        <p:nvSpPr>
          <p:cNvPr id="41" name="Text 39"/>
          <p:cNvSpPr/>
          <p:nvPr/>
        </p:nvSpPr>
        <p:spPr>
          <a:xfrm>
            <a:off x="2697480" y="5257800"/>
            <a:ext cx="4160520" cy="320040"/>
          </a:xfrm>
          <a:prstGeom prst="rect">
            <a:avLst/>
          </a:prstGeom>
          <a:noFill/>
          <a:ln/>
        </p:spPr>
        <p:txBody>
          <a:bodyPr wrap="square" lIns="0" tIns="0" rIns="0" bIns="0" rtlCol="0" anchor="ctr"/>
          <a:lstStyle/>
          <a:p>
            <a:pPr indent="0" marL="0">
              <a:buNone/>
            </a:pPr>
            <a:r>
              <a:rPr lang="en-US" sz="1000" dirty="0">
                <a:solidFill>
                  <a:srgbClr val="F2F6F8"/>
                </a:solidFill>
                <a:latin typeface="Arial" pitchFamily="34" charset="0"/>
                <a:ea typeface="Arial" pitchFamily="34" charset="-122"/>
                <a:cs typeface="Arial" pitchFamily="34" charset="-120"/>
              </a:rPr>
              <a:t>Auto-escalate to L2, notify account lead</a:t>
            </a:r>
            <a:endParaRPr lang="en-US" sz="1000" dirty="0"/>
          </a:p>
        </p:txBody>
      </p:sp>
      <p:sp>
        <p:nvSpPr>
          <p:cNvPr id="42" name="Text 40"/>
          <p:cNvSpPr/>
          <p:nvPr/>
        </p:nvSpPr>
        <p:spPr>
          <a:xfrm>
            <a:off x="7452360" y="2286000"/>
            <a:ext cx="4114800" cy="365760"/>
          </a:xfrm>
          <a:prstGeom prst="rect">
            <a:avLst/>
          </a:prstGeom>
          <a:noFill/>
          <a:ln/>
        </p:spPr>
        <p:txBody>
          <a:bodyPr wrap="square" lIns="0" tIns="0" rIns="0" bIns="0" rtlCol="0" anchor="ctr"/>
          <a:lstStyle/>
          <a:p>
            <a:pPr indent="0" marL="0">
              <a:buNone/>
            </a:pPr>
            <a:r>
              <a:rPr lang="en-US" sz="1600" b="1" dirty="0">
                <a:solidFill>
                  <a:srgbClr val="F2F6F8"/>
                </a:solidFill>
                <a:latin typeface="Arial" pitchFamily="34" charset="0"/>
                <a:ea typeface="Arial" pitchFamily="34" charset="-122"/>
                <a:cs typeface="Arial" pitchFamily="34" charset="-120"/>
              </a:rPr>
              <a:t>If confidence isn't real, it says so</a:t>
            </a:r>
            <a:endParaRPr lang="en-US" sz="1600" dirty="0"/>
          </a:p>
        </p:txBody>
      </p:sp>
      <p:sp>
        <p:nvSpPr>
          <p:cNvPr id="43" name="Shape 41"/>
          <p:cNvSpPr/>
          <p:nvPr/>
        </p:nvSpPr>
        <p:spPr>
          <a:xfrm>
            <a:off x="7452360" y="2862072"/>
            <a:ext cx="82296" cy="82296"/>
          </a:xfrm>
          <a:prstGeom prst="ellipse">
            <a:avLst/>
          </a:prstGeom>
          <a:solidFill>
            <a:srgbClr val="5EFFC1"/>
          </a:solidFill>
          <a:ln/>
        </p:spPr>
      </p:sp>
      <p:sp>
        <p:nvSpPr>
          <p:cNvPr id="44" name="Text 42"/>
          <p:cNvSpPr/>
          <p:nvPr/>
        </p:nvSpPr>
        <p:spPr>
          <a:xfrm>
            <a:off x="7680960" y="2715768"/>
            <a:ext cx="3840480" cy="868680"/>
          </a:xfrm>
          <a:prstGeom prst="rect">
            <a:avLst/>
          </a:prstGeom>
          <a:noFill/>
          <a:ln/>
        </p:spPr>
        <p:txBody>
          <a:bodyPr wrap="square" lIns="0" tIns="0" rIns="0" bIns="0" rtlCol="0" anchor="t"/>
          <a:lstStyle/>
          <a:p>
            <a:pPr indent="0" marL="0">
              <a:lnSpc>
                <a:spcPct val="125000"/>
              </a:lnSpc>
              <a:buNone/>
            </a:pPr>
            <a:r>
              <a:rPr lang="en-US" sz="1100" dirty="0">
                <a:solidFill>
                  <a:srgbClr val="7C93A3"/>
                </a:solidFill>
                <a:latin typeface="Arial" pitchFamily="34" charset="0"/>
                <a:ea typeface="Arial" pitchFamily="34" charset="-122"/>
                <a:cs typeface="Arial" pitchFamily="34" charset="-120"/>
              </a:rPr>
              <a:t>When a case has no defaulted-confidence fallback, the panel shows the real number — never a smoothed-over guess.</a:t>
            </a:r>
            <a:endParaRPr lang="en-US" sz="1100" dirty="0"/>
          </a:p>
        </p:txBody>
      </p:sp>
      <p:sp>
        <p:nvSpPr>
          <p:cNvPr id="45" name="Shape 43"/>
          <p:cNvSpPr/>
          <p:nvPr/>
        </p:nvSpPr>
        <p:spPr>
          <a:xfrm>
            <a:off x="7452360" y="3822192"/>
            <a:ext cx="82296" cy="82296"/>
          </a:xfrm>
          <a:prstGeom prst="ellipse">
            <a:avLst/>
          </a:prstGeom>
          <a:solidFill>
            <a:srgbClr val="5EFFC1"/>
          </a:solidFill>
          <a:ln/>
        </p:spPr>
      </p:sp>
      <p:sp>
        <p:nvSpPr>
          <p:cNvPr id="46" name="Text 44"/>
          <p:cNvSpPr/>
          <p:nvPr/>
        </p:nvSpPr>
        <p:spPr>
          <a:xfrm>
            <a:off x="7680960" y="3675888"/>
            <a:ext cx="3840480" cy="868680"/>
          </a:xfrm>
          <a:prstGeom prst="rect">
            <a:avLst/>
          </a:prstGeom>
          <a:noFill/>
          <a:ln/>
        </p:spPr>
        <p:txBody>
          <a:bodyPr wrap="square" lIns="0" tIns="0" rIns="0" bIns="0" rtlCol="0" anchor="t"/>
          <a:lstStyle/>
          <a:p>
            <a:pPr indent="0" marL="0">
              <a:lnSpc>
                <a:spcPct val="125000"/>
              </a:lnSpc>
              <a:buNone/>
            </a:pPr>
            <a:r>
              <a:rPr lang="en-US" sz="1100" dirty="0">
                <a:solidFill>
                  <a:srgbClr val="7C93A3"/>
                </a:solidFill>
                <a:latin typeface="Arial" pitchFamily="34" charset="0"/>
                <a:ea typeface="Arial" pitchFamily="34" charset="-122"/>
                <a:cs typeface="Arial" pitchFamily="34" charset="-120"/>
              </a:rPr>
              <a:t>Every data source carries its actual weight in the decision, not a generic “AI analyzed your data” line.</a:t>
            </a:r>
            <a:endParaRPr lang="en-US" sz="1100" dirty="0"/>
          </a:p>
        </p:txBody>
      </p:sp>
      <p:sp>
        <p:nvSpPr>
          <p:cNvPr id="47" name="Shape 45"/>
          <p:cNvSpPr/>
          <p:nvPr/>
        </p:nvSpPr>
        <p:spPr>
          <a:xfrm>
            <a:off x="7452360" y="4782312"/>
            <a:ext cx="82296" cy="82296"/>
          </a:xfrm>
          <a:prstGeom prst="ellipse">
            <a:avLst/>
          </a:prstGeom>
          <a:solidFill>
            <a:srgbClr val="5EFFC1"/>
          </a:solidFill>
          <a:ln/>
        </p:spPr>
      </p:sp>
      <p:sp>
        <p:nvSpPr>
          <p:cNvPr id="48" name="Text 46"/>
          <p:cNvSpPr/>
          <p:nvPr/>
        </p:nvSpPr>
        <p:spPr>
          <a:xfrm>
            <a:off x="7680960" y="4636008"/>
            <a:ext cx="3840480" cy="868680"/>
          </a:xfrm>
          <a:prstGeom prst="rect">
            <a:avLst/>
          </a:prstGeom>
          <a:noFill/>
          <a:ln/>
        </p:spPr>
        <p:txBody>
          <a:bodyPr wrap="square" lIns="0" tIns="0" rIns="0" bIns="0" rtlCol="0" anchor="t"/>
          <a:lstStyle/>
          <a:p>
            <a:pPr indent="0" marL="0">
              <a:lnSpc>
                <a:spcPct val="125000"/>
              </a:lnSpc>
              <a:buNone/>
            </a:pPr>
            <a:r>
              <a:rPr lang="en-US" sz="1100" dirty="0">
                <a:solidFill>
                  <a:srgbClr val="7C93A3"/>
                </a:solidFill>
                <a:latin typeface="Arial" pitchFamily="34" charset="0"/>
                <a:ea typeface="Arial" pitchFamily="34" charset="-122"/>
                <a:cs typeface="Arial" pitchFamily="34" charset="-120"/>
              </a:rPr>
              <a:t>Reasoning is structured key/value, not prose — an auditor can scan it in seconds, not read a paragraph.</a:t>
            </a:r>
            <a:endParaRPr lang="en-US" sz="1100" dirty="0"/>
          </a:p>
        </p:txBody>
      </p:sp>
      <p:sp>
        <p:nvSpPr>
          <p:cNvPr id="49" name="Text 47"/>
          <p:cNvSpPr/>
          <p:nvPr/>
        </p:nvSpPr>
        <p:spPr>
          <a:xfrm>
            <a:off x="548640" y="6528816"/>
            <a:ext cx="4572000" cy="256032"/>
          </a:xfrm>
          <a:prstGeom prst="rect">
            <a:avLst/>
          </a:prstGeom>
          <a:noFill/>
          <a:ln/>
        </p:spPr>
        <p:txBody>
          <a:bodyPr wrap="square" lIns="0" tIns="0" rIns="0" bIns="0" rtlCol="0" anchor="ctr"/>
          <a:lstStyle/>
          <a:p>
            <a:pPr indent="0" marL="0">
              <a:buNone/>
            </a:pPr>
            <a:r>
              <a:rPr lang="en-US" sz="800" spc="100" kern="0" dirty="0">
                <a:solidFill>
                  <a:srgbClr val="4A6072"/>
                </a:solidFill>
                <a:latin typeface="Consolas" pitchFamily="34" charset="0"/>
                <a:ea typeface="Consolas" pitchFamily="34" charset="-122"/>
                <a:cs typeface="Consolas" pitchFamily="34" charset="-120"/>
              </a:rPr>
              <a:t>TSM BPO EXECUTIVE PORTAL</a:t>
            </a:r>
            <a:endParaRPr lang="en-US" sz="800" dirty="0"/>
          </a:p>
        </p:txBody>
      </p:sp>
      <p:sp>
        <p:nvSpPr>
          <p:cNvPr id="50" name="Text 48"/>
          <p:cNvSpPr/>
          <p:nvPr/>
        </p:nvSpPr>
        <p:spPr>
          <a:xfrm>
            <a:off x="11185855" y="6528816"/>
            <a:ext cx="457200" cy="256032"/>
          </a:xfrm>
          <a:prstGeom prst="rect">
            <a:avLst/>
          </a:prstGeom>
          <a:noFill/>
          <a:ln/>
        </p:spPr>
        <p:txBody>
          <a:bodyPr wrap="square" lIns="0" tIns="0" rIns="0" bIns="0" rtlCol="0" anchor="ctr"/>
          <a:lstStyle/>
          <a:p>
            <a:pPr algn="r" indent="0" marL="0">
              <a:buNone/>
            </a:pPr>
            <a:r>
              <a:rPr lang="en-US" sz="800" dirty="0">
                <a:solidFill>
                  <a:srgbClr val="4A6072"/>
                </a:solidFill>
                <a:latin typeface="Consolas" pitchFamily="34" charset="0"/>
                <a:ea typeface="Consolas" pitchFamily="34" charset="-122"/>
                <a:cs typeface="Consolas"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1A"/>
        </a:solidFill>
      </p:bgPr>
    </p:bg>
    <p:spTree>
      <p:nvGrpSpPr>
        <p:cNvPr id="1" name=""/>
        <p:cNvGrpSpPr/>
        <p:nvPr/>
      </p:nvGrpSpPr>
      <p:grpSpPr>
        <a:xfrm>
          <a:off x="0" y="0"/>
          <a:ext cx="0" cy="0"/>
          <a:chOff x="0" y="0"/>
          <a:chExt cx="0" cy="0"/>
        </a:xfrm>
      </p:grpSpPr>
      <p:sp>
        <p:nvSpPr>
          <p:cNvPr id="2" name="Shape 0"/>
          <p:cNvSpPr/>
          <p:nvPr/>
        </p:nvSpPr>
        <p:spPr>
          <a:xfrm>
            <a:off x="274320" y="256032"/>
            <a:ext cx="1228649" cy="310896"/>
          </a:xfrm>
          <a:prstGeom prst="roundRect">
            <a:avLst>
              <a:gd name="adj" fmla="val 17647"/>
            </a:avLst>
          </a:prstGeom>
          <a:solidFill>
            <a:srgbClr val="13232F"/>
          </a:solidFill>
          <a:ln w="9525">
            <a:solidFill>
              <a:srgbClr val="1A3A50"/>
            </a:solidFill>
            <a:prstDash val="solid"/>
          </a:ln>
        </p:spPr>
      </p:sp>
      <p:sp>
        <p:nvSpPr>
          <p:cNvPr id="3" name="Text 1">
            <a:hlinkClick r:id="rId1" tooltip="" action="ppaction://hlinksldjump"/>
          </p:cNvPr>
          <p:cNvSpPr/>
          <p:nvPr/>
        </p:nvSpPr>
        <p:spPr>
          <a:xfrm>
            <a:off x="274320"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1" action="ppaction://hlinksldjump" tooltip="">
                  <a:extLst>
                    <a:ext uri="{A12FA001-AC4F-418D-AE19-62706E023703}">
                      <ahyp:hlinkClr xmlns:ahyp="http://schemas.microsoft.com/office/drawing/2018/hyperlinkcolor" val="tx"/>
                    </a:ext>
                  </a:extLst>
                </a:hlinkClick>
              </a:rPr>
              <a:t>AGENDA</a:t>
            </a:r>
            <a:endParaRPr lang="en-US" sz="750" dirty="0"/>
          </a:p>
        </p:txBody>
      </p:sp>
      <p:sp>
        <p:nvSpPr>
          <p:cNvPr id="4" name="Shape 2"/>
          <p:cNvSpPr/>
          <p:nvPr/>
        </p:nvSpPr>
        <p:spPr>
          <a:xfrm>
            <a:off x="1576121" y="256032"/>
            <a:ext cx="1228649" cy="310896"/>
          </a:xfrm>
          <a:prstGeom prst="roundRect">
            <a:avLst>
              <a:gd name="adj" fmla="val 17647"/>
            </a:avLst>
          </a:prstGeom>
          <a:solidFill>
            <a:srgbClr val="13232F"/>
          </a:solidFill>
          <a:ln w="9525">
            <a:solidFill>
              <a:srgbClr val="1A3A50"/>
            </a:solidFill>
            <a:prstDash val="solid"/>
          </a:ln>
        </p:spPr>
      </p:sp>
      <p:sp>
        <p:nvSpPr>
          <p:cNvPr id="5" name="Text 3">
            <a:hlinkClick r:id="rId2" tooltip="" action="ppaction://hlinksldjump"/>
          </p:cNvPr>
          <p:cNvSpPr/>
          <p:nvPr/>
        </p:nvSpPr>
        <p:spPr>
          <a:xfrm>
            <a:off x="1576121"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THE PROBLEM</a:t>
            </a:r>
            <a:endParaRPr lang="en-US" sz="750" dirty="0"/>
          </a:p>
        </p:txBody>
      </p:sp>
      <p:sp>
        <p:nvSpPr>
          <p:cNvPr id="6" name="Shape 4"/>
          <p:cNvSpPr/>
          <p:nvPr/>
        </p:nvSpPr>
        <p:spPr>
          <a:xfrm>
            <a:off x="2877922" y="256032"/>
            <a:ext cx="1228649" cy="310896"/>
          </a:xfrm>
          <a:prstGeom prst="roundRect">
            <a:avLst>
              <a:gd name="adj" fmla="val 17647"/>
            </a:avLst>
          </a:prstGeom>
          <a:solidFill>
            <a:srgbClr val="13232F"/>
          </a:solidFill>
          <a:ln w="9525">
            <a:solidFill>
              <a:srgbClr val="1A3A50"/>
            </a:solidFill>
            <a:prstDash val="solid"/>
          </a:ln>
        </p:spPr>
      </p:sp>
      <p:sp>
        <p:nvSpPr>
          <p:cNvPr id="7" name="Text 5">
            <a:hlinkClick r:id="rId3" tooltip="" action="ppaction://hlinksldjump"/>
          </p:cNvPr>
          <p:cNvSpPr/>
          <p:nvPr/>
        </p:nvSpPr>
        <p:spPr>
          <a:xfrm>
            <a:off x="28779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LIVE WIP</a:t>
            </a:r>
            <a:endParaRPr lang="en-US" sz="750" dirty="0"/>
          </a:p>
        </p:txBody>
      </p:sp>
      <p:sp>
        <p:nvSpPr>
          <p:cNvPr id="8" name="Shape 6"/>
          <p:cNvSpPr/>
          <p:nvPr/>
        </p:nvSpPr>
        <p:spPr>
          <a:xfrm>
            <a:off x="4179722" y="256032"/>
            <a:ext cx="1228649" cy="310896"/>
          </a:xfrm>
          <a:prstGeom prst="roundRect">
            <a:avLst>
              <a:gd name="adj" fmla="val 17647"/>
            </a:avLst>
          </a:prstGeom>
          <a:solidFill>
            <a:srgbClr val="13232F"/>
          </a:solidFill>
          <a:ln w="9525">
            <a:solidFill>
              <a:srgbClr val="1A3A50"/>
            </a:solidFill>
            <a:prstDash val="solid"/>
          </a:ln>
        </p:spPr>
      </p:sp>
      <p:sp>
        <p:nvSpPr>
          <p:cNvPr id="9" name="Text 7">
            <a:hlinkClick r:id="rId4" tooltip="" action="ppaction://hlinksldjump"/>
          </p:cNvPr>
          <p:cNvSpPr/>
          <p:nvPr/>
        </p:nvSpPr>
        <p:spPr>
          <a:xfrm>
            <a:off x="41797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4" action="ppaction://hlinksldjump" tooltip="">
                  <a:extLst>
                    <a:ext uri="{A12FA001-AC4F-418D-AE19-62706E023703}">
                      <ahyp:hlinkClr xmlns:ahyp="http://schemas.microsoft.com/office/drawing/2018/hyperlinkcolor" val="tx"/>
                    </a:ext>
                  </a:extLst>
                </a:hlinkClick>
              </a:rPr>
              <a:t>EXPLAINABILITY</a:t>
            </a:r>
            <a:endParaRPr lang="en-US" sz="750" dirty="0"/>
          </a:p>
        </p:txBody>
      </p:sp>
      <p:sp>
        <p:nvSpPr>
          <p:cNvPr id="10" name="Shape 8"/>
          <p:cNvSpPr/>
          <p:nvPr/>
        </p:nvSpPr>
        <p:spPr>
          <a:xfrm>
            <a:off x="5481523" y="256032"/>
            <a:ext cx="1228649" cy="310896"/>
          </a:xfrm>
          <a:prstGeom prst="roundRect">
            <a:avLst>
              <a:gd name="adj" fmla="val 17647"/>
            </a:avLst>
          </a:prstGeom>
          <a:solidFill>
            <a:srgbClr val="5EFFC1"/>
          </a:solidFill>
          <a:ln w="9525">
            <a:solidFill>
              <a:srgbClr val="5EFFC1"/>
            </a:solidFill>
            <a:prstDash val="solid"/>
          </a:ln>
        </p:spPr>
      </p:sp>
      <p:sp>
        <p:nvSpPr>
          <p:cNvPr id="11" name="Text 9">
            <a:hlinkClick r:id="rId5" tooltip="" action="ppaction://hlinksldjump"/>
          </p:cNvPr>
          <p:cNvSpPr/>
          <p:nvPr/>
        </p:nvSpPr>
        <p:spPr>
          <a:xfrm>
            <a:off x="5481523" y="256032"/>
            <a:ext cx="1228649" cy="310896"/>
          </a:xfrm>
          <a:prstGeom prst="rect">
            <a:avLst/>
          </a:prstGeom>
          <a:noFill/>
          <a:ln/>
        </p:spPr>
        <p:txBody>
          <a:bodyPr wrap="square" lIns="0" tIns="0" rIns="0" bIns="0" rtlCol="0" anchor="ctr"/>
          <a:lstStyle/>
          <a:p>
            <a:pPr algn="ctr" indent="0" marL="0">
              <a:buNone/>
            </a:pPr>
            <a:r>
              <a:rPr lang="en-US" sz="750" b="1" u="sng" spc="50" kern="0" dirty="0">
                <a:solidFill>
                  <a:srgbClr val="07120D"/>
                </a:solidFill>
                <a:latin typeface="Consolas" pitchFamily="34" charset="0"/>
                <a:ea typeface="Consolas" pitchFamily="34" charset="-122"/>
                <a:cs typeface="Consolas" pitchFamily="34" charset="-120"/>
                <a:hlinkClick r:id="rId5" action="ppaction://hlinksldjump" tooltip="">
                  <a:extLst>
                    <a:ext uri="{A12FA001-AC4F-418D-AE19-62706E023703}">
                      <ahyp:hlinkClr xmlns:ahyp="http://schemas.microsoft.com/office/drawing/2018/hyperlinkcolor" val="tx"/>
                    </a:ext>
                  </a:extLst>
                </a:hlinkClick>
              </a:rPr>
              <a:t>CASE GOVERNANCE</a:t>
            </a:r>
            <a:endParaRPr lang="en-US" sz="750" dirty="0"/>
          </a:p>
        </p:txBody>
      </p:sp>
      <p:sp>
        <p:nvSpPr>
          <p:cNvPr id="12" name="Shape 10"/>
          <p:cNvSpPr/>
          <p:nvPr/>
        </p:nvSpPr>
        <p:spPr>
          <a:xfrm>
            <a:off x="6783324" y="256032"/>
            <a:ext cx="1228649" cy="310896"/>
          </a:xfrm>
          <a:prstGeom prst="roundRect">
            <a:avLst>
              <a:gd name="adj" fmla="val 17647"/>
            </a:avLst>
          </a:prstGeom>
          <a:solidFill>
            <a:srgbClr val="13232F"/>
          </a:solidFill>
          <a:ln w="9525">
            <a:solidFill>
              <a:srgbClr val="1A3A50"/>
            </a:solidFill>
            <a:prstDash val="solid"/>
          </a:ln>
        </p:spPr>
      </p:sp>
      <p:sp>
        <p:nvSpPr>
          <p:cNvPr id="13" name="Text 11">
            <a:hlinkClick r:id="rId6" tooltip="" action="ppaction://hlinksldjump"/>
          </p:cNvPr>
          <p:cNvSpPr/>
          <p:nvPr/>
        </p:nvSpPr>
        <p:spPr>
          <a:xfrm>
            <a:off x="6783324"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6" action="ppaction://hlinksldjump" tooltip="">
                  <a:extLst>
                    <a:ext uri="{A12FA001-AC4F-418D-AE19-62706E023703}">
                      <ahyp:hlinkClr xmlns:ahyp="http://schemas.microsoft.com/office/drawing/2018/hyperlinkcolor" val="tx"/>
                    </a:ext>
                  </a:extLst>
                </a:hlinkClick>
              </a:rPr>
              <a:t>DELIVERY PKG</a:t>
            </a:r>
            <a:endParaRPr lang="en-US" sz="750" dirty="0"/>
          </a:p>
        </p:txBody>
      </p:sp>
      <p:sp>
        <p:nvSpPr>
          <p:cNvPr id="14" name="Shape 12"/>
          <p:cNvSpPr/>
          <p:nvPr/>
        </p:nvSpPr>
        <p:spPr>
          <a:xfrm>
            <a:off x="8085125" y="256032"/>
            <a:ext cx="1228649" cy="310896"/>
          </a:xfrm>
          <a:prstGeom prst="roundRect">
            <a:avLst>
              <a:gd name="adj" fmla="val 17647"/>
            </a:avLst>
          </a:prstGeom>
          <a:solidFill>
            <a:srgbClr val="13232F"/>
          </a:solidFill>
          <a:ln w="9525">
            <a:solidFill>
              <a:srgbClr val="1A3A50"/>
            </a:solidFill>
            <a:prstDash val="solid"/>
          </a:ln>
        </p:spPr>
      </p:sp>
      <p:sp>
        <p:nvSpPr>
          <p:cNvPr id="15" name="Text 13">
            <a:hlinkClick r:id="rId7" tooltip="" action="ppaction://hlinksldjump"/>
          </p:cNvPr>
          <p:cNvSpPr/>
          <p:nvPr/>
        </p:nvSpPr>
        <p:spPr>
          <a:xfrm>
            <a:off x="8085125"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7" action="ppaction://hlinksldjump" tooltip="">
                  <a:extLst>
                    <a:ext uri="{A12FA001-AC4F-418D-AE19-62706E023703}">
                      <ahyp:hlinkClr xmlns:ahyp="http://schemas.microsoft.com/office/drawing/2018/hyperlinkcolor" val="tx"/>
                    </a:ext>
                  </a:extLst>
                </a:hlinkClick>
              </a:rPr>
              <a:t>ONE PLATFORM</a:t>
            </a:r>
            <a:endParaRPr lang="en-US" sz="750" dirty="0"/>
          </a:p>
        </p:txBody>
      </p:sp>
      <p:sp>
        <p:nvSpPr>
          <p:cNvPr id="16" name="Shape 14"/>
          <p:cNvSpPr/>
          <p:nvPr/>
        </p:nvSpPr>
        <p:spPr>
          <a:xfrm>
            <a:off x="9386926" y="256032"/>
            <a:ext cx="1228649" cy="310896"/>
          </a:xfrm>
          <a:prstGeom prst="roundRect">
            <a:avLst>
              <a:gd name="adj" fmla="val 17647"/>
            </a:avLst>
          </a:prstGeom>
          <a:solidFill>
            <a:srgbClr val="13232F"/>
          </a:solidFill>
          <a:ln w="9525">
            <a:solidFill>
              <a:srgbClr val="1A3A50"/>
            </a:solidFill>
            <a:prstDash val="solid"/>
          </a:ln>
        </p:spPr>
      </p:sp>
      <p:sp>
        <p:nvSpPr>
          <p:cNvPr id="17" name="Text 15">
            <a:hlinkClick r:id="rId8" tooltip="" action="ppaction://hlinksldjump"/>
          </p:cNvPr>
          <p:cNvSpPr/>
          <p:nvPr/>
        </p:nvSpPr>
        <p:spPr>
          <a:xfrm>
            <a:off x="93869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8" action="ppaction://hlinksldjump" tooltip="">
                  <a:extLst>
                    <a:ext uri="{A12FA001-AC4F-418D-AE19-62706E023703}">
                      <ahyp:hlinkClr xmlns:ahyp="http://schemas.microsoft.com/office/drawing/2018/hyperlinkcolor" val="tx"/>
                    </a:ext>
                  </a:extLst>
                </a:hlinkClick>
              </a:rPr>
              <a:t>LIVE DEMO</a:t>
            </a:r>
            <a:endParaRPr lang="en-US" sz="750" dirty="0"/>
          </a:p>
        </p:txBody>
      </p:sp>
      <p:sp>
        <p:nvSpPr>
          <p:cNvPr id="18" name="Shape 16"/>
          <p:cNvSpPr/>
          <p:nvPr/>
        </p:nvSpPr>
        <p:spPr>
          <a:xfrm>
            <a:off x="10688726" y="256032"/>
            <a:ext cx="1228649" cy="310896"/>
          </a:xfrm>
          <a:prstGeom prst="roundRect">
            <a:avLst>
              <a:gd name="adj" fmla="val 17647"/>
            </a:avLst>
          </a:prstGeom>
          <a:solidFill>
            <a:srgbClr val="13232F"/>
          </a:solidFill>
          <a:ln w="9525">
            <a:solidFill>
              <a:srgbClr val="1A3A50"/>
            </a:solidFill>
            <a:prstDash val="solid"/>
          </a:ln>
        </p:spPr>
      </p:sp>
      <p:sp>
        <p:nvSpPr>
          <p:cNvPr id="19" name="Text 17">
            <a:hlinkClick r:id="rId9" tooltip="" action="ppaction://hlinksldjump"/>
          </p:cNvPr>
          <p:cNvSpPr/>
          <p:nvPr/>
        </p:nvSpPr>
        <p:spPr>
          <a:xfrm>
            <a:off x="106887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9" action="ppaction://hlinksldjump" tooltip="">
                  <a:extLst>
                    <a:ext uri="{A12FA001-AC4F-418D-AE19-62706E023703}">
                      <ahyp:hlinkClr xmlns:ahyp="http://schemas.microsoft.com/office/drawing/2018/hyperlinkcolor" val="tx"/>
                    </a:ext>
                  </a:extLst>
                </a:hlinkClick>
              </a:rPr>
              <a:t>THE ASK</a:t>
            </a:r>
            <a:endParaRPr lang="en-US" sz="750" dirty="0"/>
          </a:p>
        </p:txBody>
      </p:sp>
      <p:sp>
        <p:nvSpPr>
          <p:cNvPr id="20" name="Text 18"/>
          <p:cNvSpPr/>
          <p:nvPr/>
        </p:nvSpPr>
        <p:spPr>
          <a:xfrm>
            <a:off x="548640" y="868680"/>
            <a:ext cx="7315200" cy="274320"/>
          </a:xfrm>
          <a:prstGeom prst="rect">
            <a:avLst/>
          </a:prstGeom>
          <a:noFill/>
          <a:ln/>
        </p:spPr>
        <p:txBody>
          <a:bodyPr wrap="square" lIns="0" tIns="0" rIns="0" bIns="0" rtlCol="0" anchor="ctr"/>
          <a:lstStyle/>
          <a:p>
            <a:pPr indent="0" marL="0">
              <a:buNone/>
            </a:pPr>
            <a:r>
              <a:rPr lang="en-US" sz="1100" b="1" spc="200" kern="0" dirty="0">
                <a:solidFill>
                  <a:srgbClr val="5EFFC1"/>
                </a:solidFill>
                <a:latin typeface="Consolas" pitchFamily="34" charset="0"/>
                <a:ea typeface="Consolas" pitchFamily="34" charset="-122"/>
                <a:cs typeface="Consolas" pitchFamily="34" charset="-120"/>
              </a:rPr>
              <a:t>WOW FEATURE 03</a:t>
            </a:r>
            <a:endParaRPr lang="en-US" sz="1100" dirty="0"/>
          </a:p>
        </p:txBody>
      </p:sp>
      <p:sp>
        <p:nvSpPr>
          <p:cNvPr id="21" name="Text 19"/>
          <p:cNvSpPr/>
          <p:nvPr/>
        </p:nvSpPr>
        <p:spPr>
          <a:xfrm>
            <a:off x="548640" y="1161288"/>
            <a:ext cx="10515600" cy="822960"/>
          </a:xfrm>
          <a:prstGeom prst="rect">
            <a:avLst/>
          </a:prstGeom>
          <a:noFill/>
          <a:ln/>
        </p:spPr>
        <p:txBody>
          <a:bodyPr wrap="square" lIns="0" tIns="0" rIns="0" bIns="0" rtlCol="0" anchor="ctr"/>
          <a:lstStyle/>
          <a:p>
            <a:pPr indent="0" marL="0">
              <a:buNone/>
            </a:pPr>
            <a:r>
              <a:rPr lang="en-US" sz="3000" b="1" dirty="0">
                <a:solidFill>
                  <a:srgbClr val="F2F6F8"/>
                </a:solidFill>
                <a:latin typeface="Arial" pitchFamily="34" charset="0"/>
                <a:ea typeface="Arial" pitchFamily="34" charset="-122"/>
                <a:cs typeface="Arial" pitchFamily="34" charset="-120"/>
              </a:rPr>
              <a:t>Every Exception Becomes</a:t>
            </a:r>
            <a:endParaRPr lang="en-US" sz="3000" dirty="0"/>
          </a:p>
          <a:p>
            <a:pPr indent="0" marL="0">
              <a:buNone/>
            </a:pPr>
            <a:r>
              <a:rPr lang="en-US" sz="3000" b="1" dirty="0">
                <a:solidFill>
                  <a:srgbClr val="F2F6F8"/>
                </a:solidFill>
                <a:latin typeface="Arial" pitchFamily="34" charset="0"/>
                <a:ea typeface="Arial" pitchFamily="34" charset="-122"/>
                <a:cs typeface="Arial" pitchFamily="34" charset="-120"/>
              </a:rPr>
              <a:t>an Auditable Case — Automatically</a:t>
            </a:r>
            <a:endParaRPr lang="en-US" sz="3000" dirty="0"/>
          </a:p>
        </p:txBody>
      </p:sp>
      <p:sp>
        <p:nvSpPr>
          <p:cNvPr id="22" name="Shape 20"/>
          <p:cNvSpPr/>
          <p:nvPr/>
        </p:nvSpPr>
        <p:spPr>
          <a:xfrm>
            <a:off x="548640" y="2331720"/>
            <a:ext cx="2514600" cy="1417320"/>
          </a:xfrm>
          <a:prstGeom prst="roundRect">
            <a:avLst>
              <a:gd name="adj" fmla="val 5161"/>
            </a:avLst>
          </a:prstGeom>
          <a:solidFill>
            <a:srgbClr val="0F1B26"/>
          </a:solidFill>
          <a:ln w="15875">
            <a:solidFill>
              <a:srgbClr val="FF6B6B"/>
            </a:solidFill>
            <a:prstDash val="solid"/>
          </a:ln>
        </p:spPr>
      </p:sp>
      <p:sp>
        <p:nvSpPr>
          <p:cNvPr id="23" name="Shape 21"/>
          <p:cNvSpPr/>
          <p:nvPr/>
        </p:nvSpPr>
        <p:spPr>
          <a:xfrm>
            <a:off x="731520" y="2514600"/>
            <a:ext cx="128016" cy="128016"/>
          </a:xfrm>
          <a:prstGeom prst="roundRect">
            <a:avLst>
              <a:gd name="adj" fmla="val 50000"/>
            </a:avLst>
          </a:prstGeom>
          <a:solidFill>
            <a:srgbClr val="FF6B6B"/>
          </a:solidFill>
          <a:ln/>
        </p:spPr>
      </p:sp>
      <p:sp>
        <p:nvSpPr>
          <p:cNvPr id="24" name="Text 22"/>
          <p:cNvSpPr/>
          <p:nvPr/>
        </p:nvSpPr>
        <p:spPr>
          <a:xfrm>
            <a:off x="731520" y="2697480"/>
            <a:ext cx="2148840" cy="594360"/>
          </a:xfrm>
          <a:prstGeom prst="rect">
            <a:avLst/>
          </a:prstGeom>
          <a:noFill/>
          <a:ln/>
        </p:spPr>
        <p:txBody>
          <a:bodyPr wrap="square" lIns="0" tIns="0" rIns="0" bIns="0" rtlCol="0" anchor="ctr"/>
          <a:lstStyle/>
          <a:p>
            <a:pPr indent="0" marL="0">
              <a:lnSpc>
                <a:spcPct val="105000"/>
              </a:lnSpc>
              <a:buNone/>
            </a:pPr>
            <a:r>
              <a:rPr lang="en-US" sz="1250" b="1" spc="50" kern="0" dirty="0">
                <a:solidFill>
                  <a:srgbClr val="F2F6F8"/>
                </a:solidFill>
                <a:latin typeface="Consolas" pitchFamily="34" charset="0"/>
                <a:ea typeface="Consolas" pitchFamily="34" charset="-122"/>
                <a:cs typeface="Consolas" pitchFamily="34" charset="-120"/>
              </a:rPr>
              <a:t>EXCEPTION</a:t>
            </a:r>
            <a:endParaRPr lang="en-US" sz="1250" dirty="0"/>
          </a:p>
          <a:p>
            <a:pPr indent="0" marL="0">
              <a:lnSpc>
                <a:spcPct val="105000"/>
              </a:lnSpc>
              <a:buNone/>
            </a:pPr>
            <a:r>
              <a:rPr lang="en-US" sz="1250" b="1" spc="50" kern="0" dirty="0">
                <a:solidFill>
                  <a:srgbClr val="F2F6F8"/>
                </a:solidFill>
                <a:latin typeface="Consolas" pitchFamily="34" charset="0"/>
                <a:ea typeface="Consolas" pitchFamily="34" charset="-122"/>
                <a:cs typeface="Consolas" pitchFamily="34" charset="-120"/>
              </a:rPr>
              <a:t>DETECTED</a:t>
            </a:r>
            <a:endParaRPr lang="en-US" sz="1250" dirty="0"/>
          </a:p>
        </p:txBody>
      </p:sp>
      <p:sp>
        <p:nvSpPr>
          <p:cNvPr id="25" name="Text 23"/>
          <p:cNvSpPr/>
          <p:nvPr/>
        </p:nvSpPr>
        <p:spPr>
          <a:xfrm>
            <a:off x="3063240" y="2788920"/>
            <a:ext cx="256032" cy="457200"/>
          </a:xfrm>
          <a:prstGeom prst="rect">
            <a:avLst/>
          </a:prstGeom>
          <a:noFill/>
          <a:ln/>
        </p:spPr>
        <p:txBody>
          <a:bodyPr wrap="square" lIns="0" tIns="0" rIns="0" bIns="0" rtlCol="0" anchor="ctr"/>
          <a:lstStyle/>
          <a:p>
            <a:pPr algn="ctr" indent="0" marL="0">
              <a:buNone/>
            </a:pPr>
            <a:r>
              <a:rPr lang="en-US" sz="1800" dirty="0">
                <a:solidFill>
                  <a:srgbClr val="4A6072"/>
                </a:solidFill>
                <a:latin typeface="Arial" pitchFamily="34" charset="0"/>
                <a:ea typeface="Arial" pitchFamily="34" charset="-122"/>
                <a:cs typeface="Arial" pitchFamily="34" charset="-120"/>
              </a:rPr>
              <a:t>→</a:t>
            </a:r>
            <a:endParaRPr lang="en-US" sz="1800" dirty="0"/>
          </a:p>
        </p:txBody>
      </p:sp>
      <p:sp>
        <p:nvSpPr>
          <p:cNvPr id="26" name="Shape 24"/>
          <p:cNvSpPr/>
          <p:nvPr/>
        </p:nvSpPr>
        <p:spPr>
          <a:xfrm>
            <a:off x="3319272" y="2331720"/>
            <a:ext cx="2514600" cy="1417320"/>
          </a:xfrm>
          <a:prstGeom prst="roundRect">
            <a:avLst>
              <a:gd name="adj" fmla="val 5161"/>
            </a:avLst>
          </a:prstGeom>
          <a:solidFill>
            <a:srgbClr val="0F1B26"/>
          </a:solidFill>
          <a:ln w="15875">
            <a:solidFill>
              <a:srgbClr val="FFB74D"/>
            </a:solidFill>
            <a:prstDash val="solid"/>
          </a:ln>
        </p:spPr>
      </p:sp>
      <p:sp>
        <p:nvSpPr>
          <p:cNvPr id="27" name="Shape 25"/>
          <p:cNvSpPr/>
          <p:nvPr/>
        </p:nvSpPr>
        <p:spPr>
          <a:xfrm>
            <a:off x="3502152" y="2514600"/>
            <a:ext cx="128016" cy="128016"/>
          </a:xfrm>
          <a:prstGeom prst="roundRect">
            <a:avLst>
              <a:gd name="adj" fmla="val 50000"/>
            </a:avLst>
          </a:prstGeom>
          <a:solidFill>
            <a:srgbClr val="FFB74D"/>
          </a:solidFill>
          <a:ln/>
        </p:spPr>
      </p:sp>
      <p:sp>
        <p:nvSpPr>
          <p:cNvPr id="28" name="Text 26"/>
          <p:cNvSpPr/>
          <p:nvPr/>
        </p:nvSpPr>
        <p:spPr>
          <a:xfrm>
            <a:off x="3502152" y="2697480"/>
            <a:ext cx="2148840" cy="594360"/>
          </a:xfrm>
          <a:prstGeom prst="rect">
            <a:avLst/>
          </a:prstGeom>
          <a:noFill/>
          <a:ln/>
        </p:spPr>
        <p:txBody>
          <a:bodyPr wrap="square" lIns="0" tIns="0" rIns="0" bIns="0" rtlCol="0" anchor="ctr"/>
          <a:lstStyle/>
          <a:p>
            <a:pPr indent="0" marL="0">
              <a:lnSpc>
                <a:spcPct val="105000"/>
              </a:lnSpc>
              <a:buNone/>
            </a:pPr>
            <a:r>
              <a:rPr lang="en-US" sz="1250" b="1" spc="50" kern="0" dirty="0">
                <a:solidFill>
                  <a:srgbClr val="F2F6F8"/>
                </a:solidFill>
                <a:latin typeface="Consolas" pitchFamily="34" charset="0"/>
                <a:ea typeface="Consolas" pitchFamily="34" charset="-122"/>
                <a:cs typeface="Consolas" pitchFamily="34" charset="-120"/>
              </a:rPr>
              <a:t>CASE</a:t>
            </a:r>
            <a:endParaRPr lang="en-US" sz="1250" dirty="0"/>
          </a:p>
          <a:p>
            <a:pPr indent="0" marL="0">
              <a:lnSpc>
                <a:spcPct val="105000"/>
              </a:lnSpc>
              <a:buNone/>
            </a:pPr>
            <a:r>
              <a:rPr lang="en-US" sz="1250" b="1" spc="50" kern="0" dirty="0">
                <a:solidFill>
                  <a:srgbClr val="F2F6F8"/>
                </a:solidFill>
                <a:latin typeface="Consolas" pitchFamily="34" charset="0"/>
                <a:ea typeface="Consolas" pitchFamily="34" charset="-122"/>
                <a:cs typeface="Consolas" pitchFamily="34" charset="-120"/>
              </a:rPr>
              <a:t>AUTO-CREATED</a:t>
            </a:r>
            <a:endParaRPr lang="en-US" sz="1250" dirty="0"/>
          </a:p>
        </p:txBody>
      </p:sp>
      <p:sp>
        <p:nvSpPr>
          <p:cNvPr id="29" name="Text 27"/>
          <p:cNvSpPr/>
          <p:nvPr/>
        </p:nvSpPr>
        <p:spPr>
          <a:xfrm>
            <a:off x="5833872" y="2788920"/>
            <a:ext cx="256032" cy="457200"/>
          </a:xfrm>
          <a:prstGeom prst="rect">
            <a:avLst/>
          </a:prstGeom>
          <a:noFill/>
          <a:ln/>
        </p:spPr>
        <p:txBody>
          <a:bodyPr wrap="square" lIns="0" tIns="0" rIns="0" bIns="0" rtlCol="0" anchor="ctr"/>
          <a:lstStyle/>
          <a:p>
            <a:pPr algn="ctr" indent="0" marL="0">
              <a:buNone/>
            </a:pPr>
            <a:r>
              <a:rPr lang="en-US" sz="1800" dirty="0">
                <a:solidFill>
                  <a:srgbClr val="4A6072"/>
                </a:solidFill>
                <a:latin typeface="Arial" pitchFamily="34" charset="0"/>
                <a:ea typeface="Arial" pitchFamily="34" charset="-122"/>
                <a:cs typeface="Arial" pitchFamily="34" charset="-120"/>
              </a:rPr>
              <a:t>→</a:t>
            </a:r>
            <a:endParaRPr lang="en-US" sz="1800" dirty="0"/>
          </a:p>
        </p:txBody>
      </p:sp>
      <p:sp>
        <p:nvSpPr>
          <p:cNvPr id="30" name="Shape 28"/>
          <p:cNvSpPr/>
          <p:nvPr/>
        </p:nvSpPr>
        <p:spPr>
          <a:xfrm>
            <a:off x="6089904" y="2331720"/>
            <a:ext cx="2514600" cy="1417320"/>
          </a:xfrm>
          <a:prstGeom prst="roundRect">
            <a:avLst>
              <a:gd name="adj" fmla="val 5161"/>
            </a:avLst>
          </a:prstGeom>
          <a:solidFill>
            <a:srgbClr val="0F1B26"/>
          </a:solidFill>
          <a:ln w="15875">
            <a:solidFill>
              <a:srgbClr val="00E5FF"/>
            </a:solidFill>
            <a:prstDash val="solid"/>
          </a:ln>
        </p:spPr>
      </p:sp>
      <p:sp>
        <p:nvSpPr>
          <p:cNvPr id="31" name="Shape 29"/>
          <p:cNvSpPr/>
          <p:nvPr/>
        </p:nvSpPr>
        <p:spPr>
          <a:xfrm>
            <a:off x="6272784" y="2514600"/>
            <a:ext cx="128016" cy="128016"/>
          </a:xfrm>
          <a:prstGeom prst="roundRect">
            <a:avLst>
              <a:gd name="adj" fmla="val 50000"/>
            </a:avLst>
          </a:prstGeom>
          <a:solidFill>
            <a:srgbClr val="00E5FF"/>
          </a:solidFill>
          <a:ln/>
        </p:spPr>
      </p:sp>
      <p:sp>
        <p:nvSpPr>
          <p:cNvPr id="32" name="Text 30"/>
          <p:cNvSpPr/>
          <p:nvPr/>
        </p:nvSpPr>
        <p:spPr>
          <a:xfrm>
            <a:off x="6272784" y="2697480"/>
            <a:ext cx="2148840" cy="594360"/>
          </a:xfrm>
          <a:prstGeom prst="rect">
            <a:avLst/>
          </a:prstGeom>
          <a:noFill/>
          <a:ln/>
        </p:spPr>
        <p:txBody>
          <a:bodyPr wrap="square" lIns="0" tIns="0" rIns="0" bIns="0" rtlCol="0" anchor="ctr"/>
          <a:lstStyle/>
          <a:p>
            <a:pPr indent="0" marL="0">
              <a:lnSpc>
                <a:spcPct val="105000"/>
              </a:lnSpc>
              <a:buNone/>
            </a:pPr>
            <a:r>
              <a:rPr lang="en-US" sz="1250" b="1" spc="50" kern="0" dirty="0">
                <a:solidFill>
                  <a:srgbClr val="F2F6F8"/>
                </a:solidFill>
                <a:latin typeface="Consolas" pitchFamily="34" charset="0"/>
                <a:ea typeface="Consolas" pitchFamily="34" charset="-122"/>
                <a:cs typeface="Consolas" pitchFamily="34" charset="-120"/>
              </a:rPr>
              <a:t>APPROVAL</a:t>
            </a:r>
            <a:endParaRPr lang="en-US" sz="1250" dirty="0"/>
          </a:p>
          <a:p>
            <a:pPr indent="0" marL="0">
              <a:lnSpc>
                <a:spcPct val="105000"/>
              </a:lnSpc>
              <a:buNone/>
            </a:pPr>
            <a:r>
              <a:rPr lang="en-US" sz="1250" b="1" spc="50" kern="0" dirty="0">
                <a:solidFill>
                  <a:srgbClr val="F2F6F8"/>
                </a:solidFill>
                <a:latin typeface="Consolas" pitchFamily="34" charset="0"/>
                <a:ea typeface="Consolas" pitchFamily="34" charset="-122"/>
                <a:cs typeface="Consolas" pitchFamily="34" charset="-120"/>
              </a:rPr>
              <a:t>REQUESTED</a:t>
            </a:r>
            <a:endParaRPr lang="en-US" sz="1250" dirty="0"/>
          </a:p>
        </p:txBody>
      </p:sp>
      <p:sp>
        <p:nvSpPr>
          <p:cNvPr id="33" name="Text 31"/>
          <p:cNvSpPr/>
          <p:nvPr/>
        </p:nvSpPr>
        <p:spPr>
          <a:xfrm>
            <a:off x="8604504" y="2788920"/>
            <a:ext cx="256032" cy="457200"/>
          </a:xfrm>
          <a:prstGeom prst="rect">
            <a:avLst/>
          </a:prstGeom>
          <a:noFill/>
          <a:ln/>
        </p:spPr>
        <p:txBody>
          <a:bodyPr wrap="square" lIns="0" tIns="0" rIns="0" bIns="0" rtlCol="0" anchor="ctr"/>
          <a:lstStyle/>
          <a:p>
            <a:pPr algn="ctr" indent="0" marL="0">
              <a:buNone/>
            </a:pPr>
            <a:r>
              <a:rPr lang="en-US" sz="1800" dirty="0">
                <a:solidFill>
                  <a:srgbClr val="4A6072"/>
                </a:solidFill>
                <a:latin typeface="Arial" pitchFamily="34" charset="0"/>
                <a:ea typeface="Arial" pitchFamily="34" charset="-122"/>
                <a:cs typeface="Arial" pitchFamily="34" charset="-120"/>
              </a:rPr>
              <a:t>→</a:t>
            </a:r>
            <a:endParaRPr lang="en-US" sz="1800" dirty="0"/>
          </a:p>
        </p:txBody>
      </p:sp>
      <p:sp>
        <p:nvSpPr>
          <p:cNvPr id="34" name="Shape 32"/>
          <p:cNvSpPr/>
          <p:nvPr/>
        </p:nvSpPr>
        <p:spPr>
          <a:xfrm>
            <a:off x="8860536" y="2331720"/>
            <a:ext cx="2514600" cy="1417320"/>
          </a:xfrm>
          <a:prstGeom prst="roundRect">
            <a:avLst>
              <a:gd name="adj" fmla="val 5161"/>
            </a:avLst>
          </a:prstGeom>
          <a:solidFill>
            <a:srgbClr val="0F1B26"/>
          </a:solidFill>
          <a:ln w="15875">
            <a:solidFill>
              <a:srgbClr val="5EFFC1"/>
            </a:solidFill>
            <a:prstDash val="solid"/>
          </a:ln>
        </p:spPr>
      </p:sp>
      <p:sp>
        <p:nvSpPr>
          <p:cNvPr id="35" name="Shape 33"/>
          <p:cNvSpPr/>
          <p:nvPr/>
        </p:nvSpPr>
        <p:spPr>
          <a:xfrm>
            <a:off x="9043416" y="2514600"/>
            <a:ext cx="128016" cy="128016"/>
          </a:xfrm>
          <a:prstGeom prst="roundRect">
            <a:avLst>
              <a:gd name="adj" fmla="val 50000"/>
            </a:avLst>
          </a:prstGeom>
          <a:solidFill>
            <a:srgbClr val="5EFFC1"/>
          </a:solidFill>
          <a:ln/>
        </p:spPr>
      </p:sp>
      <p:sp>
        <p:nvSpPr>
          <p:cNvPr id="36" name="Text 34"/>
          <p:cNvSpPr/>
          <p:nvPr/>
        </p:nvSpPr>
        <p:spPr>
          <a:xfrm>
            <a:off x="9043416" y="2697480"/>
            <a:ext cx="2148840" cy="594360"/>
          </a:xfrm>
          <a:prstGeom prst="rect">
            <a:avLst/>
          </a:prstGeom>
          <a:noFill/>
          <a:ln/>
        </p:spPr>
        <p:txBody>
          <a:bodyPr wrap="square" lIns="0" tIns="0" rIns="0" bIns="0" rtlCol="0" anchor="ctr"/>
          <a:lstStyle/>
          <a:p>
            <a:pPr indent="0" marL="0">
              <a:lnSpc>
                <a:spcPct val="105000"/>
              </a:lnSpc>
              <a:buNone/>
            </a:pPr>
            <a:r>
              <a:rPr lang="en-US" sz="1250" b="1" spc="50" kern="0" dirty="0">
                <a:solidFill>
                  <a:srgbClr val="F2F6F8"/>
                </a:solidFill>
                <a:latin typeface="Consolas" pitchFamily="34" charset="0"/>
                <a:ea typeface="Consolas" pitchFamily="34" charset="-122"/>
                <a:cs typeface="Consolas" pitchFamily="34" charset="-120"/>
              </a:rPr>
              <a:t>NAMED</a:t>
            </a:r>
            <a:endParaRPr lang="en-US" sz="1250" dirty="0"/>
          </a:p>
          <a:p>
            <a:pPr indent="0" marL="0">
              <a:lnSpc>
                <a:spcPct val="105000"/>
              </a:lnSpc>
              <a:buNone/>
            </a:pPr>
            <a:r>
              <a:rPr lang="en-US" sz="1250" b="1" spc="50" kern="0" dirty="0">
                <a:solidFill>
                  <a:srgbClr val="F2F6F8"/>
                </a:solidFill>
                <a:latin typeface="Consolas" pitchFamily="34" charset="0"/>
                <a:ea typeface="Consolas" pitchFamily="34" charset="-122"/>
                <a:cs typeface="Consolas" pitchFamily="34" charset="-120"/>
              </a:rPr>
              <a:t>SIGN-OFF</a:t>
            </a:r>
            <a:endParaRPr lang="en-US" sz="1250" dirty="0"/>
          </a:p>
        </p:txBody>
      </p:sp>
      <p:sp>
        <p:nvSpPr>
          <p:cNvPr id="37" name="Text 35"/>
          <p:cNvSpPr/>
          <p:nvPr/>
        </p:nvSpPr>
        <p:spPr>
          <a:xfrm>
            <a:off x="548640" y="4023360"/>
            <a:ext cx="2514600" cy="1005840"/>
          </a:xfrm>
          <a:prstGeom prst="rect">
            <a:avLst/>
          </a:prstGeom>
          <a:noFill/>
          <a:ln/>
        </p:spPr>
        <p:txBody>
          <a:bodyPr wrap="square" lIns="0" tIns="0" rIns="0" bIns="0" rtlCol="0" anchor="ctr"/>
          <a:lstStyle/>
          <a:p>
            <a:pPr indent="0" marL="0">
              <a:lnSpc>
                <a:spcPct val="125000"/>
              </a:lnSpc>
              <a:buNone/>
            </a:pPr>
            <a:r>
              <a:rPr lang="en-US" sz="950" dirty="0">
                <a:solidFill>
                  <a:srgbClr val="7C93A3"/>
                </a:solidFill>
                <a:latin typeface="Arial" pitchFamily="34" charset="0"/>
                <a:ea typeface="Arial" pitchFamily="34" charset="-122"/>
                <a:cs typeface="Arial" pitchFamily="34" charset="-120"/>
              </a:rPr>
              <a:t>Escalation trigger fires from the strategist's live recommendation</a:t>
            </a:r>
            <a:endParaRPr lang="en-US" sz="950" dirty="0"/>
          </a:p>
        </p:txBody>
      </p:sp>
      <p:sp>
        <p:nvSpPr>
          <p:cNvPr id="38" name="Text 36"/>
          <p:cNvSpPr/>
          <p:nvPr/>
        </p:nvSpPr>
        <p:spPr>
          <a:xfrm>
            <a:off x="3319272" y="4023360"/>
            <a:ext cx="2514600" cy="1005840"/>
          </a:xfrm>
          <a:prstGeom prst="rect">
            <a:avLst/>
          </a:prstGeom>
          <a:noFill/>
          <a:ln/>
        </p:spPr>
        <p:txBody>
          <a:bodyPr wrap="square" lIns="0" tIns="0" rIns="0" bIns="0" rtlCol="0" anchor="ctr"/>
          <a:lstStyle/>
          <a:p>
            <a:pPr indent="0" marL="0">
              <a:lnSpc>
                <a:spcPct val="125000"/>
              </a:lnSpc>
              <a:buNone/>
            </a:pPr>
            <a:r>
              <a:rPr lang="en-US" sz="950" dirty="0">
                <a:solidFill>
                  <a:srgbClr val="7C93A3"/>
                </a:solidFill>
                <a:latin typeface="Arial" pitchFamily="34" charset="0"/>
                <a:ea typeface="Arial" pitchFamily="34" charset="-122"/>
                <a:cs typeface="Arial" pitchFamily="34" charset="-120"/>
              </a:rPr>
              <a:t>Linked back to the exception ID — one source of truth, not a duplicate list</a:t>
            </a:r>
            <a:endParaRPr lang="en-US" sz="950" dirty="0"/>
          </a:p>
        </p:txBody>
      </p:sp>
      <p:sp>
        <p:nvSpPr>
          <p:cNvPr id="39" name="Text 37"/>
          <p:cNvSpPr/>
          <p:nvPr/>
        </p:nvSpPr>
        <p:spPr>
          <a:xfrm>
            <a:off x="6089904" y="4023360"/>
            <a:ext cx="2514600" cy="1005840"/>
          </a:xfrm>
          <a:prstGeom prst="rect">
            <a:avLst/>
          </a:prstGeom>
          <a:noFill/>
          <a:ln/>
        </p:spPr>
        <p:txBody>
          <a:bodyPr wrap="square" lIns="0" tIns="0" rIns="0" bIns="0" rtlCol="0" anchor="ctr"/>
          <a:lstStyle/>
          <a:p>
            <a:pPr indent="0" marL="0">
              <a:lnSpc>
                <a:spcPct val="125000"/>
              </a:lnSpc>
              <a:buNone/>
            </a:pPr>
            <a:r>
              <a:rPr lang="en-US" sz="950" dirty="0">
                <a:solidFill>
                  <a:srgbClr val="7C93A3"/>
                </a:solidFill>
                <a:latin typeface="Arial" pitchFamily="34" charset="0"/>
                <a:ea typeface="Arial" pitchFamily="34" charset="-122"/>
                <a:cs typeface="Arial" pitchFamily="34" charset="-120"/>
              </a:rPr>
              <a:t>Sits in the HITL queue the moment it's created — never stuck at ‘not requested’</a:t>
            </a:r>
            <a:endParaRPr lang="en-US" sz="950" dirty="0"/>
          </a:p>
        </p:txBody>
      </p:sp>
      <p:sp>
        <p:nvSpPr>
          <p:cNvPr id="40" name="Text 38"/>
          <p:cNvSpPr/>
          <p:nvPr/>
        </p:nvSpPr>
        <p:spPr>
          <a:xfrm>
            <a:off x="8860536" y="4023360"/>
            <a:ext cx="2514600" cy="1005840"/>
          </a:xfrm>
          <a:prstGeom prst="rect">
            <a:avLst/>
          </a:prstGeom>
          <a:noFill/>
          <a:ln/>
        </p:spPr>
        <p:txBody>
          <a:bodyPr wrap="square" lIns="0" tIns="0" rIns="0" bIns="0" rtlCol="0" anchor="ctr"/>
          <a:lstStyle/>
          <a:p>
            <a:pPr indent="0" marL="0">
              <a:lnSpc>
                <a:spcPct val="125000"/>
              </a:lnSpc>
              <a:buNone/>
            </a:pPr>
            <a:r>
              <a:rPr lang="en-US" sz="950" dirty="0">
                <a:solidFill>
                  <a:srgbClr val="7C93A3"/>
                </a:solidFill>
                <a:latin typeface="Arial" pitchFamily="34" charset="0"/>
                <a:ea typeface="Arial" pitchFamily="34" charset="-122"/>
                <a:cs typeface="Arial" pitchFamily="34" charset="-120"/>
              </a:rPr>
              <a:t>A real person approves or rejects — recorded, timestamped, exportable</a:t>
            </a:r>
            <a:endParaRPr lang="en-US" sz="950" dirty="0"/>
          </a:p>
        </p:txBody>
      </p:sp>
      <p:sp>
        <p:nvSpPr>
          <p:cNvPr id="41" name="Shape 39"/>
          <p:cNvSpPr/>
          <p:nvPr/>
        </p:nvSpPr>
        <p:spPr>
          <a:xfrm>
            <a:off x="548640" y="4892040"/>
            <a:ext cx="11064240" cy="1143000"/>
          </a:xfrm>
          <a:prstGeom prst="roundRect">
            <a:avLst>
              <a:gd name="adj" fmla="val 6400"/>
            </a:avLst>
          </a:prstGeom>
          <a:solidFill>
            <a:srgbClr val="0F2A22"/>
          </a:solidFill>
          <a:ln w="12700">
            <a:solidFill>
              <a:srgbClr val="5EFFC1"/>
            </a:solidFill>
            <a:prstDash val="solid"/>
          </a:ln>
        </p:spPr>
      </p:sp>
      <p:sp>
        <p:nvSpPr>
          <p:cNvPr id="42" name="Text 40"/>
          <p:cNvSpPr/>
          <p:nvPr/>
        </p:nvSpPr>
        <p:spPr>
          <a:xfrm>
            <a:off x="868680" y="4892040"/>
            <a:ext cx="10424160" cy="1143000"/>
          </a:xfrm>
          <a:prstGeom prst="rect">
            <a:avLst/>
          </a:prstGeom>
          <a:noFill/>
          <a:ln/>
        </p:spPr>
        <p:txBody>
          <a:bodyPr wrap="square" lIns="0" tIns="0" rIns="0" bIns="0" rtlCol="0" anchor="ctr"/>
          <a:lstStyle/>
          <a:p>
            <a:pPr indent="0" marL="0">
              <a:lnSpc>
                <a:spcPct val="130000"/>
              </a:lnSpc>
              <a:buNone/>
            </a:pPr>
            <a:r>
              <a:rPr lang="en-US" sz="1250" i="1" dirty="0">
                <a:solidFill>
                  <a:srgbClr val="F2F6F8"/>
                </a:solidFill>
                <a:latin typeface="Arial" pitchFamily="34" charset="0"/>
                <a:ea typeface="Arial" pitchFamily="34" charset="-122"/>
                <a:cs typeface="Arial" pitchFamily="34" charset="-120"/>
              </a:rPr>
              <a:t>“Auto-requested on case creation from BPO exception feed.” — an exec can never open a case and find it stuck with no Approve/Reject button. Every case is sign-off-ready the moment it exists.</a:t>
            </a:r>
            <a:endParaRPr lang="en-US" sz="1250" dirty="0"/>
          </a:p>
        </p:txBody>
      </p:sp>
      <p:sp>
        <p:nvSpPr>
          <p:cNvPr id="43" name="Text 41"/>
          <p:cNvSpPr/>
          <p:nvPr/>
        </p:nvSpPr>
        <p:spPr>
          <a:xfrm>
            <a:off x="548640" y="6528816"/>
            <a:ext cx="4572000" cy="256032"/>
          </a:xfrm>
          <a:prstGeom prst="rect">
            <a:avLst/>
          </a:prstGeom>
          <a:noFill/>
          <a:ln/>
        </p:spPr>
        <p:txBody>
          <a:bodyPr wrap="square" lIns="0" tIns="0" rIns="0" bIns="0" rtlCol="0" anchor="ctr"/>
          <a:lstStyle/>
          <a:p>
            <a:pPr indent="0" marL="0">
              <a:buNone/>
            </a:pPr>
            <a:r>
              <a:rPr lang="en-US" sz="800" spc="100" kern="0" dirty="0">
                <a:solidFill>
                  <a:srgbClr val="4A6072"/>
                </a:solidFill>
                <a:latin typeface="Consolas" pitchFamily="34" charset="0"/>
                <a:ea typeface="Consolas" pitchFamily="34" charset="-122"/>
                <a:cs typeface="Consolas" pitchFamily="34" charset="-120"/>
              </a:rPr>
              <a:t>TSM BPO EXECUTIVE PORTAL</a:t>
            </a:r>
            <a:endParaRPr lang="en-US" sz="800" dirty="0"/>
          </a:p>
        </p:txBody>
      </p:sp>
      <p:sp>
        <p:nvSpPr>
          <p:cNvPr id="44" name="Text 42"/>
          <p:cNvSpPr/>
          <p:nvPr/>
        </p:nvSpPr>
        <p:spPr>
          <a:xfrm>
            <a:off x="11185855" y="6528816"/>
            <a:ext cx="457200" cy="256032"/>
          </a:xfrm>
          <a:prstGeom prst="rect">
            <a:avLst/>
          </a:prstGeom>
          <a:noFill/>
          <a:ln/>
        </p:spPr>
        <p:txBody>
          <a:bodyPr wrap="square" lIns="0" tIns="0" rIns="0" bIns="0" rtlCol="0" anchor="ctr"/>
          <a:lstStyle/>
          <a:p>
            <a:pPr algn="r" indent="0" marL="0">
              <a:buNone/>
            </a:pPr>
            <a:r>
              <a:rPr lang="en-US" sz="800" dirty="0">
                <a:solidFill>
                  <a:srgbClr val="4A6072"/>
                </a:solidFill>
                <a:latin typeface="Consolas" pitchFamily="34" charset="0"/>
                <a:ea typeface="Consolas" pitchFamily="34" charset="-122"/>
                <a:cs typeface="Consolas"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1A"/>
        </a:solidFill>
      </p:bgPr>
    </p:bg>
    <p:spTree>
      <p:nvGrpSpPr>
        <p:cNvPr id="1" name=""/>
        <p:cNvGrpSpPr/>
        <p:nvPr/>
      </p:nvGrpSpPr>
      <p:grpSpPr>
        <a:xfrm>
          <a:off x="0" y="0"/>
          <a:ext cx="0" cy="0"/>
          <a:chOff x="0" y="0"/>
          <a:chExt cx="0" cy="0"/>
        </a:xfrm>
      </p:grpSpPr>
      <p:sp>
        <p:nvSpPr>
          <p:cNvPr id="2" name="Shape 0"/>
          <p:cNvSpPr/>
          <p:nvPr/>
        </p:nvSpPr>
        <p:spPr>
          <a:xfrm>
            <a:off x="274320" y="256032"/>
            <a:ext cx="1228649" cy="310896"/>
          </a:xfrm>
          <a:prstGeom prst="roundRect">
            <a:avLst>
              <a:gd name="adj" fmla="val 17647"/>
            </a:avLst>
          </a:prstGeom>
          <a:solidFill>
            <a:srgbClr val="13232F"/>
          </a:solidFill>
          <a:ln w="9525">
            <a:solidFill>
              <a:srgbClr val="1A3A50"/>
            </a:solidFill>
            <a:prstDash val="solid"/>
          </a:ln>
        </p:spPr>
      </p:sp>
      <p:sp>
        <p:nvSpPr>
          <p:cNvPr id="3" name="Text 1">
            <a:hlinkClick r:id="rId1" tooltip="" action="ppaction://hlinksldjump"/>
          </p:cNvPr>
          <p:cNvSpPr/>
          <p:nvPr/>
        </p:nvSpPr>
        <p:spPr>
          <a:xfrm>
            <a:off x="274320"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1" action="ppaction://hlinksldjump" tooltip="">
                  <a:extLst>
                    <a:ext uri="{A12FA001-AC4F-418D-AE19-62706E023703}">
                      <ahyp:hlinkClr xmlns:ahyp="http://schemas.microsoft.com/office/drawing/2018/hyperlinkcolor" val="tx"/>
                    </a:ext>
                  </a:extLst>
                </a:hlinkClick>
              </a:rPr>
              <a:t>AGENDA</a:t>
            </a:r>
            <a:endParaRPr lang="en-US" sz="750" dirty="0"/>
          </a:p>
        </p:txBody>
      </p:sp>
      <p:sp>
        <p:nvSpPr>
          <p:cNvPr id="4" name="Shape 2"/>
          <p:cNvSpPr/>
          <p:nvPr/>
        </p:nvSpPr>
        <p:spPr>
          <a:xfrm>
            <a:off x="1576121" y="256032"/>
            <a:ext cx="1228649" cy="310896"/>
          </a:xfrm>
          <a:prstGeom prst="roundRect">
            <a:avLst>
              <a:gd name="adj" fmla="val 17647"/>
            </a:avLst>
          </a:prstGeom>
          <a:solidFill>
            <a:srgbClr val="13232F"/>
          </a:solidFill>
          <a:ln w="9525">
            <a:solidFill>
              <a:srgbClr val="1A3A50"/>
            </a:solidFill>
            <a:prstDash val="solid"/>
          </a:ln>
        </p:spPr>
      </p:sp>
      <p:sp>
        <p:nvSpPr>
          <p:cNvPr id="5" name="Text 3">
            <a:hlinkClick r:id="rId2" tooltip="" action="ppaction://hlinksldjump"/>
          </p:cNvPr>
          <p:cNvSpPr/>
          <p:nvPr/>
        </p:nvSpPr>
        <p:spPr>
          <a:xfrm>
            <a:off x="1576121"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THE PROBLEM</a:t>
            </a:r>
            <a:endParaRPr lang="en-US" sz="750" dirty="0"/>
          </a:p>
        </p:txBody>
      </p:sp>
      <p:sp>
        <p:nvSpPr>
          <p:cNvPr id="6" name="Shape 4"/>
          <p:cNvSpPr/>
          <p:nvPr/>
        </p:nvSpPr>
        <p:spPr>
          <a:xfrm>
            <a:off x="2877922" y="256032"/>
            <a:ext cx="1228649" cy="310896"/>
          </a:xfrm>
          <a:prstGeom prst="roundRect">
            <a:avLst>
              <a:gd name="adj" fmla="val 17647"/>
            </a:avLst>
          </a:prstGeom>
          <a:solidFill>
            <a:srgbClr val="13232F"/>
          </a:solidFill>
          <a:ln w="9525">
            <a:solidFill>
              <a:srgbClr val="1A3A50"/>
            </a:solidFill>
            <a:prstDash val="solid"/>
          </a:ln>
        </p:spPr>
      </p:sp>
      <p:sp>
        <p:nvSpPr>
          <p:cNvPr id="7" name="Text 5">
            <a:hlinkClick r:id="rId3" tooltip="" action="ppaction://hlinksldjump"/>
          </p:cNvPr>
          <p:cNvSpPr/>
          <p:nvPr/>
        </p:nvSpPr>
        <p:spPr>
          <a:xfrm>
            <a:off x="28779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LIVE WIP</a:t>
            </a:r>
            <a:endParaRPr lang="en-US" sz="750" dirty="0"/>
          </a:p>
        </p:txBody>
      </p:sp>
      <p:sp>
        <p:nvSpPr>
          <p:cNvPr id="8" name="Shape 6"/>
          <p:cNvSpPr/>
          <p:nvPr/>
        </p:nvSpPr>
        <p:spPr>
          <a:xfrm>
            <a:off x="4179722" y="256032"/>
            <a:ext cx="1228649" cy="310896"/>
          </a:xfrm>
          <a:prstGeom prst="roundRect">
            <a:avLst>
              <a:gd name="adj" fmla="val 17647"/>
            </a:avLst>
          </a:prstGeom>
          <a:solidFill>
            <a:srgbClr val="13232F"/>
          </a:solidFill>
          <a:ln w="9525">
            <a:solidFill>
              <a:srgbClr val="1A3A50"/>
            </a:solidFill>
            <a:prstDash val="solid"/>
          </a:ln>
        </p:spPr>
      </p:sp>
      <p:sp>
        <p:nvSpPr>
          <p:cNvPr id="9" name="Text 7">
            <a:hlinkClick r:id="rId4" tooltip="" action="ppaction://hlinksldjump"/>
          </p:cNvPr>
          <p:cNvSpPr/>
          <p:nvPr/>
        </p:nvSpPr>
        <p:spPr>
          <a:xfrm>
            <a:off x="41797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4" action="ppaction://hlinksldjump" tooltip="">
                  <a:extLst>
                    <a:ext uri="{A12FA001-AC4F-418D-AE19-62706E023703}">
                      <ahyp:hlinkClr xmlns:ahyp="http://schemas.microsoft.com/office/drawing/2018/hyperlinkcolor" val="tx"/>
                    </a:ext>
                  </a:extLst>
                </a:hlinkClick>
              </a:rPr>
              <a:t>EXPLAINABILITY</a:t>
            </a:r>
            <a:endParaRPr lang="en-US" sz="750" dirty="0"/>
          </a:p>
        </p:txBody>
      </p:sp>
      <p:sp>
        <p:nvSpPr>
          <p:cNvPr id="10" name="Shape 8"/>
          <p:cNvSpPr/>
          <p:nvPr/>
        </p:nvSpPr>
        <p:spPr>
          <a:xfrm>
            <a:off x="5481523" y="256032"/>
            <a:ext cx="1228649" cy="310896"/>
          </a:xfrm>
          <a:prstGeom prst="roundRect">
            <a:avLst>
              <a:gd name="adj" fmla="val 17647"/>
            </a:avLst>
          </a:prstGeom>
          <a:solidFill>
            <a:srgbClr val="13232F"/>
          </a:solidFill>
          <a:ln w="9525">
            <a:solidFill>
              <a:srgbClr val="1A3A50"/>
            </a:solidFill>
            <a:prstDash val="solid"/>
          </a:ln>
        </p:spPr>
      </p:sp>
      <p:sp>
        <p:nvSpPr>
          <p:cNvPr id="11" name="Text 9">
            <a:hlinkClick r:id="rId5" tooltip="" action="ppaction://hlinksldjump"/>
          </p:cNvPr>
          <p:cNvSpPr/>
          <p:nvPr/>
        </p:nvSpPr>
        <p:spPr>
          <a:xfrm>
            <a:off x="5481523"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5" action="ppaction://hlinksldjump" tooltip="">
                  <a:extLst>
                    <a:ext uri="{A12FA001-AC4F-418D-AE19-62706E023703}">
                      <ahyp:hlinkClr xmlns:ahyp="http://schemas.microsoft.com/office/drawing/2018/hyperlinkcolor" val="tx"/>
                    </a:ext>
                  </a:extLst>
                </a:hlinkClick>
              </a:rPr>
              <a:t>CASE GOVERNANCE</a:t>
            </a:r>
            <a:endParaRPr lang="en-US" sz="750" dirty="0"/>
          </a:p>
        </p:txBody>
      </p:sp>
      <p:sp>
        <p:nvSpPr>
          <p:cNvPr id="12" name="Shape 10"/>
          <p:cNvSpPr/>
          <p:nvPr/>
        </p:nvSpPr>
        <p:spPr>
          <a:xfrm>
            <a:off x="6783324" y="256032"/>
            <a:ext cx="1228649" cy="310896"/>
          </a:xfrm>
          <a:prstGeom prst="roundRect">
            <a:avLst>
              <a:gd name="adj" fmla="val 17647"/>
            </a:avLst>
          </a:prstGeom>
          <a:solidFill>
            <a:srgbClr val="5EFFC1"/>
          </a:solidFill>
          <a:ln w="9525">
            <a:solidFill>
              <a:srgbClr val="5EFFC1"/>
            </a:solidFill>
            <a:prstDash val="solid"/>
          </a:ln>
        </p:spPr>
      </p:sp>
      <p:sp>
        <p:nvSpPr>
          <p:cNvPr id="13" name="Text 11">
            <a:hlinkClick r:id="rId6" tooltip="" action="ppaction://hlinksldjump"/>
          </p:cNvPr>
          <p:cNvSpPr/>
          <p:nvPr/>
        </p:nvSpPr>
        <p:spPr>
          <a:xfrm>
            <a:off x="6783324" y="256032"/>
            <a:ext cx="1228649" cy="310896"/>
          </a:xfrm>
          <a:prstGeom prst="rect">
            <a:avLst/>
          </a:prstGeom>
          <a:noFill/>
          <a:ln/>
        </p:spPr>
        <p:txBody>
          <a:bodyPr wrap="square" lIns="0" tIns="0" rIns="0" bIns="0" rtlCol="0" anchor="ctr"/>
          <a:lstStyle/>
          <a:p>
            <a:pPr algn="ctr" indent="0" marL="0">
              <a:buNone/>
            </a:pPr>
            <a:r>
              <a:rPr lang="en-US" sz="750" b="1" u="sng" spc="50" kern="0" dirty="0">
                <a:solidFill>
                  <a:srgbClr val="07120D"/>
                </a:solidFill>
                <a:latin typeface="Consolas" pitchFamily="34" charset="0"/>
                <a:ea typeface="Consolas" pitchFamily="34" charset="-122"/>
                <a:cs typeface="Consolas" pitchFamily="34" charset="-120"/>
                <a:hlinkClick r:id="rId6" action="ppaction://hlinksldjump" tooltip="">
                  <a:extLst>
                    <a:ext uri="{A12FA001-AC4F-418D-AE19-62706E023703}">
                      <ahyp:hlinkClr xmlns:ahyp="http://schemas.microsoft.com/office/drawing/2018/hyperlinkcolor" val="tx"/>
                    </a:ext>
                  </a:extLst>
                </a:hlinkClick>
              </a:rPr>
              <a:t>DELIVERY PKG</a:t>
            </a:r>
            <a:endParaRPr lang="en-US" sz="750" dirty="0"/>
          </a:p>
        </p:txBody>
      </p:sp>
      <p:sp>
        <p:nvSpPr>
          <p:cNvPr id="14" name="Shape 12"/>
          <p:cNvSpPr/>
          <p:nvPr/>
        </p:nvSpPr>
        <p:spPr>
          <a:xfrm>
            <a:off x="8085125" y="256032"/>
            <a:ext cx="1228649" cy="310896"/>
          </a:xfrm>
          <a:prstGeom prst="roundRect">
            <a:avLst>
              <a:gd name="adj" fmla="val 17647"/>
            </a:avLst>
          </a:prstGeom>
          <a:solidFill>
            <a:srgbClr val="13232F"/>
          </a:solidFill>
          <a:ln w="9525">
            <a:solidFill>
              <a:srgbClr val="1A3A50"/>
            </a:solidFill>
            <a:prstDash val="solid"/>
          </a:ln>
        </p:spPr>
      </p:sp>
      <p:sp>
        <p:nvSpPr>
          <p:cNvPr id="15" name="Text 13">
            <a:hlinkClick r:id="rId7" tooltip="" action="ppaction://hlinksldjump"/>
          </p:cNvPr>
          <p:cNvSpPr/>
          <p:nvPr/>
        </p:nvSpPr>
        <p:spPr>
          <a:xfrm>
            <a:off x="8085125"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7" action="ppaction://hlinksldjump" tooltip="">
                  <a:extLst>
                    <a:ext uri="{A12FA001-AC4F-418D-AE19-62706E023703}">
                      <ahyp:hlinkClr xmlns:ahyp="http://schemas.microsoft.com/office/drawing/2018/hyperlinkcolor" val="tx"/>
                    </a:ext>
                  </a:extLst>
                </a:hlinkClick>
              </a:rPr>
              <a:t>ONE PLATFORM</a:t>
            </a:r>
            <a:endParaRPr lang="en-US" sz="750" dirty="0"/>
          </a:p>
        </p:txBody>
      </p:sp>
      <p:sp>
        <p:nvSpPr>
          <p:cNvPr id="16" name="Shape 14"/>
          <p:cNvSpPr/>
          <p:nvPr/>
        </p:nvSpPr>
        <p:spPr>
          <a:xfrm>
            <a:off x="9386926" y="256032"/>
            <a:ext cx="1228649" cy="310896"/>
          </a:xfrm>
          <a:prstGeom prst="roundRect">
            <a:avLst>
              <a:gd name="adj" fmla="val 17647"/>
            </a:avLst>
          </a:prstGeom>
          <a:solidFill>
            <a:srgbClr val="13232F"/>
          </a:solidFill>
          <a:ln w="9525">
            <a:solidFill>
              <a:srgbClr val="1A3A50"/>
            </a:solidFill>
            <a:prstDash val="solid"/>
          </a:ln>
        </p:spPr>
      </p:sp>
      <p:sp>
        <p:nvSpPr>
          <p:cNvPr id="17" name="Text 15">
            <a:hlinkClick r:id="rId8" tooltip="" action="ppaction://hlinksldjump"/>
          </p:cNvPr>
          <p:cNvSpPr/>
          <p:nvPr/>
        </p:nvSpPr>
        <p:spPr>
          <a:xfrm>
            <a:off x="93869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8" action="ppaction://hlinksldjump" tooltip="">
                  <a:extLst>
                    <a:ext uri="{A12FA001-AC4F-418D-AE19-62706E023703}">
                      <ahyp:hlinkClr xmlns:ahyp="http://schemas.microsoft.com/office/drawing/2018/hyperlinkcolor" val="tx"/>
                    </a:ext>
                  </a:extLst>
                </a:hlinkClick>
              </a:rPr>
              <a:t>LIVE DEMO</a:t>
            </a:r>
            <a:endParaRPr lang="en-US" sz="750" dirty="0"/>
          </a:p>
        </p:txBody>
      </p:sp>
      <p:sp>
        <p:nvSpPr>
          <p:cNvPr id="18" name="Shape 16"/>
          <p:cNvSpPr/>
          <p:nvPr/>
        </p:nvSpPr>
        <p:spPr>
          <a:xfrm>
            <a:off x="10688726" y="256032"/>
            <a:ext cx="1228649" cy="310896"/>
          </a:xfrm>
          <a:prstGeom prst="roundRect">
            <a:avLst>
              <a:gd name="adj" fmla="val 17647"/>
            </a:avLst>
          </a:prstGeom>
          <a:solidFill>
            <a:srgbClr val="13232F"/>
          </a:solidFill>
          <a:ln w="9525">
            <a:solidFill>
              <a:srgbClr val="1A3A50"/>
            </a:solidFill>
            <a:prstDash val="solid"/>
          </a:ln>
        </p:spPr>
      </p:sp>
      <p:sp>
        <p:nvSpPr>
          <p:cNvPr id="19" name="Text 17">
            <a:hlinkClick r:id="rId9" tooltip="" action="ppaction://hlinksldjump"/>
          </p:cNvPr>
          <p:cNvSpPr/>
          <p:nvPr/>
        </p:nvSpPr>
        <p:spPr>
          <a:xfrm>
            <a:off x="106887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9" action="ppaction://hlinksldjump" tooltip="">
                  <a:extLst>
                    <a:ext uri="{A12FA001-AC4F-418D-AE19-62706E023703}">
                      <ahyp:hlinkClr xmlns:ahyp="http://schemas.microsoft.com/office/drawing/2018/hyperlinkcolor" val="tx"/>
                    </a:ext>
                  </a:extLst>
                </a:hlinkClick>
              </a:rPr>
              <a:t>THE ASK</a:t>
            </a:r>
            <a:endParaRPr lang="en-US" sz="750" dirty="0"/>
          </a:p>
        </p:txBody>
      </p:sp>
      <p:sp>
        <p:nvSpPr>
          <p:cNvPr id="20" name="Text 18"/>
          <p:cNvSpPr/>
          <p:nvPr/>
        </p:nvSpPr>
        <p:spPr>
          <a:xfrm>
            <a:off x="548640" y="868680"/>
            <a:ext cx="7315200" cy="274320"/>
          </a:xfrm>
          <a:prstGeom prst="rect">
            <a:avLst/>
          </a:prstGeom>
          <a:noFill/>
          <a:ln/>
        </p:spPr>
        <p:txBody>
          <a:bodyPr wrap="square" lIns="0" tIns="0" rIns="0" bIns="0" rtlCol="0" anchor="ctr"/>
          <a:lstStyle/>
          <a:p>
            <a:pPr indent="0" marL="0">
              <a:buNone/>
            </a:pPr>
            <a:r>
              <a:rPr lang="en-US" sz="1100" b="1" spc="200" kern="0" dirty="0">
                <a:solidFill>
                  <a:srgbClr val="5EFFC1"/>
                </a:solidFill>
                <a:latin typeface="Consolas" pitchFamily="34" charset="0"/>
                <a:ea typeface="Consolas" pitchFamily="34" charset="-122"/>
                <a:cs typeface="Consolas" pitchFamily="34" charset="-120"/>
              </a:rPr>
              <a:t>WOW FEATURE 04</a:t>
            </a:r>
            <a:endParaRPr lang="en-US" sz="1100" dirty="0"/>
          </a:p>
        </p:txBody>
      </p:sp>
      <p:sp>
        <p:nvSpPr>
          <p:cNvPr id="21" name="Text 19"/>
          <p:cNvSpPr/>
          <p:nvPr/>
        </p:nvSpPr>
        <p:spPr>
          <a:xfrm>
            <a:off x="548640" y="1161288"/>
            <a:ext cx="10515600" cy="822960"/>
          </a:xfrm>
          <a:prstGeom prst="rect">
            <a:avLst/>
          </a:prstGeom>
          <a:noFill/>
          <a:ln/>
        </p:spPr>
        <p:txBody>
          <a:bodyPr wrap="square" lIns="0" tIns="0" rIns="0" bIns="0" rtlCol="0" anchor="ctr"/>
          <a:lstStyle/>
          <a:p>
            <a:pPr indent="0" marL="0">
              <a:buNone/>
            </a:pPr>
            <a:r>
              <a:rPr lang="en-US" sz="3000" b="1" dirty="0">
                <a:solidFill>
                  <a:srgbClr val="F2F6F8"/>
                </a:solidFill>
                <a:latin typeface="Arial" pitchFamily="34" charset="0"/>
                <a:ea typeface="Arial" pitchFamily="34" charset="-122"/>
                <a:cs typeface="Arial" pitchFamily="34" charset="-120"/>
              </a:rPr>
              <a:t>One Click. The Entire</a:t>
            </a:r>
            <a:endParaRPr lang="en-US" sz="3000" dirty="0"/>
          </a:p>
          <a:p>
            <a:pPr indent="0" marL="0">
              <a:buNone/>
            </a:pPr>
            <a:r>
              <a:rPr lang="en-US" sz="3000" b="1" dirty="0">
                <a:solidFill>
                  <a:srgbClr val="F2F6F8"/>
                </a:solidFill>
                <a:latin typeface="Arial" pitchFamily="34" charset="0"/>
                <a:ea typeface="Arial" pitchFamily="34" charset="-122"/>
                <a:cs typeface="Arial" pitchFamily="34" charset="-120"/>
              </a:rPr>
              <a:t>Audit Trail, Bundled.</a:t>
            </a:r>
            <a:endParaRPr lang="en-US" sz="3000" dirty="0"/>
          </a:p>
        </p:txBody>
      </p:sp>
      <p:sp>
        <p:nvSpPr>
          <p:cNvPr id="22" name="Shape 20"/>
          <p:cNvSpPr/>
          <p:nvPr/>
        </p:nvSpPr>
        <p:spPr>
          <a:xfrm>
            <a:off x="548640" y="2148840"/>
            <a:ext cx="6035040" cy="3977640"/>
          </a:xfrm>
          <a:prstGeom prst="roundRect">
            <a:avLst>
              <a:gd name="adj" fmla="val 1839"/>
            </a:avLst>
          </a:prstGeom>
          <a:solidFill>
            <a:srgbClr val="0A1420"/>
          </a:solidFill>
          <a:ln w="12700">
            <a:solidFill>
              <a:srgbClr val="1A3A50"/>
            </a:solidFill>
            <a:prstDash val="solid"/>
          </a:ln>
        </p:spPr>
      </p:sp>
      <p:sp>
        <p:nvSpPr>
          <p:cNvPr id="23" name="Shape 21"/>
          <p:cNvSpPr/>
          <p:nvPr/>
        </p:nvSpPr>
        <p:spPr>
          <a:xfrm>
            <a:off x="548640" y="2148840"/>
            <a:ext cx="6035040" cy="411480"/>
          </a:xfrm>
          <a:prstGeom prst="roundRect">
            <a:avLst>
              <a:gd name="adj" fmla="val 17778"/>
            </a:avLst>
          </a:prstGeom>
          <a:solidFill>
            <a:srgbClr val="13232F"/>
          </a:solidFill>
          <a:ln/>
        </p:spPr>
      </p:sp>
      <p:sp>
        <p:nvSpPr>
          <p:cNvPr id="24" name="Text 22"/>
          <p:cNvSpPr/>
          <p:nvPr/>
        </p:nvSpPr>
        <p:spPr>
          <a:xfrm>
            <a:off x="777240" y="2148840"/>
            <a:ext cx="5577840" cy="411480"/>
          </a:xfrm>
          <a:prstGeom prst="rect">
            <a:avLst/>
          </a:prstGeom>
          <a:noFill/>
          <a:ln/>
        </p:spPr>
        <p:txBody>
          <a:bodyPr wrap="square" lIns="0" tIns="0" rIns="0" bIns="0" rtlCol="0" anchor="ctr"/>
          <a:lstStyle/>
          <a:p>
            <a:pPr indent="0" marL="0">
              <a:buNone/>
            </a:pPr>
            <a:r>
              <a:rPr lang="en-US" sz="950" dirty="0">
                <a:solidFill>
                  <a:srgbClr val="7C93A3"/>
                </a:solidFill>
                <a:latin typeface="Consolas" pitchFamily="34" charset="0"/>
                <a:ea typeface="Consolas" pitchFamily="34" charset="-122"/>
                <a:cs typeface="Consolas" pitchFamily="34" charset="-120"/>
              </a:rPr>
              <a:t>tsm-client-package-1755792049213.json</a:t>
            </a:r>
            <a:endParaRPr lang="en-US" sz="950" dirty="0"/>
          </a:p>
        </p:txBody>
      </p:sp>
      <p:sp>
        <p:nvSpPr>
          <p:cNvPr id="25" name="Text 23"/>
          <p:cNvSpPr/>
          <p:nvPr/>
        </p:nvSpPr>
        <p:spPr>
          <a:xfrm>
            <a:off x="822960" y="2743200"/>
            <a:ext cx="5486400" cy="292608"/>
          </a:xfrm>
          <a:prstGeom prst="rect">
            <a:avLst/>
          </a:prstGeom>
          <a:noFill/>
          <a:ln/>
        </p:spPr>
        <p:txBody>
          <a:bodyPr wrap="square" lIns="0" tIns="0" rIns="0" bIns="0" rtlCol="0" anchor="ctr"/>
          <a:lstStyle/>
          <a:p>
            <a:pPr indent="0" marL="0">
              <a:buNone/>
            </a:pPr>
            <a:r>
              <a:rPr lang="en-US" sz="1100" dirty="0">
                <a:solidFill>
                  <a:srgbClr val="F2F6F8"/>
                </a:solidFill>
                <a:latin typeface="Consolas" pitchFamily="34" charset="0"/>
                <a:ea typeface="Consolas" pitchFamily="34" charset="-122"/>
                <a:cs typeface="Consolas" pitchFamily="34" charset="-120"/>
              </a:rPr>
              <a:t>{</a:t>
            </a:r>
            <a:endParaRPr lang="en-US" sz="1100" dirty="0"/>
          </a:p>
        </p:txBody>
      </p:sp>
      <p:sp>
        <p:nvSpPr>
          <p:cNvPr id="26" name="Text 24"/>
          <p:cNvSpPr/>
          <p:nvPr/>
        </p:nvSpPr>
        <p:spPr>
          <a:xfrm>
            <a:off x="1078992" y="3058668"/>
            <a:ext cx="5486400" cy="292608"/>
          </a:xfrm>
          <a:prstGeom prst="rect">
            <a:avLst/>
          </a:prstGeom>
          <a:noFill/>
          <a:ln/>
        </p:spPr>
        <p:txBody>
          <a:bodyPr wrap="square" lIns="0" tIns="0" rIns="0" bIns="0" rtlCol="0" anchor="ctr"/>
          <a:lstStyle/>
          <a:p>
            <a:pPr indent="0" marL="0">
              <a:buNone/>
            </a:pPr>
            <a:r>
              <a:rPr lang="en-US" sz="1100" dirty="0">
                <a:solidFill>
                  <a:srgbClr val="00E5FF"/>
                </a:solidFill>
                <a:latin typeface="Consolas" pitchFamily="34" charset="0"/>
                <a:ea typeface="Consolas" pitchFamily="34" charset="-122"/>
                <a:cs typeface="Consolas" pitchFamily="34" charset="-120"/>
              </a:rPr>
              <a:t>"domain": "BPO",</a:t>
            </a:r>
            <a:endParaRPr lang="en-US" sz="1100" dirty="0"/>
          </a:p>
        </p:txBody>
      </p:sp>
      <p:sp>
        <p:nvSpPr>
          <p:cNvPr id="27" name="Text 25"/>
          <p:cNvSpPr/>
          <p:nvPr/>
        </p:nvSpPr>
        <p:spPr>
          <a:xfrm>
            <a:off x="1078992" y="3374136"/>
            <a:ext cx="5486400" cy="292608"/>
          </a:xfrm>
          <a:prstGeom prst="rect">
            <a:avLst/>
          </a:prstGeom>
          <a:noFill/>
          <a:ln/>
        </p:spPr>
        <p:txBody>
          <a:bodyPr wrap="square" lIns="0" tIns="0" rIns="0" bIns="0" rtlCol="0" anchor="ctr"/>
          <a:lstStyle/>
          <a:p>
            <a:pPr indent="0" marL="0">
              <a:buNone/>
            </a:pPr>
            <a:r>
              <a:rPr lang="en-US" sz="1100" dirty="0">
                <a:solidFill>
                  <a:srgbClr val="00E5FF"/>
                </a:solidFill>
                <a:latin typeface="Consolas" pitchFamily="34" charset="0"/>
                <a:ea typeface="Consolas" pitchFamily="34" charset="-122"/>
                <a:cs typeface="Consolas" pitchFamily="34" charset="-120"/>
              </a:rPr>
              <a:t>"generatedAt": "2026-08-21T19:40Z",</a:t>
            </a:r>
            <a:endParaRPr lang="en-US" sz="1100" dirty="0"/>
          </a:p>
        </p:txBody>
      </p:sp>
      <p:sp>
        <p:nvSpPr>
          <p:cNvPr id="28" name="Text 26"/>
          <p:cNvSpPr/>
          <p:nvPr/>
        </p:nvSpPr>
        <p:spPr>
          <a:xfrm>
            <a:off x="1078992" y="3689604"/>
            <a:ext cx="5486400" cy="292608"/>
          </a:xfrm>
          <a:prstGeom prst="rect">
            <a:avLst/>
          </a:prstGeom>
          <a:noFill/>
          <a:ln/>
        </p:spPr>
        <p:txBody>
          <a:bodyPr wrap="square" lIns="0" tIns="0" rIns="0" bIns="0" rtlCol="0" anchor="ctr"/>
          <a:lstStyle/>
          <a:p>
            <a:pPr indent="0" marL="0">
              <a:buNone/>
            </a:pPr>
            <a:r>
              <a:rPr lang="en-US" sz="1100" dirty="0">
                <a:solidFill>
                  <a:srgbClr val="F2F6F8"/>
                </a:solidFill>
                <a:latin typeface="Consolas" pitchFamily="34" charset="0"/>
                <a:ea typeface="Consolas" pitchFamily="34" charset="-122"/>
                <a:cs typeface="Consolas" pitchFamily="34" charset="-120"/>
              </a:rPr>
              <a:t>"processedDocuments": { "count": 9842 },</a:t>
            </a:r>
            <a:endParaRPr lang="en-US" sz="1100" dirty="0"/>
          </a:p>
        </p:txBody>
      </p:sp>
      <p:sp>
        <p:nvSpPr>
          <p:cNvPr id="29" name="Text 27"/>
          <p:cNvSpPr/>
          <p:nvPr/>
        </p:nvSpPr>
        <p:spPr>
          <a:xfrm>
            <a:off x="1078992" y="4005072"/>
            <a:ext cx="5486400" cy="292608"/>
          </a:xfrm>
          <a:prstGeom prst="rect">
            <a:avLst/>
          </a:prstGeom>
          <a:noFill/>
          <a:ln/>
        </p:spPr>
        <p:txBody>
          <a:bodyPr wrap="square" lIns="0" tIns="0" rIns="0" bIns="0" rtlCol="0" anchor="ctr"/>
          <a:lstStyle/>
          <a:p>
            <a:pPr indent="0" marL="0">
              <a:buNone/>
            </a:pPr>
            <a:r>
              <a:rPr lang="en-US" sz="1100" dirty="0">
                <a:solidFill>
                  <a:srgbClr val="5EFFC1"/>
                </a:solidFill>
                <a:latin typeface="Consolas" pitchFamily="34" charset="0"/>
                <a:ea typeface="Consolas" pitchFamily="34" charset="-122"/>
                <a:cs typeface="Consolas" pitchFamily="34" charset="-120"/>
              </a:rPr>
              <a:t>"qualityReport": { "score": 94.2 },</a:t>
            </a:r>
            <a:endParaRPr lang="en-US" sz="1100" dirty="0"/>
          </a:p>
        </p:txBody>
      </p:sp>
      <p:sp>
        <p:nvSpPr>
          <p:cNvPr id="30" name="Text 28"/>
          <p:cNvSpPr/>
          <p:nvPr/>
        </p:nvSpPr>
        <p:spPr>
          <a:xfrm>
            <a:off x="1078992" y="4320540"/>
            <a:ext cx="5486400" cy="292608"/>
          </a:xfrm>
          <a:prstGeom prst="rect">
            <a:avLst/>
          </a:prstGeom>
          <a:noFill/>
          <a:ln/>
        </p:spPr>
        <p:txBody>
          <a:bodyPr wrap="square" lIns="0" tIns="0" rIns="0" bIns="0" rtlCol="0" anchor="ctr"/>
          <a:lstStyle/>
          <a:p>
            <a:pPr indent="0" marL="0">
              <a:buNone/>
            </a:pPr>
            <a:r>
              <a:rPr lang="en-US" sz="1100" dirty="0">
                <a:solidFill>
                  <a:srgbClr val="FFB74D"/>
                </a:solidFill>
                <a:latin typeface="Consolas" pitchFamily="34" charset="0"/>
                <a:ea typeface="Consolas" pitchFamily="34" charset="-122"/>
                <a:cs typeface="Consolas" pitchFamily="34" charset="-120"/>
              </a:rPr>
              <a:t>"exceptionReport": { "total": 6, … },</a:t>
            </a:r>
            <a:endParaRPr lang="en-US" sz="1100" dirty="0"/>
          </a:p>
        </p:txBody>
      </p:sp>
      <p:sp>
        <p:nvSpPr>
          <p:cNvPr id="31" name="Text 29"/>
          <p:cNvSpPr/>
          <p:nvPr/>
        </p:nvSpPr>
        <p:spPr>
          <a:xfrm>
            <a:off x="1078992" y="4636008"/>
            <a:ext cx="5486400" cy="292608"/>
          </a:xfrm>
          <a:prstGeom prst="rect">
            <a:avLst/>
          </a:prstGeom>
          <a:noFill/>
          <a:ln/>
        </p:spPr>
        <p:txBody>
          <a:bodyPr wrap="square" lIns="0" tIns="0" rIns="0" bIns="0" rtlCol="0" anchor="ctr"/>
          <a:lstStyle/>
          <a:p>
            <a:pPr indent="0" marL="0">
              <a:buNone/>
            </a:pPr>
            <a:r>
              <a:rPr lang="en-US" sz="1100" dirty="0">
                <a:solidFill>
                  <a:srgbClr val="FF6B6B"/>
                </a:solidFill>
                <a:latin typeface="Consolas" pitchFamily="34" charset="0"/>
                <a:ea typeface="Consolas" pitchFamily="34" charset="-122"/>
                <a:cs typeface="Consolas" pitchFamily="34" charset="-120"/>
              </a:rPr>
              <a:t>"riskReport": { "highSeverityCount": 1 },</a:t>
            </a:r>
            <a:endParaRPr lang="en-US" sz="1100" dirty="0"/>
          </a:p>
        </p:txBody>
      </p:sp>
      <p:sp>
        <p:nvSpPr>
          <p:cNvPr id="32" name="Text 30"/>
          <p:cNvSpPr/>
          <p:nvPr/>
        </p:nvSpPr>
        <p:spPr>
          <a:xfrm>
            <a:off x="1078992" y="4951476"/>
            <a:ext cx="5486400" cy="292608"/>
          </a:xfrm>
          <a:prstGeom prst="rect">
            <a:avLst/>
          </a:prstGeom>
          <a:noFill/>
          <a:ln/>
        </p:spPr>
        <p:txBody>
          <a:bodyPr wrap="square" lIns="0" tIns="0" rIns="0" bIns="0" rtlCol="0" anchor="ctr"/>
          <a:lstStyle/>
          <a:p>
            <a:pPr indent="0" marL="0">
              <a:buNone/>
            </a:pPr>
            <a:r>
              <a:rPr lang="en-US" sz="1100" dirty="0">
                <a:solidFill>
                  <a:srgbClr val="F2F6F8"/>
                </a:solidFill>
                <a:latin typeface="Consolas" pitchFamily="34" charset="0"/>
                <a:ea typeface="Consolas" pitchFamily="34" charset="-122"/>
                <a:cs typeface="Consolas" pitchFamily="34" charset="-120"/>
              </a:rPr>
              <a:t>"auditTrail": [ … 12 entries … ],</a:t>
            </a:r>
            <a:endParaRPr lang="en-US" sz="1100" dirty="0"/>
          </a:p>
        </p:txBody>
      </p:sp>
      <p:sp>
        <p:nvSpPr>
          <p:cNvPr id="33" name="Text 31"/>
          <p:cNvSpPr/>
          <p:nvPr/>
        </p:nvSpPr>
        <p:spPr>
          <a:xfrm>
            <a:off x="1078992" y="5266944"/>
            <a:ext cx="5486400" cy="292608"/>
          </a:xfrm>
          <a:prstGeom prst="rect">
            <a:avLst/>
          </a:prstGeom>
          <a:noFill/>
          <a:ln/>
        </p:spPr>
        <p:txBody>
          <a:bodyPr wrap="square" lIns="0" tIns="0" rIns="0" bIns="0" rtlCol="0" anchor="ctr"/>
          <a:lstStyle/>
          <a:p>
            <a:pPr indent="0" marL="0">
              <a:buNone/>
            </a:pPr>
            <a:r>
              <a:rPr lang="en-US" sz="1100" dirty="0">
                <a:solidFill>
                  <a:srgbClr val="F2F6F8"/>
                </a:solidFill>
                <a:latin typeface="Consolas" pitchFamily="34" charset="0"/>
                <a:ea typeface="Consolas" pitchFamily="34" charset="-122"/>
                <a:cs typeface="Consolas" pitchFamily="34" charset="-120"/>
              </a:rPr>
              <a:t>"recommendedActions": [ … ],</a:t>
            </a:r>
            <a:endParaRPr lang="en-US" sz="1100" dirty="0"/>
          </a:p>
        </p:txBody>
      </p:sp>
      <p:sp>
        <p:nvSpPr>
          <p:cNvPr id="34" name="Text 32"/>
          <p:cNvSpPr/>
          <p:nvPr/>
        </p:nvSpPr>
        <p:spPr>
          <a:xfrm>
            <a:off x="1078992" y="5582412"/>
            <a:ext cx="5486400" cy="292608"/>
          </a:xfrm>
          <a:prstGeom prst="rect">
            <a:avLst/>
          </a:prstGeom>
          <a:noFill/>
          <a:ln/>
        </p:spPr>
        <p:txBody>
          <a:bodyPr wrap="square" lIns="0" tIns="0" rIns="0" bIns="0" rtlCol="0" anchor="ctr"/>
          <a:lstStyle/>
          <a:p>
            <a:pPr indent="0" marL="0">
              <a:buNone/>
            </a:pPr>
            <a:r>
              <a:rPr lang="en-US" sz="1100" dirty="0">
                <a:solidFill>
                  <a:srgbClr val="F2F6F8"/>
                </a:solidFill>
                <a:latin typeface="Consolas" pitchFamily="34" charset="0"/>
                <a:ea typeface="Consolas" pitchFamily="34" charset="-122"/>
                <a:cs typeface="Consolas" pitchFamily="34" charset="-120"/>
              </a:rPr>
              <a:t>"executiveSummary": { … }</a:t>
            </a:r>
            <a:endParaRPr lang="en-US" sz="1100" dirty="0"/>
          </a:p>
        </p:txBody>
      </p:sp>
      <p:sp>
        <p:nvSpPr>
          <p:cNvPr id="35" name="Text 33"/>
          <p:cNvSpPr/>
          <p:nvPr/>
        </p:nvSpPr>
        <p:spPr>
          <a:xfrm>
            <a:off x="822960" y="5897880"/>
            <a:ext cx="5486400" cy="292608"/>
          </a:xfrm>
          <a:prstGeom prst="rect">
            <a:avLst/>
          </a:prstGeom>
          <a:noFill/>
          <a:ln/>
        </p:spPr>
        <p:txBody>
          <a:bodyPr wrap="square" lIns="0" tIns="0" rIns="0" bIns="0" rtlCol="0" anchor="ctr"/>
          <a:lstStyle/>
          <a:p>
            <a:pPr indent="0" marL="0">
              <a:buNone/>
            </a:pPr>
            <a:r>
              <a:rPr lang="en-US" sz="1100" dirty="0">
                <a:solidFill>
                  <a:srgbClr val="F2F6F8"/>
                </a:solidFill>
                <a:latin typeface="Consolas" pitchFamily="34" charset="0"/>
                <a:ea typeface="Consolas" pitchFamily="34" charset="-122"/>
                <a:cs typeface="Consolas" pitchFamily="34" charset="-120"/>
              </a:rPr>
              <a:t>}</a:t>
            </a:r>
            <a:endParaRPr lang="en-US" sz="1100" dirty="0"/>
          </a:p>
        </p:txBody>
      </p:sp>
      <p:sp>
        <p:nvSpPr>
          <p:cNvPr id="36" name="Text 34"/>
          <p:cNvSpPr/>
          <p:nvPr/>
        </p:nvSpPr>
        <p:spPr>
          <a:xfrm>
            <a:off x="6903720" y="2240280"/>
            <a:ext cx="4754880" cy="365760"/>
          </a:xfrm>
          <a:prstGeom prst="rect">
            <a:avLst/>
          </a:prstGeom>
          <a:noFill/>
          <a:ln/>
        </p:spPr>
        <p:txBody>
          <a:bodyPr wrap="square" lIns="0" tIns="0" rIns="0" bIns="0" rtlCol="0" anchor="ctr"/>
          <a:lstStyle/>
          <a:p>
            <a:pPr indent="0" marL="0">
              <a:buNone/>
            </a:pPr>
            <a:r>
              <a:rPr lang="en-US" sz="1600" b="1" dirty="0">
                <a:solidFill>
                  <a:srgbClr val="F2F6F8"/>
                </a:solidFill>
                <a:latin typeface="Arial" pitchFamily="34" charset="0"/>
                <a:ea typeface="Arial" pitchFamily="34" charset="-122"/>
                <a:cs typeface="Arial" pitchFamily="34" charset="-120"/>
              </a:rPr>
              <a:t>What's actually inside</a:t>
            </a:r>
            <a:endParaRPr lang="en-US" sz="1600" dirty="0"/>
          </a:p>
        </p:txBody>
      </p:sp>
      <p:sp>
        <p:nvSpPr>
          <p:cNvPr id="37" name="Shape 35"/>
          <p:cNvSpPr/>
          <p:nvPr/>
        </p:nvSpPr>
        <p:spPr>
          <a:xfrm>
            <a:off x="6903720" y="2761488"/>
            <a:ext cx="82296" cy="82296"/>
          </a:xfrm>
          <a:prstGeom prst="ellipse">
            <a:avLst/>
          </a:prstGeom>
          <a:solidFill>
            <a:srgbClr val="5EFFC1"/>
          </a:solidFill>
          <a:ln/>
        </p:spPr>
      </p:sp>
      <p:sp>
        <p:nvSpPr>
          <p:cNvPr id="38" name="Text 36"/>
          <p:cNvSpPr/>
          <p:nvPr/>
        </p:nvSpPr>
        <p:spPr>
          <a:xfrm>
            <a:off x="7132320" y="2606040"/>
            <a:ext cx="4480560" cy="685800"/>
          </a:xfrm>
          <a:prstGeom prst="rect">
            <a:avLst/>
          </a:prstGeom>
          <a:noFill/>
          <a:ln/>
        </p:spPr>
        <p:txBody>
          <a:bodyPr wrap="square" lIns="0" tIns="0" rIns="0" bIns="0" rtlCol="0" anchor="t"/>
          <a:lstStyle/>
          <a:p>
            <a:pPr indent="0" marL="0">
              <a:lnSpc>
                <a:spcPct val="125000"/>
              </a:lnSpc>
              <a:buNone/>
            </a:pPr>
            <a:r>
              <a:rPr lang="en-US" sz="1100" dirty="0">
                <a:solidFill>
                  <a:srgbClr val="7C93A3"/>
                </a:solidFill>
                <a:latin typeface="Arial" pitchFamily="34" charset="0"/>
                <a:ea typeface="Arial" pitchFamily="34" charset="-122"/>
                <a:cs typeface="Arial" pitchFamily="34" charset="-120"/>
              </a:rPr>
              <a:t>Every exception + risk item, scored and cross-linked to its case</a:t>
            </a:r>
            <a:endParaRPr lang="en-US" sz="1100" dirty="0"/>
          </a:p>
        </p:txBody>
      </p:sp>
      <p:sp>
        <p:nvSpPr>
          <p:cNvPr id="39" name="Shape 37"/>
          <p:cNvSpPr/>
          <p:nvPr/>
        </p:nvSpPr>
        <p:spPr>
          <a:xfrm>
            <a:off x="6903720" y="3538728"/>
            <a:ext cx="82296" cy="82296"/>
          </a:xfrm>
          <a:prstGeom prst="ellipse">
            <a:avLst/>
          </a:prstGeom>
          <a:solidFill>
            <a:srgbClr val="5EFFC1"/>
          </a:solidFill>
          <a:ln/>
        </p:spPr>
      </p:sp>
      <p:sp>
        <p:nvSpPr>
          <p:cNvPr id="40" name="Text 38"/>
          <p:cNvSpPr/>
          <p:nvPr/>
        </p:nvSpPr>
        <p:spPr>
          <a:xfrm>
            <a:off x="7132320" y="3383280"/>
            <a:ext cx="4480560" cy="685800"/>
          </a:xfrm>
          <a:prstGeom prst="rect">
            <a:avLst/>
          </a:prstGeom>
          <a:noFill/>
          <a:ln/>
        </p:spPr>
        <p:txBody>
          <a:bodyPr wrap="square" lIns="0" tIns="0" rIns="0" bIns="0" rtlCol="0" anchor="t"/>
          <a:lstStyle/>
          <a:p>
            <a:pPr indent="0" marL="0">
              <a:lnSpc>
                <a:spcPct val="125000"/>
              </a:lnSpc>
              <a:buNone/>
            </a:pPr>
            <a:r>
              <a:rPr lang="en-US" sz="1100" dirty="0">
                <a:solidFill>
                  <a:srgbClr val="7C93A3"/>
                </a:solidFill>
                <a:latin typeface="Arial" pitchFamily="34" charset="0"/>
                <a:ea typeface="Arial" pitchFamily="34" charset="-122"/>
                <a:cs typeface="Arial" pitchFamily="34" charset="-120"/>
              </a:rPr>
              <a:t>Quality report from the same engine the exec portal displays</a:t>
            </a:r>
            <a:endParaRPr lang="en-US" sz="1100" dirty="0"/>
          </a:p>
        </p:txBody>
      </p:sp>
      <p:sp>
        <p:nvSpPr>
          <p:cNvPr id="41" name="Shape 39"/>
          <p:cNvSpPr/>
          <p:nvPr/>
        </p:nvSpPr>
        <p:spPr>
          <a:xfrm>
            <a:off x="6903720" y="4315968"/>
            <a:ext cx="82296" cy="82296"/>
          </a:xfrm>
          <a:prstGeom prst="ellipse">
            <a:avLst/>
          </a:prstGeom>
          <a:solidFill>
            <a:srgbClr val="5EFFC1"/>
          </a:solidFill>
          <a:ln/>
        </p:spPr>
      </p:sp>
      <p:sp>
        <p:nvSpPr>
          <p:cNvPr id="42" name="Text 40"/>
          <p:cNvSpPr/>
          <p:nvPr/>
        </p:nvSpPr>
        <p:spPr>
          <a:xfrm>
            <a:off x="7132320" y="4160520"/>
            <a:ext cx="4480560" cy="685800"/>
          </a:xfrm>
          <a:prstGeom prst="rect">
            <a:avLst/>
          </a:prstGeom>
          <a:noFill/>
          <a:ln/>
        </p:spPr>
        <p:txBody>
          <a:bodyPr wrap="square" lIns="0" tIns="0" rIns="0" bIns="0" rtlCol="0" anchor="t"/>
          <a:lstStyle/>
          <a:p>
            <a:pPr indent="0" marL="0">
              <a:lnSpc>
                <a:spcPct val="125000"/>
              </a:lnSpc>
              <a:buNone/>
            </a:pPr>
            <a:r>
              <a:rPr lang="en-US" sz="1100" dirty="0">
                <a:solidFill>
                  <a:srgbClr val="7C93A3"/>
                </a:solidFill>
                <a:latin typeface="Arial" pitchFamily="34" charset="0"/>
                <a:ea typeface="Arial" pitchFamily="34" charset="-122"/>
                <a:cs typeface="Arial" pitchFamily="34" charset="-120"/>
              </a:rPr>
              <a:t>Full audit trail — real recorded provenance, empty (not fabricated) if a source isn't wired yet</a:t>
            </a:r>
            <a:endParaRPr lang="en-US" sz="1100" dirty="0"/>
          </a:p>
        </p:txBody>
      </p:sp>
      <p:sp>
        <p:nvSpPr>
          <p:cNvPr id="43" name="Shape 41"/>
          <p:cNvSpPr/>
          <p:nvPr/>
        </p:nvSpPr>
        <p:spPr>
          <a:xfrm>
            <a:off x="6903720" y="5093208"/>
            <a:ext cx="82296" cy="82296"/>
          </a:xfrm>
          <a:prstGeom prst="ellipse">
            <a:avLst/>
          </a:prstGeom>
          <a:solidFill>
            <a:srgbClr val="5EFFC1"/>
          </a:solidFill>
          <a:ln/>
        </p:spPr>
      </p:sp>
      <p:sp>
        <p:nvSpPr>
          <p:cNvPr id="44" name="Text 42"/>
          <p:cNvSpPr/>
          <p:nvPr/>
        </p:nvSpPr>
        <p:spPr>
          <a:xfrm>
            <a:off x="7132320" y="4937760"/>
            <a:ext cx="4480560" cy="685800"/>
          </a:xfrm>
          <a:prstGeom prst="rect">
            <a:avLst/>
          </a:prstGeom>
          <a:noFill/>
          <a:ln/>
        </p:spPr>
        <p:txBody>
          <a:bodyPr wrap="square" lIns="0" tIns="0" rIns="0" bIns="0" rtlCol="0" anchor="t"/>
          <a:lstStyle/>
          <a:p>
            <a:pPr indent="0" marL="0">
              <a:lnSpc>
                <a:spcPct val="125000"/>
              </a:lnSpc>
              <a:buNone/>
            </a:pPr>
            <a:r>
              <a:rPr lang="en-US" sz="1100" dirty="0">
                <a:solidFill>
                  <a:srgbClr val="7C93A3"/>
                </a:solidFill>
                <a:latin typeface="Arial" pitchFamily="34" charset="0"/>
                <a:ea typeface="Arial" pitchFamily="34" charset="-122"/>
                <a:cs typeface="Arial" pitchFamily="34" charset="-120"/>
              </a:rPr>
              <a:t>Executive summary + recommended actions, reused from the same four-question view execs already trust</a:t>
            </a:r>
            <a:endParaRPr lang="en-US" sz="1100" dirty="0"/>
          </a:p>
        </p:txBody>
      </p:sp>
      <p:sp>
        <p:nvSpPr>
          <p:cNvPr id="45" name="Shape 43"/>
          <p:cNvSpPr/>
          <p:nvPr/>
        </p:nvSpPr>
        <p:spPr>
          <a:xfrm>
            <a:off x="6903720" y="5577840"/>
            <a:ext cx="3246120" cy="502920"/>
          </a:xfrm>
          <a:prstGeom prst="roundRect">
            <a:avLst>
              <a:gd name="adj" fmla="val 10909"/>
            </a:avLst>
          </a:prstGeom>
          <a:solidFill>
            <a:srgbClr val="0F2A22"/>
          </a:solidFill>
          <a:ln w="12700">
            <a:solidFill>
              <a:srgbClr val="5EFFC1"/>
            </a:solidFill>
            <a:prstDash val="solid"/>
          </a:ln>
        </p:spPr>
      </p:sp>
      <p:sp>
        <p:nvSpPr>
          <p:cNvPr id="46" name="Text 44"/>
          <p:cNvSpPr/>
          <p:nvPr/>
        </p:nvSpPr>
        <p:spPr>
          <a:xfrm>
            <a:off x="6903720" y="5577840"/>
            <a:ext cx="3246120" cy="502920"/>
          </a:xfrm>
          <a:prstGeom prst="rect">
            <a:avLst/>
          </a:prstGeom>
          <a:noFill/>
          <a:ln/>
        </p:spPr>
        <p:txBody>
          <a:bodyPr wrap="square" lIns="0" tIns="0" rIns="0" bIns="0" rtlCol="0" anchor="ctr"/>
          <a:lstStyle/>
          <a:p>
            <a:pPr algn="ctr" indent="0" marL="0">
              <a:buNone/>
            </a:pPr>
            <a:r>
              <a:rPr lang="en-US" sz="1000" b="1" spc="100" kern="0" dirty="0">
                <a:solidFill>
                  <a:srgbClr val="5EFFC1"/>
                </a:solidFill>
                <a:latin typeface="Consolas" pitchFamily="34" charset="0"/>
                <a:ea typeface="Consolas" pitchFamily="34" charset="-122"/>
                <a:cs typeface="Consolas" pitchFamily="34" charset="-120"/>
              </a:rPr>
              <a:t>↓  EXPORT CLIENT PACKAGE</a:t>
            </a:r>
            <a:endParaRPr lang="en-US" sz="1000" dirty="0"/>
          </a:p>
        </p:txBody>
      </p:sp>
      <p:sp>
        <p:nvSpPr>
          <p:cNvPr id="47" name="Text 45"/>
          <p:cNvSpPr/>
          <p:nvPr/>
        </p:nvSpPr>
        <p:spPr>
          <a:xfrm>
            <a:off x="548640" y="6528816"/>
            <a:ext cx="4572000" cy="256032"/>
          </a:xfrm>
          <a:prstGeom prst="rect">
            <a:avLst/>
          </a:prstGeom>
          <a:noFill/>
          <a:ln/>
        </p:spPr>
        <p:txBody>
          <a:bodyPr wrap="square" lIns="0" tIns="0" rIns="0" bIns="0" rtlCol="0" anchor="ctr"/>
          <a:lstStyle/>
          <a:p>
            <a:pPr indent="0" marL="0">
              <a:buNone/>
            </a:pPr>
            <a:r>
              <a:rPr lang="en-US" sz="800" spc="100" kern="0" dirty="0">
                <a:solidFill>
                  <a:srgbClr val="4A6072"/>
                </a:solidFill>
                <a:latin typeface="Consolas" pitchFamily="34" charset="0"/>
                <a:ea typeface="Consolas" pitchFamily="34" charset="-122"/>
                <a:cs typeface="Consolas" pitchFamily="34" charset="-120"/>
              </a:rPr>
              <a:t>TSM BPO EXECUTIVE PORTAL</a:t>
            </a:r>
            <a:endParaRPr lang="en-US" sz="800" dirty="0"/>
          </a:p>
        </p:txBody>
      </p:sp>
      <p:sp>
        <p:nvSpPr>
          <p:cNvPr id="48" name="Text 46"/>
          <p:cNvSpPr/>
          <p:nvPr/>
        </p:nvSpPr>
        <p:spPr>
          <a:xfrm>
            <a:off x="11185855" y="6528816"/>
            <a:ext cx="457200" cy="256032"/>
          </a:xfrm>
          <a:prstGeom prst="rect">
            <a:avLst/>
          </a:prstGeom>
          <a:noFill/>
          <a:ln/>
        </p:spPr>
        <p:txBody>
          <a:bodyPr wrap="square" lIns="0" tIns="0" rIns="0" bIns="0" rtlCol="0" anchor="ctr"/>
          <a:lstStyle/>
          <a:p>
            <a:pPr algn="r" indent="0" marL="0">
              <a:buNone/>
            </a:pPr>
            <a:r>
              <a:rPr lang="en-US" sz="800" dirty="0">
                <a:solidFill>
                  <a:srgbClr val="4A6072"/>
                </a:solidFill>
                <a:latin typeface="Consolas" pitchFamily="34" charset="0"/>
                <a:ea typeface="Consolas" pitchFamily="34" charset="-122"/>
                <a:cs typeface="Consolas"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1A"/>
        </a:solidFill>
      </p:bgPr>
    </p:bg>
    <p:spTree>
      <p:nvGrpSpPr>
        <p:cNvPr id="1" name=""/>
        <p:cNvGrpSpPr/>
        <p:nvPr/>
      </p:nvGrpSpPr>
      <p:grpSpPr>
        <a:xfrm>
          <a:off x="0" y="0"/>
          <a:ext cx="0" cy="0"/>
          <a:chOff x="0" y="0"/>
          <a:chExt cx="0" cy="0"/>
        </a:xfrm>
      </p:grpSpPr>
      <p:sp>
        <p:nvSpPr>
          <p:cNvPr id="2" name="Shape 0"/>
          <p:cNvSpPr/>
          <p:nvPr/>
        </p:nvSpPr>
        <p:spPr>
          <a:xfrm>
            <a:off x="274320" y="256032"/>
            <a:ext cx="1228649" cy="310896"/>
          </a:xfrm>
          <a:prstGeom prst="roundRect">
            <a:avLst>
              <a:gd name="adj" fmla="val 17647"/>
            </a:avLst>
          </a:prstGeom>
          <a:solidFill>
            <a:srgbClr val="13232F"/>
          </a:solidFill>
          <a:ln w="9525">
            <a:solidFill>
              <a:srgbClr val="1A3A50"/>
            </a:solidFill>
            <a:prstDash val="solid"/>
          </a:ln>
        </p:spPr>
      </p:sp>
      <p:sp>
        <p:nvSpPr>
          <p:cNvPr id="3" name="Text 1">
            <a:hlinkClick r:id="rId1" tooltip="" action="ppaction://hlinksldjump"/>
          </p:cNvPr>
          <p:cNvSpPr/>
          <p:nvPr/>
        </p:nvSpPr>
        <p:spPr>
          <a:xfrm>
            <a:off x="274320"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1" action="ppaction://hlinksldjump" tooltip="">
                  <a:extLst>
                    <a:ext uri="{A12FA001-AC4F-418D-AE19-62706E023703}">
                      <ahyp:hlinkClr xmlns:ahyp="http://schemas.microsoft.com/office/drawing/2018/hyperlinkcolor" val="tx"/>
                    </a:ext>
                  </a:extLst>
                </a:hlinkClick>
              </a:rPr>
              <a:t>AGENDA</a:t>
            </a:r>
            <a:endParaRPr lang="en-US" sz="750" dirty="0"/>
          </a:p>
        </p:txBody>
      </p:sp>
      <p:sp>
        <p:nvSpPr>
          <p:cNvPr id="4" name="Shape 2"/>
          <p:cNvSpPr/>
          <p:nvPr/>
        </p:nvSpPr>
        <p:spPr>
          <a:xfrm>
            <a:off x="1576121" y="256032"/>
            <a:ext cx="1228649" cy="310896"/>
          </a:xfrm>
          <a:prstGeom prst="roundRect">
            <a:avLst>
              <a:gd name="adj" fmla="val 17647"/>
            </a:avLst>
          </a:prstGeom>
          <a:solidFill>
            <a:srgbClr val="13232F"/>
          </a:solidFill>
          <a:ln w="9525">
            <a:solidFill>
              <a:srgbClr val="1A3A50"/>
            </a:solidFill>
            <a:prstDash val="solid"/>
          </a:ln>
        </p:spPr>
      </p:sp>
      <p:sp>
        <p:nvSpPr>
          <p:cNvPr id="5" name="Text 3">
            <a:hlinkClick r:id="rId2" tooltip="" action="ppaction://hlinksldjump"/>
          </p:cNvPr>
          <p:cNvSpPr/>
          <p:nvPr/>
        </p:nvSpPr>
        <p:spPr>
          <a:xfrm>
            <a:off x="1576121"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THE PROBLEM</a:t>
            </a:r>
            <a:endParaRPr lang="en-US" sz="750" dirty="0"/>
          </a:p>
        </p:txBody>
      </p:sp>
      <p:sp>
        <p:nvSpPr>
          <p:cNvPr id="6" name="Shape 4"/>
          <p:cNvSpPr/>
          <p:nvPr/>
        </p:nvSpPr>
        <p:spPr>
          <a:xfrm>
            <a:off x="2877922" y="256032"/>
            <a:ext cx="1228649" cy="310896"/>
          </a:xfrm>
          <a:prstGeom prst="roundRect">
            <a:avLst>
              <a:gd name="adj" fmla="val 17647"/>
            </a:avLst>
          </a:prstGeom>
          <a:solidFill>
            <a:srgbClr val="13232F"/>
          </a:solidFill>
          <a:ln w="9525">
            <a:solidFill>
              <a:srgbClr val="1A3A50"/>
            </a:solidFill>
            <a:prstDash val="solid"/>
          </a:ln>
        </p:spPr>
      </p:sp>
      <p:sp>
        <p:nvSpPr>
          <p:cNvPr id="7" name="Text 5">
            <a:hlinkClick r:id="rId3" tooltip="" action="ppaction://hlinksldjump"/>
          </p:cNvPr>
          <p:cNvSpPr/>
          <p:nvPr/>
        </p:nvSpPr>
        <p:spPr>
          <a:xfrm>
            <a:off x="28779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LIVE WIP</a:t>
            </a:r>
            <a:endParaRPr lang="en-US" sz="750" dirty="0"/>
          </a:p>
        </p:txBody>
      </p:sp>
      <p:sp>
        <p:nvSpPr>
          <p:cNvPr id="8" name="Shape 6"/>
          <p:cNvSpPr/>
          <p:nvPr/>
        </p:nvSpPr>
        <p:spPr>
          <a:xfrm>
            <a:off x="4179722" y="256032"/>
            <a:ext cx="1228649" cy="310896"/>
          </a:xfrm>
          <a:prstGeom prst="roundRect">
            <a:avLst>
              <a:gd name="adj" fmla="val 17647"/>
            </a:avLst>
          </a:prstGeom>
          <a:solidFill>
            <a:srgbClr val="13232F"/>
          </a:solidFill>
          <a:ln w="9525">
            <a:solidFill>
              <a:srgbClr val="1A3A50"/>
            </a:solidFill>
            <a:prstDash val="solid"/>
          </a:ln>
        </p:spPr>
      </p:sp>
      <p:sp>
        <p:nvSpPr>
          <p:cNvPr id="9" name="Text 7">
            <a:hlinkClick r:id="rId4" tooltip="" action="ppaction://hlinksldjump"/>
          </p:cNvPr>
          <p:cNvSpPr/>
          <p:nvPr/>
        </p:nvSpPr>
        <p:spPr>
          <a:xfrm>
            <a:off x="41797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4" action="ppaction://hlinksldjump" tooltip="">
                  <a:extLst>
                    <a:ext uri="{A12FA001-AC4F-418D-AE19-62706E023703}">
                      <ahyp:hlinkClr xmlns:ahyp="http://schemas.microsoft.com/office/drawing/2018/hyperlinkcolor" val="tx"/>
                    </a:ext>
                  </a:extLst>
                </a:hlinkClick>
              </a:rPr>
              <a:t>EXPLAINABILITY</a:t>
            </a:r>
            <a:endParaRPr lang="en-US" sz="750" dirty="0"/>
          </a:p>
        </p:txBody>
      </p:sp>
      <p:sp>
        <p:nvSpPr>
          <p:cNvPr id="10" name="Shape 8"/>
          <p:cNvSpPr/>
          <p:nvPr/>
        </p:nvSpPr>
        <p:spPr>
          <a:xfrm>
            <a:off x="5481523" y="256032"/>
            <a:ext cx="1228649" cy="310896"/>
          </a:xfrm>
          <a:prstGeom prst="roundRect">
            <a:avLst>
              <a:gd name="adj" fmla="val 17647"/>
            </a:avLst>
          </a:prstGeom>
          <a:solidFill>
            <a:srgbClr val="13232F"/>
          </a:solidFill>
          <a:ln w="9525">
            <a:solidFill>
              <a:srgbClr val="1A3A50"/>
            </a:solidFill>
            <a:prstDash val="solid"/>
          </a:ln>
        </p:spPr>
      </p:sp>
      <p:sp>
        <p:nvSpPr>
          <p:cNvPr id="11" name="Text 9">
            <a:hlinkClick r:id="rId5" tooltip="" action="ppaction://hlinksldjump"/>
          </p:cNvPr>
          <p:cNvSpPr/>
          <p:nvPr/>
        </p:nvSpPr>
        <p:spPr>
          <a:xfrm>
            <a:off x="5481523"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5" action="ppaction://hlinksldjump" tooltip="">
                  <a:extLst>
                    <a:ext uri="{A12FA001-AC4F-418D-AE19-62706E023703}">
                      <ahyp:hlinkClr xmlns:ahyp="http://schemas.microsoft.com/office/drawing/2018/hyperlinkcolor" val="tx"/>
                    </a:ext>
                  </a:extLst>
                </a:hlinkClick>
              </a:rPr>
              <a:t>CASE GOVERNANCE</a:t>
            </a:r>
            <a:endParaRPr lang="en-US" sz="750" dirty="0"/>
          </a:p>
        </p:txBody>
      </p:sp>
      <p:sp>
        <p:nvSpPr>
          <p:cNvPr id="12" name="Shape 10"/>
          <p:cNvSpPr/>
          <p:nvPr/>
        </p:nvSpPr>
        <p:spPr>
          <a:xfrm>
            <a:off x="6783324" y="256032"/>
            <a:ext cx="1228649" cy="310896"/>
          </a:xfrm>
          <a:prstGeom prst="roundRect">
            <a:avLst>
              <a:gd name="adj" fmla="val 17647"/>
            </a:avLst>
          </a:prstGeom>
          <a:solidFill>
            <a:srgbClr val="13232F"/>
          </a:solidFill>
          <a:ln w="9525">
            <a:solidFill>
              <a:srgbClr val="1A3A50"/>
            </a:solidFill>
            <a:prstDash val="solid"/>
          </a:ln>
        </p:spPr>
      </p:sp>
      <p:sp>
        <p:nvSpPr>
          <p:cNvPr id="13" name="Text 11">
            <a:hlinkClick r:id="rId6" tooltip="" action="ppaction://hlinksldjump"/>
          </p:cNvPr>
          <p:cNvSpPr/>
          <p:nvPr/>
        </p:nvSpPr>
        <p:spPr>
          <a:xfrm>
            <a:off x="6783324"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6" action="ppaction://hlinksldjump" tooltip="">
                  <a:extLst>
                    <a:ext uri="{A12FA001-AC4F-418D-AE19-62706E023703}">
                      <ahyp:hlinkClr xmlns:ahyp="http://schemas.microsoft.com/office/drawing/2018/hyperlinkcolor" val="tx"/>
                    </a:ext>
                  </a:extLst>
                </a:hlinkClick>
              </a:rPr>
              <a:t>DELIVERY PKG</a:t>
            </a:r>
            <a:endParaRPr lang="en-US" sz="750" dirty="0"/>
          </a:p>
        </p:txBody>
      </p:sp>
      <p:sp>
        <p:nvSpPr>
          <p:cNvPr id="14" name="Shape 12"/>
          <p:cNvSpPr/>
          <p:nvPr/>
        </p:nvSpPr>
        <p:spPr>
          <a:xfrm>
            <a:off x="8085125" y="256032"/>
            <a:ext cx="1228649" cy="310896"/>
          </a:xfrm>
          <a:prstGeom prst="roundRect">
            <a:avLst>
              <a:gd name="adj" fmla="val 17647"/>
            </a:avLst>
          </a:prstGeom>
          <a:solidFill>
            <a:srgbClr val="5EFFC1"/>
          </a:solidFill>
          <a:ln w="9525">
            <a:solidFill>
              <a:srgbClr val="5EFFC1"/>
            </a:solidFill>
            <a:prstDash val="solid"/>
          </a:ln>
        </p:spPr>
      </p:sp>
      <p:sp>
        <p:nvSpPr>
          <p:cNvPr id="15" name="Text 13">
            <a:hlinkClick r:id="rId7" tooltip="" action="ppaction://hlinksldjump"/>
          </p:cNvPr>
          <p:cNvSpPr/>
          <p:nvPr/>
        </p:nvSpPr>
        <p:spPr>
          <a:xfrm>
            <a:off x="8085125" y="256032"/>
            <a:ext cx="1228649" cy="310896"/>
          </a:xfrm>
          <a:prstGeom prst="rect">
            <a:avLst/>
          </a:prstGeom>
          <a:noFill/>
          <a:ln/>
        </p:spPr>
        <p:txBody>
          <a:bodyPr wrap="square" lIns="0" tIns="0" rIns="0" bIns="0" rtlCol="0" anchor="ctr"/>
          <a:lstStyle/>
          <a:p>
            <a:pPr algn="ctr" indent="0" marL="0">
              <a:buNone/>
            </a:pPr>
            <a:r>
              <a:rPr lang="en-US" sz="750" b="1" u="sng" spc="50" kern="0" dirty="0">
                <a:solidFill>
                  <a:srgbClr val="07120D"/>
                </a:solidFill>
                <a:latin typeface="Consolas" pitchFamily="34" charset="0"/>
                <a:ea typeface="Consolas" pitchFamily="34" charset="-122"/>
                <a:cs typeface="Consolas" pitchFamily="34" charset="-120"/>
                <a:hlinkClick r:id="rId7" action="ppaction://hlinksldjump" tooltip="">
                  <a:extLst>
                    <a:ext uri="{A12FA001-AC4F-418D-AE19-62706E023703}">
                      <ahyp:hlinkClr xmlns:ahyp="http://schemas.microsoft.com/office/drawing/2018/hyperlinkcolor" val="tx"/>
                    </a:ext>
                  </a:extLst>
                </a:hlinkClick>
              </a:rPr>
              <a:t>ONE PLATFORM</a:t>
            </a:r>
            <a:endParaRPr lang="en-US" sz="750" dirty="0"/>
          </a:p>
        </p:txBody>
      </p:sp>
      <p:sp>
        <p:nvSpPr>
          <p:cNvPr id="16" name="Shape 14"/>
          <p:cNvSpPr/>
          <p:nvPr/>
        </p:nvSpPr>
        <p:spPr>
          <a:xfrm>
            <a:off x="9386926" y="256032"/>
            <a:ext cx="1228649" cy="310896"/>
          </a:xfrm>
          <a:prstGeom prst="roundRect">
            <a:avLst>
              <a:gd name="adj" fmla="val 17647"/>
            </a:avLst>
          </a:prstGeom>
          <a:solidFill>
            <a:srgbClr val="13232F"/>
          </a:solidFill>
          <a:ln w="9525">
            <a:solidFill>
              <a:srgbClr val="1A3A50"/>
            </a:solidFill>
            <a:prstDash val="solid"/>
          </a:ln>
        </p:spPr>
      </p:sp>
      <p:sp>
        <p:nvSpPr>
          <p:cNvPr id="17" name="Text 15">
            <a:hlinkClick r:id="rId8" tooltip="" action="ppaction://hlinksldjump"/>
          </p:cNvPr>
          <p:cNvSpPr/>
          <p:nvPr/>
        </p:nvSpPr>
        <p:spPr>
          <a:xfrm>
            <a:off x="93869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8" action="ppaction://hlinksldjump" tooltip="">
                  <a:extLst>
                    <a:ext uri="{A12FA001-AC4F-418D-AE19-62706E023703}">
                      <ahyp:hlinkClr xmlns:ahyp="http://schemas.microsoft.com/office/drawing/2018/hyperlinkcolor" val="tx"/>
                    </a:ext>
                  </a:extLst>
                </a:hlinkClick>
              </a:rPr>
              <a:t>LIVE DEMO</a:t>
            </a:r>
            <a:endParaRPr lang="en-US" sz="750" dirty="0"/>
          </a:p>
        </p:txBody>
      </p:sp>
      <p:sp>
        <p:nvSpPr>
          <p:cNvPr id="18" name="Shape 16"/>
          <p:cNvSpPr/>
          <p:nvPr/>
        </p:nvSpPr>
        <p:spPr>
          <a:xfrm>
            <a:off x="10688726" y="256032"/>
            <a:ext cx="1228649" cy="310896"/>
          </a:xfrm>
          <a:prstGeom prst="roundRect">
            <a:avLst>
              <a:gd name="adj" fmla="val 17647"/>
            </a:avLst>
          </a:prstGeom>
          <a:solidFill>
            <a:srgbClr val="13232F"/>
          </a:solidFill>
          <a:ln w="9525">
            <a:solidFill>
              <a:srgbClr val="1A3A50"/>
            </a:solidFill>
            <a:prstDash val="solid"/>
          </a:ln>
        </p:spPr>
      </p:sp>
      <p:sp>
        <p:nvSpPr>
          <p:cNvPr id="19" name="Text 17">
            <a:hlinkClick r:id="rId9" tooltip="" action="ppaction://hlinksldjump"/>
          </p:cNvPr>
          <p:cNvSpPr/>
          <p:nvPr/>
        </p:nvSpPr>
        <p:spPr>
          <a:xfrm>
            <a:off x="106887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9" action="ppaction://hlinksldjump" tooltip="">
                  <a:extLst>
                    <a:ext uri="{A12FA001-AC4F-418D-AE19-62706E023703}">
                      <ahyp:hlinkClr xmlns:ahyp="http://schemas.microsoft.com/office/drawing/2018/hyperlinkcolor" val="tx"/>
                    </a:ext>
                  </a:extLst>
                </a:hlinkClick>
              </a:rPr>
              <a:t>THE ASK</a:t>
            </a:r>
            <a:endParaRPr lang="en-US" sz="750" dirty="0"/>
          </a:p>
        </p:txBody>
      </p:sp>
      <p:sp>
        <p:nvSpPr>
          <p:cNvPr id="20" name="Text 18"/>
          <p:cNvSpPr/>
          <p:nvPr/>
        </p:nvSpPr>
        <p:spPr>
          <a:xfrm>
            <a:off x="548640" y="868680"/>
            <a:ext cx="7315200" cy="274320"/>
          </a:xfrm>
          <a:prstGeom prst="rect">
            <a:avLst/>
          </a:prstGeom>
          <a:noFill/>
          <a:ln/>
        </p:spPr>
        <p:txBody>
          <a:bodyPr wrap="square" lIns="0" tIns="0" rIns="0" bIns="0" rtlCol="0" anchor="ctr"/>
          <a:lstStyle/>
          <a:p>
            <a:pPr indent="0" marL="0">
              <a:buNone/>
            </a:pPr>
            <a:r>
              <a:rPr lang="en-US" sz="1100" b="1" spc="200" kern="0" dirty="0">
                <a:solidFill>
                  <a:srgbClr val="5EFFC1"/>
                </a:solidFill>
                <a:latin typeface="Consolas" pitchFamily="34" charset="0"/>
                <a:ea typeface="Consolas" pitchFamily="34" charset="-122"/>
                <a:cs typeface="Consolas" pitchFamily="34" charset="-120"/>
              </a:rPr>
              <a:t>WHY THIS SCALES</a:t>
            </a:r>
            <a:endParaRPr lang="en-US" sz="1100" dirty="0"/>
          </a:p>
        </p:txBody>
      </p:sp>
      <p:sp>
        <p:nvSpPr>
          <p:cNvPr id="21" name="Text 19"/>
          <p:cNvSpPr/>
          <p:nvPr/>
        </p:nvSpPr>
        <p:spPr>
          <a:xfrm>
            <a:off x="548640" y="1161288"/>
            <a:ext cx="10515600" cy="822960"/>
          </a:xfrm>
          <a:prstGeom prst="rect">
            <a:avLst/>
          </a:prstGeom>
          <a:noFill/>
          <a:ln/>
        </p:spPr>
        <p:txBody>
          <a:bodyPr wrap="square" lIns="0" tIns="0" rIns="0" bIns="0" rtlCol="0" anchor="ctr"/>
          <a:lstStyle/>
          <a:p>
            <a:pPr indent="0" marL="0">
              <a:buNone/>
            </a:pPr>
            <a:r>
              <a:rPr lang="en-US" sz="3000" b="1" dirty="0">
                <a:solidFill>
                  <a:srgbClr val="F2F6F8"/>
                </a:solidFill>
                <a:latin typeface="Arial" pitchFamily="34" charset="0"/>
                <a:ea typeface="Arial" pitchFamily="34" charset="-122"/>
                <a:cs typeface="Arial" pitchFamily="34" charset="-120"/>
              </a:rPr>
              <a:t>One Engine. Seven Verticals.</a:t>
            </a:r>
            <a:endParaRPr lang="en-US" sz="3000" dirty="0"/>
          </a:p>
          <a:p>
            <a:pPr indent="0" marL="0">
              <a:buNone/>
            </a:pPr>
            <a:r>
              <a:rPr lang="en-US" sz="3000" b="1" dirty="0">
                <a:solidFill>
                  <a:srgbClr val="F2F6F8"/>
                </a:solidFill>
                <a:latin typeface="Arial" pitchFamily="34" charset="0"/>
                <a:ea typeface="Arial" pitchFamily="34" charset="-122"/>
                <a:cs typeface="Arial" pitchFamily="34" charset="-120"/>
              </a:rPr>
              <a:t>No Reinvented Wheel.</a:t>
            </a:r>
            <a:endParaRPr lang="en-US" sz="3000" dirty="0"/>
          </a:p>
        </p:txBody>
      </p:sp>
      <p:sp>
        <p:nvSpPr>
          <p:cNvPr id="22" name="Shape 20"/>
          <p:cNvSpPr/>
          <p:nvPr/>
        </p:nvSpPr>
        <p:spPr>
          <a:xfrm>
            <a:off x="548640" y="2286000"/>
            <a:ext cx="1508760" cy="777240"/>
          </a:xfrm>
          <a:prstGeom prst="roundRect">
            <a:avLst>
              <a:gd name="adj" fmla="val 8235"/>
            </a:avLst>
          </a:prstGeom>
          <a:solidFill>
            <a:srgbClr val="0F2A22"/>
          </a:solidFill>
          <a:ln w="15875">
            <a:solidFill>
              <a:srgbClr val="5EFFC1"/>
            </a:solidFill>
            <a:prstDash val="solid"/>
          </a:ln>
        </p:spPr>
      </p:sp>
      <p:sp>
        <p:nvSpPr>
          <p:cNvPr id="23" name="Text 21"/>
          <p:cNvSpPr/>
          <p:nvPr/>
        </p:nvSpPr>
        <p:spPr>
          <a:xfrm>
            <a:off x="548640" y="2286000"/>
            <a:ext cx="1508760" cy="777240"/>
          </a:xfrm>
          <a:prstGeom prst="rect">
            <a:avLst/>
          </a:prstGeom>
          <a:noFill/>
          <a:ln/>
        </p:spPr>
        <p:txBody>
          <a:bodyPr wrap="square" lIns="0" tIns="0" rIns="0" bIns="0" rtlCol="0" anchor="ctr"/>
          <a:lstStyle/>
          <a:p>
            <a:pPr algn="ctr" indent="0" marL="0">
              <a:buNone/>
            </a:pPr>
            <a:r>
              <a:rPr lang="en-US" sz="1150" b="1" dirty="0">
                <a:solidFill>
                  <a:srgbClr val="5EFFC1"/>
                </a:solidFill>
                <a:latin typeface="Arial" pitchFamily="34" charset="0"/>
                <a:ea typeface="Arial" pitchFamily="34" charset="-122"/>
                <a:cs typeface="Arial" pitchFamily="34" charset="-120"/>
              </a:rPr>
              <a:t>BPO</a:t>
            </a:r>
            <a:endParaRPr lang="en-US" sz="1150" dirty="0"/>
          </a:p>
        </p:txBody>
      </p:sp>
      <p:sp>
        <p:nvSpPr>
          <p:cNvPr id="24" name="Shape 22"/>
          <p:cNvSpPr/>
          <p:nvPr/>
        </p:nvSpPr>
        <p:spPr>
          <a:xfrm>
            <a:off x="2185416" y="2286000"/>
            <a:ext cx="1508760" cy="777240"/>
          </a:xfrm>
          <a:prstGeom prst="roundRect">
            <a:avLst>
              <a:gd name="adj" fmla="val 8235"/>
            </a:avLst>
          </a:prstGeom>
          <a:solidFill>
            <a:srgbClr val="0F1B26"/>
          </a:solidFill>
          <a:ln w="12700">
            <a:solidFill>
              <a:srgbClr val="1A3A50"/>
            </a:solidFill>
            <a:prstDash val="solid"/>
          </a:ln>
        </p:spPr>
      </p:sp>
      <p:sp>
        <p:nvSpPr>
          <p:cNvPr id="25" name="Text 23"/>
          <p:cNvSpPr/>
          <p:nvPr/>
        </p:nvSpPr>
        <p:spPr>
          <a:xfrm>
            <a:off x="2185416" y="2286000"/>
            <a:ext cx="1508760" cy="777240"/>
          </a:xfrm>
          <a:prstGeom prst="rect">
            <a:avLst/>
          </a:prstGeom>
          <a:noFill/>
          <a:ln/>
        </p:spPr>
        <p:txBody>
          <a:bodyPr wrap="square" lIns="0" tIns="0" rIns="0" bIns="0" rtlCol="0" anchor="ctr"/>
          <a:lstStyle/>
          <a:p>
            <a:pPr algn="ctr" indent="0" marL="0">
              <a:buNone/>
            </a:pPr>
            <a:r>
              <a:rPr lang="en-US" sz="1150" dirty="0">
                <a:solidFill>
                  <a:srgbClr val="F2F6F8"/>
                </a:solidFill>
                <a:latin typeface="Arial" pitchFamily="34" charset="0"/>
                <a:ea typeface="Arial" pitchFamily="34" charset="-122"/>
                <a:cs typeface="Arial" pitchFamily="34" charset="-120"/>
              </a:rPr>
              <a:t>Healthcare</a:t>
            </a:r>
            <a:endParaRPr lang="en-US" sz="1150" dirty="0"/>
          </a:p>
        </p:txBody>
      </p:sp>
      <p:sp>
        <p:nvSpPr>
          <p:cNvPr id="26" name="Shape 24"/>
          <p:cNvSpPr/>
          <p:nvPr/>
        </p:nvSpPr>
        <p:spPr>
          <a:xfrm>
            <a:off x="3822192" y="2286000"/>
            <a:ext cx="1508760" cy="777240"/>
          </a:xfrm>
          <a:prstGeom prst="roundRect">
            <a:avLst>
              <a:gd name="adj" fmla="val 8235"/>
            </a:avLst>
          </a:prstGeom>
          <a:solidFill>
            <a:srgbClr val="0F1B26"/>
          </a:solidFill>
          <a:ln w="12700">
            <a:solidFill>
              <a:srgbClr val="1A3A50"/>
            </a:solidFill>
            <a:prstDash val="solid"/>
          </a:ln>
        </p:spPr>
      </p:sp>
      <p:sp>
        <p:nvSpPr>
          <p:cNvPr id="27" name="Text 25"/>
          <p:cNvSpPr/>
          <p:nvPr/>
        </p:nvSpPr>
        <p:spPr>
          <a:xfrm>
            <a:off x="3822192" y="2286000"/>
            <a:ext cx="1508760" cy="777240"/>
          </a:xfrm>
          <a:prstGeom prst="rect">
            <a:avLst/>
          </a:prstGeom>
          <a:noFill/>
          <a:ln/>
        </p:spPr>
        <p:txBody>
          <a:bodyPr wrap="square" lIns="0" tIns="0" rIns="0" bIns="0" rtlCol="0" anchor="ctr"/>
          <a:lstStyle/>
          <a:p>
            <a:pPr algn="ctr" indent="0" marL="0">
              <a:buNone/>
            </a:pPr>
            <a:r>
              <a:rPr lang="en-US" sz="1150" dirty="0">
                <a:solidFill>
                  <a:srgbClr val="F2F6F8"/>
                </a:solidFill>
                <a:latin typeface="Arial" pitchFamily="34" charset="0"/>
                <a:ea typeface="Arial" pitchFamily="34" charset="-122"/>
                <a:cs typeface="Arial" pitchFamily="34" charset="-120"/>
              </a:rPr>
              <a:t>Insurance</a:t>
            </a:r>
            <a:endParaRPr lang="en-US" sz="1150" dirty="0"/>
          </a:p>
        </p:txBody>
      </p:sp>
      <p:sp>
        <p:nvSpPr>
          <p:cNvPr id="28" name="Shape 26"/>
          <p:cNvSpPr/>
          <p:nvPr/>
        </p:nvSpPr>
        <p:spPr>
          <a:xfrm>
            <a:off x="5458968" y="2286000"/>
            <a:ext cx="1508760" cy="777240"/>
          </a:xfrm>
          <a:prstGeom prst="roundRect">
            <a:avLst>
              <a:gd name="adj" fmla="val 8235"/>
            </a:avLst>
          </a:prstGeom>
          <a:solidFill>
            <a:srgbClr val="0F1B26"/>
          </a:solidFill>
          <a:ln w="12700">
            <a:solidFill>
              <a:srgbClr val="1A3A50"/>
            </a:solidFill>
            <a:prstDash val="solid"/>
          </a:ln>
        </p:spPr>
      </p:sp>
      <p:sp>
        <p:nvSpPr>
          <p:cNvPr id="29" name="Text 27"/>
          <p:cNvSpPr/>
          <p:nvPr/>
        </p:nvSpPr>
        <p:spPr>
          <a:xfrm>
            <a:off x="5458968" y="2286000"/>
            <a:ext cx="1508760" cy="777240"/>
          </a:xfrm>
          <a:prstGeom prst="rect">
            <a:avLst/>
          </a:prstGeom>
          <a:noFill/>
          <a:ln/>
        </p:spPr>
        <p:txBody>
          <a:bodyPr wrap="square" lIns="0" tIns="0" rIns="0" bIns="0" rtlCol="0" anchor="ctr"/>
          <a:lstStyle/>
          <a:p>
            <a:pPr algn="ctr" indent="0" marL="0">
              <a:buNone/>
            </a:pPr>
            <a:r>
              <a:rPr lang="en-US" sz="1150" dirty="0">
                <a:solidFill>
                  <a:srgbClr val="F2F6F8"/>
                </a:solidFill>
                <a:latin typeface="Arial" pitchFamily="34" charset="0"/>
                <a:ea typeface="Arial" pitchFamily="34" charset="-122"/>
                <a:cs typeface="Arial" pitchFamily="34" charset="-120"/>
              </a:rPr>
              <a:t>Real Estate</a:t>
            </a:r>
            <a:endParaRPr lang="en-US" sz="1150" dirty="0"/>
          </a:p>
        </p:txBody>
      </p:sp>
      <p:sp>
        <p:nvSpPr>
          <p:cNvPr id="30" name="Shape 28"/>
          <p:cNvSpPr/>
          <p:nvPr/>
        </p:nvSpPr>
        <p:spPr>
          <a:xfrm>
            <a:off x="7095744" y="2286000"/>
            <a:ext cx="1508760" cy="777240"/>
          </a:xfrm>
          <a:prstGeom prst="roundRect">
            <a:avLst>
              <a:gd name="adj" fmla="val 8235"/>
            </a:avLst>
          </a:prstGeom>
          <a:solidFill>
            <a:srgbClr val="0F1B26"/>
          </a:solidFill>
          <a:ln w="12700">
            <a:solidFill>
              <a:srgbClr val="1A3A50"/>
            </a:solidFill>
            <a:prstDash val="solid"/>
          </a:ln>
        </p:spPr>
      </p:sp>
      <p:sp>
        <p:nvSpPr>
          <p:cNvPr id="31" name="Text 29"/>
          <p:cNvSpPr/>
          <p:nvPr/>
        </p:nvSpPr>
        <p:spPr>
          <a:xfrm>
            <a:off x="7095744" y="2286000"/>
            <a:ext cx="1508760" cy="777240"/>
          </a:xfrm>
          <a:prstGeom prst="rect">
            <a:avLst/>
          </a:prstGeom>
          <a:noFill/>
          <a:ln/>
        </p:spPr>
        <p:txBody>
          <a:bodyPr wrap="square" lIns="0" tIns="0" rIns="0" bIns="0" rtlCol="0" anchor="ctr"/>
          <a:lstStyle/>
          <a:p>
            <a:pPr algn="ctr" indent="0" marL="0">
              <a:buNone/>
            </a:pPr>
            <a:r>
              <a:rPr lang="en-US" sz="1150" dirty="0">
                <a:solidFill>
                  <a:srgbClr val="F2F6F8"/>
                </a:solidFill>
                <a:latin typeface="Arial" pitchFamily="34" charset="0"/>
                <a:ea typeface="Arial" pitchFamily="34" charset="-122"/>
                <a:cs typeface="Arial" pitchFamily="34" charset="-120"/>
              </a:rPr>
              <a:t>Construction</a:t>
            </a:r>
            <a:endParaRPr lang="en-US" sz="1150" dirty="0"/>
          </a:p>
        </p:txBody>
      </p:sp>
      <p:sp>
        <p:nvSpPr>
          <p:cNvPr id="32" name="Shape 30"/>
          <p:cNvSpPr/>
          <p:nvPr/>
        </p:nvSpPr>
        <p:spPr>
          <a:xfrm>
            <a:off x="8732520" y="2286000"/>
            <a:ext cx="1508760" cy="777240"/>
          </a:xfrm>
          <a:prstGeom prst="roundRect">
            <a:avLst>
              <a:gd name="adj" fmla="val 8235"/>
            </a:avLst>
          </a:prstGeom>
          <a:solidFill>
            <a:srgbClr val="0F1B26"/>
          </a:solidFill>
          <a:ln w="12700">
            <a:solidFill>
              <a:srgbClr val="1A3A50"/>
            </a:solidFill>
            <a:prstDash val="solid"/>
          </a:ln>
        </p:spPr>
      </p:sp>
      <p:sp>
        <p:nvSpPr>
          <p:cNvPr id="33" name="Text 31"/>
          <p:cNvSpPr/>
          <p:nvPr/>
        </p:nvSpPr>
        <p:spPr>
          <a:xfrm>
            <a:off x="8732520" y="2286000"/>
            <a:ext cx="1508760" cy="777240"/>
          </a:xfrm>
          <a:prstGeom prst="rect">
            <a:avLst/>
          </a:prstGeom>
          <a:noFill/>
          <a:ln/>
        </p:spPr>
        <p:txBody>
          <a:bodyPr wrap="square" lIns="0" tIns="0" rIns="0" bIns="0" rtlCol="0" anchor="ctr"/>
          <a:lstStyle/>
          <a:p>
            <a:pPr algn="ctr" indent="0" marL="0">
              <a:buNone/>
            </a:pPr>
            <a:r>
              <a:rPr lang="en-US" sz="1150" dirty="0">
                <a:solidFill>
                  <a:srgbClr val="F2F6F8"/>
                </a:solidFill>
                <a:latin typeface="Arial" pitchFamily="34" charset="0"/>
                <a:ea typeface="Arial" pitchFamily="34" charset="-122"/>
                <a:cs typeface="Arial" pitchFamily="34" charset="-120"/>
              </a:rPr>
              <a:t>Legal</a:t>
            </a:r>
            <a:endParaRPr lang="en-US" sz="1150" dirty="0"/>
          </a:p>
        </p:txBody>
      </p:sp>
      <p:sp>
        <p:nvSpPr>
          <p:cNvPr id="34" name="Shape 32"/>
          <p:cNvSpPr/>
          <p:nvPr/>
        </p:nvSpPr>
        <p:spPr>
          <a:xfrm>
            <a:off x="10369296" y="2286000"/>
            <a:ext cx="1508760" cy="777240"/>
          </a:xfrm>
          <a:prstGeom prst="roundRect">
            <a:avLst>
              <a:gd name="adj" fmla="val 8235"/>
            </a:avLst>
          </a:prstGeom>
          <a:solidFill>
            <a:srgbClr val="0F1B26"/>
          </a:solidFill>
          <a:ln w="12700">
            <a:solidFill>
              <a:srgbClr val="1A3A50"/>
            </a:solidFill>
            <a:prstDash val="solid"/>
          </a:ln>
        </p:spPr>
      </p:sp>
      <p:sp>
        <p:nvSpPr>
          <p:cNvPr id="35" name="Text 33"/>
          <p:cNvSpPr/>
          <p:nvPr/>
        </p:nvSpPr>
        <p:spPr>
          <a:xfrm>
            <a:off x="10369296" y="2286000"/>
            <a:ext cx="1508760" cy="777240"/>
          </a:xfrm>
          <a:prstGeom prst="rect">
            <a:avLst/>
          </a:prstGeom>
          <a:noFill/>
          <a:ln/>
        </p:spPr>
        <p:txBody>
          <a:bodyPr wrap="square" lIns="0" tIns="0" rIns="0" bIns="0" rtlCol="0" anchor="ctr"/>
          <a:lstStyle/>
          <a:p>
            <a:pPr algn="ctr" indent="0" marL="0">
              <a:buNone/>
            </a:pPr>
            <a:r>
              <a:rPr lang="en-US" sz="1150" dirty="0">
                <a:solidFill>
                  <a:srgbClr val="F2F6F8"/>
                </a:solidFill>
                <a:latin typeface="Arial" pitchFamily="34" charset="0"/>
                <a:ea typeface="Arial" pitchFamily="34" charset="-122"/>
                <a:cs typeface="Arial" pitchFamily="34" charset="-120"/>
              </a:rPr>
              <a:t>FinOps</a:t>
            </a:r>
            <a:endParaRPr lang="en-US" sz="1150" dirty="0"/>
          </a:p>
        </p:txBody>
      </p:sp>
      <p:sp>
        <p:nvSpPr>
          <p:cNvPr id="36" name="Text 34"/>
          <p:cNvSpPr/>
          <p:nvPr/>
        </p:nvSpPr>
        <p:spPr>
          <a:xfrm>
            <a:off x="548640" y="3337560"/>
            <a:ext cx="11064240" cy="320040"/>
          </a:xfrm>
          <a:prstGeom prst="rect">
            <a:avLst/>
          </a:prstGeom>
          <a:noFill/>
          <a:ln/>
        </p:spPr>
        <p:txBody>
          <a:bodyPr wrap="square" lIns="0" tIns="0" rIns="0" bIns="0" rtlCol="0" anchor="ctr"/>
          <a:lstStyle/>
          <a:p>
            <a:pPr algn="ctr" indent="0" marL="0">
              <a:buNone/>
            </a:pPr>
            <a:r>
              <a:rPr lang="en-US" sz="950" spc="50" kern="0" dirty="0">
                <a:solidFill>
                  <a:srgbClr val="7C93A3"/>
                </a:solidFill>
                <a:latin typeface="Consolas" pitchFamily="34" charset="0"/>
                <a:ea typeface="Consolas" pitchFamily="34" charset="-122"/>
                <a:cs typeface="Consolas" pitchFamily="34" charset="-120"/>
              </a:rPr>
              <a:t>↓  same TSMExecKit  ·  same TSMExceptions / TSMCaseManager  ·  same TSMDeliveryPackage  ↓</a:t>
            </a:r>
            <a:endParaRPr lang="en-US" sz="950" dirty="0"/>
          </a:p>
        </p:txBody>
      </p:sp>
      <p:sp>
        <p:nvSpPr>
          <p:cNvPr id="37" name="Shape 35"/>
          <p:cNvSpPr/>
          <p:nvPr/>
        </p:nvSpPr>
        <p:spPr>
          <a:xfrm>
            <a:off x="548640" y="3840480"/>
            <a:ext cx="11064240" cy="777240"/>
          </a:xfrm>
          <a:prstGeom prst="roundRect">
            <a:avLst>
              <a:gd name="adj" fmla="val 8235"/>
            </a:avLst>
          </a:prstGeom>
          <a:solidFill>
            <a:srgbClr val="0F1B26"/>
          </a:solidFill>
          <a:ln w="12700">
            <a:solidFill>
              <a:srgbClr val="1A3A50"/>
            </a:solidFill>
            <a:prstDash val="solid"/>
          </a:ln>
        </p:spPr>
      </p:sp>
      <p:sp>
        <p:nvSpPr>
          <p:cNvPr id="38" name="Text 36"/>
          <p:cNvSpPr/>
          <p:nvPr/>
        </p:nvSpPr>
        <p:spPr>
          <a:xfrm>
            <a:off x="548640" y="3840480"/>
            <a:ext cx="11064240" cy="777240"/>
          </a:xfrm>
          <a:prstGeom prst="rect">
            <a:avLst/>
          </a:prstGeom>
          <a:noFill/>
          <a:ln/>
        </p:spPr>
        <p:txBody>
          <a:bodyPr wrap="square" lIns="0" tIns="0" rIns="0" bIns="0" rtlCol="0" anchor="ctr"/>
          <a:lstStyle/>
          <a:p>
            <a:pPr algn="ctr" indent="0" marL="0">
              <a:buNone/>
            </a:pPr>
            <a:r>
              <a:rPr lang="en-US" sz="1100" b="1" spc="100" kern="0" dirty="0">
                <a:solidFill>
                  <a:srgbClr val="00E5FF"/>
                </a:solidFill>
                <a:latin typeface="Consolas" pitchFamily="34" charset="0"/>
                <a:ea typeface="Consolas" pitchFamily="34" charset="-122"/>
                <a:cs typeface="Consolas" pitchFamily="34" charset="-120"/>
              </a:rPr>
              <a:t>EVERY VERTICAL, THE SAME FOUR GUARANTEES</a:t>
            </a:r>
            <a:endParaRPr lang="en-US" sz="1100" dirty="0"/>
          </a:p>
        </p:txBody>
      </p:sp>
      <p:sp>
        <p:nvSpPr>
          <p:cNvPr id="39" name="Shape 37"/>
          <p:cNvSpPr/>
          <p:nvPr/>
        </p:nvSpPr>
        <p:spPr>
          <a:xfrm>
            <a:off x="548640" y="4846320"/>
            <a:ext cx="2697480" cy="1234440"/>
          </a:xfrm>
          <a:prstGeom prst="roundRect">
            <a:avLst>
              <a:gd name="adj" fmla="val 5185"/>
            </a:avLst>
          </a:prstGeom>
          <a:solidFill>
            <a:srgbClr val="13232F"/>
          </a:solidFill>
          <a:ln w="12700">
            <a:solidFill>
              <a:srgbClr val="1A3A50"/>
            </a:solidFill>
            <a:prstDash val="solid"/>
          </a:ln>
        </p:spPr>
      </p:sp>
      <p:sp>
        <p:nvSpPr>
          <p:cNvPr id="40" name="Text 38"/>
          <p:cNvSpPr/>
          <p:nvPr/>
        </p:nvSpPr>
        <p:spPr>
          <a:xfrm>
            <a:off x="731520" y="4846320"/>
            <a:ext cx="2331720" cy="1234440"/>
          </a:xfrm>
          <a:prstGeom prst="rect">
            <a:avLst/>
          </a:prstGeom>
          <a:noFill/>
          <a:ln/>
        </p:spPr>
        <p:txBody>
          <a:bodyPr wrap="square" lIns="0" tIns="0" rIns="0" bIns="0" rtlCol="0" anchor="ctr"/>
          <a:lstStyle/>
          <a:p>
            <a:pPr indent="0" marL="0">
              <a:lnSpc>
                <a:spcPct val="120000"/>
              </a:lnSpc>
              <a:buNone/>
            </a:pPr>
            <a:r>
              <a:rPr lang="en-US" sz="1100" dirty="0">
                <a:solidFill>
                  <a:srgbClr val="F2F6F8"/>
                </a:solidFill>
                <a:latin typeface="Arial" pitchFamily="34" charset="0"/>
                <a:ea typeface="Arial" pitchFamily="34" charset="-122"/>
                <a:cs typeface="Arial" pitchFamily="34" charset="-120"/>
              </a:rPr>
              <a:t>Live pipeline status, no manual refresh</a:t>
            </a:r>
            <a:endParaRPr lang="en-US" sz="1100" dirty="0"/>
          </a:p>
        </p:txBody>
      </p:sp>
      <p:sp>
        <p:nvSpPr>
          <p:cNvPr id="41" name="Shape 39"/>
          <p:cNvSpPr/>
          <p:nvPr/>
        </p:nvSpPr>
        <p:spPr>
          <a:xfrm>
            <a:off x="3364992" y="4846320"/>
            <a:ext cx="2697480" cy="1234440"/>
          </a:xfrm>
          <a:prstGeom prst="roundRect">
            <a:avLst>
              <a:gd name="adj" fmla="val 5185"/>
            </a:avLst>
          </a:prstGeom>
          <a:solidFill>
            <a:srgbClr val="13232F"/>
          </a:solidFill>
          <a:ln w="12700">
            <a:solidFill>
              <a:srgbClr val="1A3A50"/>
            </a:solidFill>
            <a:prstDash val="solid"/>
          </a:ln>
        </p:spPr>
      </p:sp>
      <p:sp>
        <p:nvSpPr>
          <p:cNvPr id="42" name="Text 40"/>
          <p:cNvSpPr/>
          <p:nvPr/>
        </p:nvSpPr>
        <p:spPr>
          <a:xfrm>
            <a:off x="3547872" y="4846320"/>
            <a:ext cx="2331720" cy="1234440"/>
          </a:xfrm>
          <a:prstGeom prst="rect">
            <a:avLst/>
          </a:prstGeom>
          <a:noFill/>
          <a:ln/>
        </p:spPr>
        <p:txBody>
          <a:bodyPr wrap="square" lIns="0" tIns="0" rIns="0" bIns="0" rtlCol="0" anchor="ctr"/>
          <a:lstStyle/>
          <a:p>
            <a:pPr indent="0" marL="0">
              <a:lnSpc>
                <a:spcPct val="120000"/>
              </a:lnSpc>
              <a:buNone/>
            </a:pPr>
            <a:r>
              <a:rPr lang="en-US" sz="1100" dirty="0">
                <a:solidFill>
                  <a:srgbClr val="F2F6F8"/>
                </a:solidFill>
                <a:latin typeface="Arial" pitchFamily="34" charset="0"/>
                <a:ea typeface="Arial" pitchFamily="34" charset="-122"/>
                <a:cs typeface="Arial" pitchFamily="34" charset="-120"/>
              </a:rPr>
              <a:t>Explainability panel on every recommendation</a:t>
            </a:r>
            <a:endParaRPr lang="en-US" sz="1100" dirty="0"/>
          </a:p>
        </p:txBody>
      </p:sp>
      <p:sp>
        <p:nvSpPr>
          <p:cNvPr id="43" name="Shape 41"/>
          <p:cNvSpPr/>
          <p:nvPr/>
        </p:nvSpPr>
        <p:spPr>
          <a:xfrm>
            <a:off x="6181344" y="4846320"/>
            <a:ext cx="2697480" cy="1234440"/>
          </a:xfrm>
          <a:prstGeom prst="roundRect">
            <a:avLst>
              <a:gd name="adj" fmla="val 5185"/>
            </a:avLst>
          </a:prstGeom>
          <a:solidFill>
            <a:srgbClr val="13232F"/>
          </a:solidFill>
          <a:ln w="12700">
            <a:solidFill>
              <a:srgbClr val="1A3A50"/>
            </a:solidFill>
            <a:prstDash val="solid"/>
          </a:ln>
        </p:spPr>
      </p:sp>
      <p:sp>
        <p:nvSpPr>
          <p:cNvPr id="44" name="Text 42"/>
          <p:cNvSpPr/>
          <p:nvPr/>
        </p:nvSpPr>
        <p:spPr>
          <a:xfrm>
            <a:off x="6364224" y="4846320"/>
            <a:ext cx="2331720" cy="1234440"/>
          </a:xfrm>
          <a:prstGeom prst="rect">
            <a:avLst/>
          </a:prstGeom>
          <a:noFill/>
          <a:ln/>
        </p:spPr>
        <p:txBody>
          <a:bodyPr wrap="square" lIns="0" tIns="0" rIns="0" bIns="0" rtlCol="0" anchor="ctr"/>
          <a:lstStyle/>
          <a:p>
            <a:pPr indent="0" marL="0">
              <a:lnSpc>
                <a:spcPct val="120000"/>
              </a:lnSpc>
              <a:buNone/>
            </a:pPr>
            <a:r>
              <a:rPr lang="en-US" sz="1100" dirty="0">
                <a:solidFill>
                  <a:srgbClr val="F2F6F8"/>
                </a:solidFill>
                <a:latin typeface="Arial" pitchFamily="34" charset="0"/>
                <a:ea typeface="Arial" pitchFamily="34" charset="-122"/>
                <a:cs typeface="Arial" pitchFamily="34" charset="-120"/>
              </a:rPr>
              <a:t>Exceptions become named, approved cases</a:t>
            </a:r>
            <a:endParaRPr lang="en-US" sz="1100" dirty="0"/>
          </a:p>
        </p:txBody>
      </p:sp>
      <p:sp>
        <p:nvSpPr>
          <p:cNvPr id="45" name="Shape 43"/>
          <p:cNvSpPr/>
          <p:nvPr/>
        </p:nvSpPr>
        <p:spPr>
          <a:xfrm>
            <a:off x="8997696" y="4846320"/>
            <a:ext cx="2697480" cy="1234440"/>
          </a:xfrm>
          <a:prstGeom prst="roundRect">
            <a:avLst>
              <a:gd name="adj" fmla="val 5185"/>
            </a:avLst>
          </a:prstGeom>
          <a:solidFill>
            <a:srgbClr val="13232F"/>
          </a:solidFill>
          <a:ln w="12700">
            <a:solidFill>
              <a:srgbClr val="1A3A50"/>
            </a:solidFill>
            <a:prstDash val="solid"/>
          </a:ln>
        </p:spPr>
      </p:sp>
      <p:sp>
        <p:nvSpPr>
          <p:cNvPr id="46" name="Text 44"/>
          <p:cNvSpPr/>
          <p:nvPr/>
        </p:nvSpPr>
        <p:spPr>
          <a:xfrm>
            <a:off x="9180576" y="4846320"/>
            <a:ext cx="2331720" cy="1234440"/>
          </a:xfrm>
          <a:prstGeom prst="rect">
            <a:avLst/>
          </a:prstGeom>
          <a:noFill/>
          <a:ln/>
        </p:spPr>
        <p:txBody>
          <a:bodyPr wrap="square" lIns="0" tIns="0" rIns="0" bIns="0" rtlCol="0" anchor="ctr"/>
          <a:lstStyle/>
          <a:p>
            <a:pPr indent="0" marL="0">
              <a:lnSpc>
                <a:spcPct val="120000"/>
              </a:lnSpc>
              <a:buNone/>
            </a:pPr>
            <a:r>
              <a:rPr lang="en-US" sz="1100" dirty="0">
                <a:solidFill>
                  <a:srgbClr val="F2F6F8"/>
                </a:solidFill>
                <a:latin typeface="Arial" pitchFamily="34" charset="0"/>
                <a:ea typeface="Arial" pitchFamily="34" charset="-122"/>
                <a:cs typeface="Arial" pitchFamily="34" charset="-120"/>
              </a:rPr>
              <a:t>One-click client trust package export</a:t>
            </a:r>
            <a:endParaRPr lang="en-US" sz="1100" dirty="0"/>
          </a:p>
        </p:txBody>
      </p:sp>
      <p:sp>
        <p:nvSpPr>
          <p:cNvPr id="47" name="Text 45"/>
          <p:cNvSpPr/>
          <p:nvPr/>
        </p:nvSpPr>
        <p:spPr>
          <a:xfrm>
            <a:off x="548640" y="6528816"/>
            <a:ext cx="4572000" cy="256032"/>
          </a:xfrm>
          <a:prstGeom prst="rect">
            <a:avLst/>
          </a:prstGeom>
          <a:noFill/>
          <a:ln/>
        </p:spPr>
        <p:txBody>
          <a:bodyPr wrap="square" lIns="0" tIns="0" rIns="0" bIns="0" rtlCol="0" anchor="ctr"/>
          <a:lstStyle/>
          <a:p>
            <a:pPr indent="0" marL="0">
              <a:buNone/>
            </a:pPr>
            <a:r>
              <a:rPr lang="en-US" sz="800" spc="100" kern="0" dirty="0">
                <a:solidFill>
                  <a:srgbClr val="4A6072"/>
                </a:solidFill>
                <a:latin typeface="Consolas" pitchFamily="34" charset="0"/>
                <a:ea typeface="Consolas" pitchFamily="34" charset="-122"/>
                <a:cs typeface="Consolas" pitchFamily="34" charset="-120"/>
              </a:rPr>
              <a:t>TSM BPO EXECUTIVE PORTAL</a:t>
            </a:r>
            <a:endParaRPr lang="en-US" sz="800" dirty="0"/>
          </a:p>
        </p:txBody>
      </p:sp>
      <p:sp>
        <p:nvSpPr>
          <p:cNvPr id="48" name="Text 46"/>
          <p:cNvSpPr/>
          <p:nvPr/>
        </p:nvSpPr>
        <p:spPr>
          <a:xfrm>
            <a:off x="11185855" y="6528816"/>
            <a:ext cx="457200" cy="256032"/>
          </a:xfrm>
          <a:prstGeom prst="rect">
            <a:avLst/>
          </a:prstGeom>
          <a:noFill/>
          <a:ln/>
        </p:spPr>
        <p:txBody>
          <a:bodyPr wrap="square" lIns="0" tIns="0" rIns="0" bIns="0" rtlCol="0" anchor="ctr"/>
          <a:lstStyle/>
          <a:p>
            <a:pPr algn="r" indent="0" marL="0">
              <a:buNone/>
            </a:pPr>
            <a:r>
              <a:rPr lang="en-US" sz="800" dirty="0">
                <a:solidFill>
                  <a:srgbClr val="4A6072"/>
                </a:solidFill>
                <a:latin typeface="Consolas" pitchFamily="34" charset="0"/>
                <a:ea typeface="Consolas" pitchFamily="34" charset="-122"/>
                <a:cs typeface="Consolas"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1A"/>
        </a:solidFill>
      </p:bgPr>
    </p:bg>
    <p:spTree>
      <p:nvGrpSpPr>
        <p:cNvPr id="1" name=""/>
        <p:cNvGrpSpPr/>
        <p:nvPr/>
      </p:nvGrpSpPr>
      <p:grpSpPr>
        <a:xfrm>
          <a:off x="0" y="0"/>
          <a:ext cx="0" cy="0"/>
          <a:chOff x="0" y="0"/>
          <a:chExt cx="0" cy="0"/>
        </a:xfrm>
      </p:grpSpPr>
      <p:sp>
        <p:nvSpPr>
          <p:cNvPr id="2" name="Shape 0"/>
          <p:cNvSpPr/>
          <p:nvPr/>
        </p:nvSpPr>
        <p:spPr>
          <a:xfrm>
            <a:off x="274320" y="256032"/>
            <a:ext cx="1228649" cy="310896"/>
          </a:xfrm>
          <a:prstGeom prst="roundRect">
            <a:avLst>
              <a:gd name="adj" fmla="val 17647"/>
            </a:avLst>
          </a:prstGeom>
          <a:solidFill>
            <a:srgbClr val="13232F"/>
          </a:solidFill>
          <a:ln w="9525">
            <a:solidFill>
              <a:srgbClr val="1A3A50"/>
            </a:solidFill>
            <a:prstDash val="solid"/>
          </a:ln>
        </p:spPr>
      </p:sp>
      <p:sp>
        <p:nvSpPr>
          <p:cNvPr id="3" name="Text 1">
            <a:hlinkClick r:id="rId1" tooltip="" action="ppaction://hlinksldjump"/>
          </p:cNvPr>
          <p:cNvSpPr/>
          <p:nvPr/>
        </p:nvSpPr>
        <p:spPr>
          <a:xfrm>
            <a:off x="274320"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1" action="ppaction://hlinksldjump" tooltip="">
                  <a:extLst>
                    <a:ext uri="{A12FA001-AC4F-418D-AE19-62706E023703}">
                      <ahyp:hlinkClr xmlns:ahyp="http://schemas.microsoft.com/office/drawing/2018/hyperlinkcolor" val="tx"/>
                    </a:ext>
                  </a:extLst>
                </a:hlinkClick>
              </a:rPr>
              <a:t>AGENDA</a:t>
            </a:r>
            <a:endParaRPr lang="en-US" sz="750" dirty="0"/>
          </a:p>
        </p:txBody>
      </p:sp>
      <p:sp>
        <p:nvSpPr>
          <p:cNvPr id="4" name="Shape 2"/>
          <p:cNvSpPr/>
          <p:nvPr/>
        </p:nvSpPr>
        <p:spPr>
          <a:xfrm>
            <a:off x="1576121" y="256032"/>
            <a:ext cx="1228649" cy="310896"/>
          </a:xfrm>
          <a:prstGeom prst="roundRect">
            <a:avLst>
              <a:gd name="adj" fmla="val 17647"/>
            </a:avLst>
          </a:prstGeom>
          <a:solidFill>
            <a:srgbClr val="13232F"/>
          </a:solidFill>
          <a:ln w="9525">
            <a:solidFill>
              <a:srgbClr val="1A3A50"/>
            </a:solidFill>
            <a:prstDash val="solid"/>
          </a:ln>
        </p:spPr>
      </p:sp>
      <p:sp>
        <p:nvSpPr>
          <p:cNvPr id="5" name="Text 3">
            <a:hlinkClick r:id="rId2" tooltip="" action="ppaction://hlinksldjump"/>
          </p:cNvPr>
          <p:cNvSpPr/>
          <p:nvPr/>
        </p:nvSpPr>
        <p:spPr>
          <a:xfrm>
            <a:off x="1576121"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THE PROBLEM</a:t>
            </a:r>
            <a:endParaRPr lang="en-US" sz="750" dirty="0"/>
          </a:p>
        </p:txBody>
      </p:sp>
      <p:sp>
        <p:nvSpPr>
          <p:cNvPr id="6" name="Shape 4"/>
          <p:cNvSpPr/>
          <p:nvPr/>
        </p:nvSpPr>
        <p:spPr>
          <a:xfrm>
            <a:off x="2877922" y="256032"/>
            <a:ext cx="1228649" cy="310896"/>
          </a:xfrm>
          <a:prstGeom prst="roundRect">
            <a:avLst>
              <a:gd name="adj" fmla="val 17647"/>
            </a:avLst>
          </a:prstGeom>
          <a:solidFill>
            <a:srgbClr val="13232F"/>
          </a:solidFill>
          <a:ln w="9525">
            <a:solidFill>
              <a:srgbClr val="1A3A50"/>
            </a:solidFill>
            <a:prstDash val="solid"/>
          </a:ln>
        </p:spPr>
      </p:sp>
      <p:sp>
        <p:nvSpPr>
          <p:cNvPr id="7" name="Text 5">
            <a:hlinkClick r:id="rId3" tooltip="" action="ppaction://hlinksldjump"/>
          </p:cNvPr>
          <p:cNvSpPr/>
          <p:nvPr/>
        </p:nvSpPr>
        <p:spPr>
          <a:xfrm>
            <a:off x="28779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LIVE WIP</a:t>
            </a:r>
            <a:endParaRPr lang="en-US" sz="750" dirty="0"/>
          </a:p>
        </p:txBody>
      </p:sp>
      <p:sp>
        <p:nvSpPr>
          <p:cNvPr id="8" name="Shape 6"/>
          <p:cNvSpPr/>
          <p:nvPr/>
        </p:nvSpPr>
        <p:spPr>
          <a:xfrm>
            <a:off x="4179722" y="256032"/>
            <a:ext cx="1228649" cy="310896"/>
          </a:xfrm>
          <a:prstGeom prst="roundRect">
            <a:avLst>
              <a:gd name="adj" fmla="val 17647"/>
            </a:avLst>
          </a:prstGeom>
          <a:solidFill>
            <a:srgbClr val="13232F"/>
          </a:solidFill>
          <a:ln w="9525">
            <a:solidFill>
              <a:srgbClr val="1A3A50"/>
            </a:solidFill>
            <a:prstDash val="solid"/>
          </a:ln>
        </p:spPr>
      </p:sp>
      <p:sp>
        <p:nvSpPr>
          <p:cNvPr id="9" name="Text 7">
            <a:hlinkClick r:id="rId4" tooltip="" action="ppaction://hlinksldjump"/>
          </p:cNvPr>
          <p:cNvSpPr/>
          <p:nvPr/>
        </p:nvSpPr>
        <p:spPr>
          <a:xfrm>
            <a:off x="41797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4" action="ppaction://hlinksldjump" tooltip="">
                  <a:extLst>
                    <a:ext uri="{A12FA001-AC4F-418D-AE19-62706E023703}">
                      <ahyp:hlinkClr xmlns:ahyp="http://schemas.microsoft.com/office/drawing/2018/hyperlinkcolor" val="tx"/>
                    </a:ext>
                  </a:extLst>
                </a:hlinkClick>
              </a:rPr>
              <a:t>EXPLAINABILITY</a:t>
            </a:r>
            <a:endParaRPr lang="en-US" sz="750" dirty="0"/>
          </a:p>
        </p:txBody>
      </p:sp>
      <p:sp>
        <p:nvSpPr>
          <p:cNvPr id="10" name="Shape 8"/>
          <p:cNvSpPr/>
          <p:nvPr/>
        </p:nvSpPr>
        <p:spPr>
          <a:xfrm>
            <a:off x="5481523" y="256032"/>
            <a:ext cx="1228649" cy="310896"/>
          </a:xfrm>
          <a:prstGeom prst="roundRect">
            <a:avLst>
              <a:gd name="adj" fmla="val 17647"/>
            </a:avLst>
          </a:prstGeom>
          <a:solidFill>
            <a:srgbClr val="13232F"/>
          </a:solidFill>
          <a:ln w="9525">
            <a:solidFill>
              <a:srgbClr val="1A3A50"/>
            </a:solidFill>
            <a:prstDash val="solid"/>
          </a:ln>
        </p:spPr>
      </p:sp>
      <p:sp>
        <p:nvSpPr>
          <p:cNvPr id="11" name="Text 9">
            <a:hlinkClick r:id="rId5" tooltip="" action="ppaction://hlinksldjump"/>
          </p:cNvPr>
          <p:cNvSpPr/>
          <p:nvPr/>
        </p:nvSpPr>
        <p:spPr>
          <a:xfrm>
            <a:off x="5481523"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5" action="ppaction://hlinksldjump" tooltip="">
                  <a:extLst>
                    <a:ext uri="{A12FA001-AC4F-418D-AE19-62706E023703}">
                      <ahyp:hlinkClr xmlns:ahyp="http://schemas.microsoft.com/office/drawing/2018/hyperlinkcolor" val="tx"/>
                    </a:ext>
                  </a:extLst>
                </a:hlinkClick>
              </a:rPr>
              <a:t>CASE GOVERNANCE</a:t>
            </a:r>
            <a:endParaRPr lang="en-US" sz="750" dirty="0"/>
          </a:p>
        </p:txBody>
      </p:sp>
      <p:sp>
        <p:nvSpPr>
          <p:cNvPr id="12" name="Shape 10"/>
          <p:cNvSpPr/>
          <p:nvPr/>
        </p:nvSpPr>
        <p:spPr>
          <a:xfrm>
            <a:off x="6783324" y="256032"/>
            <a:ext cx="1228649" cy="310896"/>
          </a:xfrm>
          <a:prstGeom prst="roundRect">
            <a:avLst>
              <a:gd name="adj" fmla="val 17647"/>
            </a:avLst>
          </a:prstGeom>
          <a:solidFill>
            <a:srgbClr val="13232F"/>
          </a:solidFill>
          <a:ln w="9525">
            <a:solidFill>
              <a:srgbClr val="1A3A50"/>
            </a:solidFill>
            <a:prstDash val="solid"/>
          </a:ln>
        </p:spPr>
      </p:sp>
      <p:sp>
        <p:nvSpPr>
          <p:cNvPr id="13" name="Text 11">
            <a:hlinkClick r:id="rId6" tooltip="" action="ppaction://hlinksldjump"/>
          </p:cNvPr>
          <p:cNvSpPr/>
          <p:nvPr/>
        </p:nvSpPr>
        <p:spPr>
          <a:xfrm>
            <a:off x="6783324"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6" action="ppaction://hlinksldjump" tooltip="">
                  <a:extLst>
                    <a:ext uri="{A12FA001-AC4F-418D-AE19-62706E023703}">
                      <ahyp:hlinkClr xmlns:ahyp="http://schemas.microsoft.com/office/drawing/2018/hyperlinkcolor" val="tx"/>
                    </a:ext>
                  </a:extLst>
                </a:hlinkClick>
              </a:rPr>
              <a:t>DELIVERY PKG</a:t>
            </a:r>
            <a:endParaRPr lang="en-US" sz="750" dirty="0"/>
          </a:p>
        </p:txBody>
      </p:sp>
      <p:sp>
        <p:nvSpPr>
          <p:cNvPr id="14" name="Shape 12"/>
          <p:cNvSpPr/>
          <p:nvPr/>
        </p:nvSpPr>
        <p:spPr>
          <a:xfrm>
            <a:off x="8085125" y="256032"/>
            <a:ext cx="1228649" cy="310896"/>
          </a:xfrm>
          <a:prstGeom prst="roundRect">
            <a:avLst>
              <a:gd name="adj" fmla="val 17647"/>
            </a:avLst>
          </a:prstGeom>
          <a:solidFill>
            <a:srgbClr val="13232F"/>
          </a:solidFill>
          <a:ln w="9525">
            <a:solidFill>
              <a:srgbClr val="1A3A50"/>
            </a:solidFill>
            <a:prstDash val="solid"/>
          </a:ln>
        </p:spPr>
      </p:sp>
      <p:sp>
        <p:nvSpPr>
          <p:cNvPr id="15" name="Text 13">
            <a:hlinkClick r:id="rId7" tooltip="" action="ppaction://hlinksldjump"/>
          </p:cNvPr>
          <p:cNvSpPr/>
          <p:nvPr/>
        </p:nvSpPr>
        <p:spPr>
          <a:xfrm>
            <a:off x="8085125"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7" action="ppaction://hlinksldjump" tooltip="">
                  <a:extLst>
                    <a:ext uri="{A12FA001-AC4F-418D-AE19-62706E023703}">
                      <ahyp:hlinkClr xmlns:ahyp="http://schemas.microsoft.com/office/drawing/2018/hyperlinkcolor" val="tx"/>
                    </a:ext>
                  </a:extLst>
                </a:hlinkClick>
              </a:rPr>
              <a:t>ONE PLATFORM</a:t>
            </a:r>
            <a:endParaRPr lang="en-US" sz="750" dirty="0"/>
          </a:p>
        </p:txBody>
      </p:sp>
      <p:sp>
        <p:nvSpPr>
          <p:cNvPr id="16" name="Shape 14"/>
          <p:cNvSpPr/>
          <p:nvPr/>
        </p:nvSpPr>
        <p:spPr>
          <a:xfrm>
            <a:off x="9386926" y="256032"/>
            <a:ext cx="1228649" cy="310896"/>
          </a:xfrm>
          <a:prstGeom prst="roundRect">
            <a:avLst>
              <a:gd name="adj" fmla="val 17647"/>
            </a:avLst>
          </a:prstGeom>
          <a:solidFill>
            <a:srgbClr val="5EFFC1"/>
          </a:solidFill>
          <a:ln w="9525">
            <a:solidFill>
              <a:srgbClr val="5EFFC1"/>
            </a:solidFill>
            <a:prstDash val="solid"/>
          </a:ln>
        </p:spPr>
      </p:sp>
      <p:sp>
        <p:nvSpPr>
          <p:cNvPr id="17" name="Text 15">
            <a:hlinkClick r:id="rId8" tooltip="" action="ppaction://hlinksldjump"/>
          </p:cNvPr>
          <p:cNvSpPr/>
          <p:nvPr/>
        </p:nvSpPr>
        <p:spPr>
          <a:xfrm>
            <a:off x="9386926" y="256032"/>
            <a:ext cx="1228649" cy="310896"/>
          </a:xfrm>
          <a:prstGeom prst="rect">
            <a:avLst/>
          </a:prstGeom>
          <a:noFill/>
          <a:ln/>
        </p:spPr>
        <p:txBody>
          <a:bodyPr wrap="square" lIns="0" tIns="0" rIns="0" bIns="0" rtlCol="0" anchor="ctr"/>
          <a:lstStyle/>
          <a:p>
            <a:pPr algn="ctr" indent="0" marL="0">
              <a:buNone/>
            </a:pPr>
            <a:r>
              <a:rPr lang="en-US" sz="750" b="1" u="sng" spc="50" kern="0" dirty="0">
                <a:solidFill>
                  <a:srgbClr val="07120D"/>
                </a:solidFill>
                <a:latin typeface="Consolas" pitchFamily="34" charset="0"/>
                <a:ea typeface="Consolas" pitchFamily="34" charset="-122"/>
                <a:cs typeface="Consolas" pitchFamily="34" charset="-120"/>
                <a:hlinkClick r:id="rId8" action="ppaction://hlinksldjump" tooltip="">
                  <a:extLst>
                    <a:ext uri="{A12FA001-AC4F-418D-AE19-62706E023703}">
                      <ahyp:hlinkClr xmlns:ahyp="http://schemas.microsoft.com/office/drawing/2018/hyperlinkcolor" val="tx"/>
                    </a:ext>
                  </a:extLst>
                </a:hlinkClick>
              </a:rPr>
              <a:t>LIVE DEMO</a:t>
            </a:r>
            <a:endParaRPr lang="en-US" sz="750" dirty="0"/>
          </a:p>
        </p:txBody>
      </p:sp>
      <p:sp>
        <p:nvSpPr>
          <p:cNvPr id="18" name="Shape 16"/>
          <p:cNvSpPr/>
          <p:nvPr/>
        </p:nvSpPr>
        <p:spPr>
          <a:xfrm>
            <a:off x="10688726" y="256032"/>
            <a:ext cx="1228649" cy="310896"/>
          </a:xfrm>
          <a:prstGeom prst="roundRect">
            <a:avLst>
              <a:gd name="adj" fmla="val 17647"/>
            </a:avLst>
          </a:prstGeom>
          <a:solidFill>
            <a:srgbClr val="13232F"/>
          </a:solidFill>
          <a:ln w="9525">
            <a:solidFill>
              <a:srgbClr val="1A3A50"/>
            </a:solidFill>
            <a:prstDash val="solid"/>
          </a:ln>
        </p:spPr>
      </p:sp>
      <p:sp>
        <p:nvSpPr>
          <p:cNvPr id="19" name="Text 17">
            <a:hlinkClick r:id="rId9" tooltip="" action="ppaction://hlinksldjump"/>
          </p:cNvPr>
          <p:cNvSpPr/>
          <p:nvPr/>
        </p:nvSpPr>
        <p:spPr>
          <a:xfrm>
            <a:off x="106887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9" action="ppaction://hlinksldjump" tooltip="">
                  <a:extLst>
                    <a:ext uri="{A12FA001-AC4F-418D-AE19-62706E023703}">
                      <ahyp:hlinkClr xmlns:ahyp="http://schemas.microsoft.com/office/drawing/2018/hyperlinkcolor" val="tx"/>
                    </a:ext>
                  </a:extLst>
                </a:hlinkClick>
              </a:rPr>
              <a:t>THE ASK</a:t>
            </a:r>
            <a:endParaRPr lang="en-US" sz="750" dirty="0"/>
          </a:p>
        </p:txBody>
      </p:sp>
      <p:sp>
        <p:nvSpPr>
          <p:cNvPr id="20" name="Text 18"/>
          <p:cNvSpPr/>
          <p:nvPr/>
        </p:nvSpPr>
        <p:spPr>
          <a:xfrm>
            <a:off x="548640" y="868680"/>
            <a:ext cx="7315200" cy="274320"/>
          </a:xfrm>
          <a:prstGeom prst="rect">
            <a:avLst/>
          </a:prstGeom>
          <a:noFill/>
          <a:ln/>
        </p:spPr>
        <p:txBody>
          <a:bodyPr wrap="square" lIns="0" tIns="0" rIns="0" bIns="0" rtlCol="0" anchor="ctr"/>
          <a:lstStyle/>
          <a:p>
            <a:pPr indent="0" marL="0">
              <a:buNone/>
            </a:pPr>
            <a:r>
              <a:rPr lang="en-US" sz="1100" b="1" spc="200" kern="0" dirty="0">
                <a:solidFill>
                  <a:srgbClr val="5EFFC1"/>
                </a:solidFill>
                <a:latin typeface="Consolas" pitchFamily="34" charset="0"/>
                <a:ea typeface="Consolas" pitchFamily="34" charset="-122"/>
                <a:cs typeface="Consolas" pitchFamily="34" charset="-120"/>
              </a:rPr>
              <a:t>NOW, LIVE</a:t>
            </a:r>
            <a:endParaRPr lang="en-US" sz="1100" dirty="0"/>
          </a:p>
        </p:txBody>
      </p:sp>
      <p:sp>
        <p:nvSpPr>
          <p:cNvPr id="21" name="Text 19"/>
          <p:cNvSpPr/>
          <p:nvPr/>
        </p:nvSpPr>
        <p:spPr>
          <a:xfrm>
            <a:off x="548640" y="1161288"/>
            <a:ext cx="10515600" cy="822960"/>
          </a:xfrm>
          <a:prstGeom prst="rect">
            <a:avLst/>
          </a:prstGeom>
          <a:noFill/>
          <a:ln/>
        </p:spPr>
        <p:txBody>
          <a:bodyPr wrap="square" lIns="0" tIns="0" rIns="0" bIns="0" rtlCol="0" anchor="ctr"/>
          <a:lstStyle/>
          <a:p>
            <a:pPr indent="0" marL="0">
              <a:buNone/>
            </a:pPr>
            <a:r>
              <a:rPr lang="en-US" sz="3000" b="1" dirty="0">
                <a:solidFill>
                  <a:srgbClr val="F2F6F8"/>
                </a:solidFill>
                <a:latin typeface="Arial" pitchFamily="34" charset="0"/>
                <a:ea typeface="Arial" pitchFamily="34" charset="-122"/>
                <a:cs typeface="Arial" pitchFamily="34" charset="-120"/>
              </a:rPr>
              <a:t>The Click Path — 90 Seconds, Start to Finish</a:t>
            </a:r>
            <a:endParaRPr lang="en-US" sz="3000" dirty="0"/>
          </a:p>
        </p:txBody>
      </p:sp>
      <p:sp>
        <p:nvSpPr>
          <p:cNvPr id="22" name="Shape 20"/>
          <p:cNvSpPr/>
          <p:nvPr/>
        </p:nvSpPr>
        <p:spPr>
          <a:xfrm>
            <a:off x="548640" y="2148840"/>
            <a:ext cx="548640" cy="548640"/>
          </a:xfrm>
          <a:prstGeom prst="ellipse">
            <a:avLst/>
          </a:prstGeom>
          <a:solidFill>
            <a:srgbClr val="0F2A22"/>
          </a:solidFill>
          <a:ln w="15875">
            <a:solidFill>
              <a:srgbClr val="5EFFC1"/>
            </a:solidFill>
            <a:prstDash val="solid"/>
          </a:ln>
        </p:spPr>
      </p:sp>
      <p:sp>
        <p:nvSpPr>
          <p:cNvPr id="23" name="Text 21"/>
          <p:cNvSpPr/>
          <p:nvPr/>
        </p:nvSpPr>
        <p:spPr>
          <a:xfrm>
            <a:off x="548640" y="2148840"/>
            <a:ext cx="548640" cy="548640"/>
          </a:xfrm>
          <a:prstGeom prst="rect">
            <a:avLst/>
          </a:prstGeom>
          <a:noFill/>
          <a:ln/>
        </p:spPr>
        <p:txBody>
          <a:bodyPr wrap="square" lIns="0" tIns="0" rIns="0" bIns="0" rtlCol="0" anchor="ctr"/>
          <a:lstStyle/>
          <a:p>
            <a:pPr algn="ctr" indent="0" marL="0">
              <a:buNone/>
            </a:pPr>
            <a:r>
              <a:rPr lang="en-US" sz="1600" b="1" dirty="0">
                <a:solidFill>
                  <a:srgbClr val="5EFFC1"/>
                </a:solidFill>
                <a:latin typeface="Consolas" pitchFamily="34" charset="0"/>
                <a:ea typeface="Consolas" pitchFamily="34" charset="-122"/>
                <a:cs typeface="Consolas" pitchFamily="34" charset="-120"/>
              </a:rPr>
              <a:t>1</a:t>
            </a:r>
            <a:endParaRPr lang="en-US" sz="1600" dirty="0"/>
          </a:p>
        </p:txBody>
      </p:sp>
      <p:sp>
        <p:nvSpPr>
          <p:cNvPr id="24" name="Text 22"/>
          <p:cNvSpPr/>
          <p:nvPr/>
        </p:nvSpPr>
        <p:spPr>
          <a:xfrm>
            <a:off x="1325880" y="2121408"/>
            <a:ext cx="9875520" cy="365760"/>
          </a:xfrm>
          <a:prstGeom prst="rect">
            <a:avLst/>
          </a:prstGeom>
          <a:noFill/>
          <a:ln/>
        </p:spPr>
        <p:txBody>
          <a:bodyPr wrap="square" lIns="0" tIns="0" rIns="0" bIns="0" rtlCol="0" anchor="ctr"/>
          <a:lstStyle/>
          <a:p>
            <a:pPr indent="0" marL="0">
              <a:buNone/>
            </a:pPr>
            <a:r>
              <a:rPr lang="en-US" sz="1450" b="1" dirty="0">
                <a:solidFill>
                  <a:srgbClr val="F2F6F8"/>
                </a:solidFill>
                <a:latin typeface="Arial" pitchFamily="34" charset="0"/>
                <a:ea typeface="Arial" pitchFamily="34" charset="-122"/>
                <a:cs typeface="Arial" pitchFamily="34" charset="-120"/>
              </a:rPr>
              <a:t>Open bpo-executive-portal.html</a:t>
            </a:r>
            <a:endParaRPr lang="en-US" sz="1450" dirty="0"/>
          </a:p>
        </p:txBody>
      </p:sp>
      <p:sp>
        <p:nvSpPr>
          <p:cNvPr id="25" name="Text 23"/>
          <p:cNvSpPr/>
          <p:nvPr/>
        </p:nvSpPr>
        <p:spPr>
          <a:xfrm>
            <a:off x="1325880" y="2487168"/>
            <a:ext cx="9875520" cy="457200"/>
          </a:xfrm>
          <a:prstGeom prst="rect">
            <a:avLst/>
          </a:prstGeom>
          <a:noFill/>
          <a:ln/>
        </p:spPr>
        <p:txBody>
          <a:bodyPr wrap="square" lIns="0" tIns="0" rIns="0" bIns="0" rtlCol="0" anchor="ctr"/>
          <a:lstStyle/>
          <a:p>
            <a:pPr indent="0" marL="0">
              <a:lnSpc>
                <a:spcPct val="120000"/>
              </a:lnSpc>
              <a:buNone/>
            </a:pPr>
            <a:r>
              <a:rPr lang="en-US" sz="1100" dirty="0">
                <a:solidFill>
                  <a:srgbClr val="7C93A3"/>
                </a:solidFill>
                <a:latin typeface="Arial" pitchFamily="34" charset="0"/>
                <a:ea typeface="Arial" pitchFamily="34" charset="-122"/>
                <a:cs typeface="Arial" pitchFamily="34" charset="-120"/>
              </a:rPr>
              <a:t>Pipeline status and Explainability are already populated — no load spinner, no seeding step needed on screen.</a:t>
            </a:r>
            <a:endParaRPr lang="en-US" sz="1100" dirty="0"/>
          </a:p>
        </p:txBody>
      </p:sp>
      <p:sp>
        <p:nvSpPr>
          <p:cNvPr id="26" name="Shape 24"/>
          <p:cNvSpPr/>
          <p:nvPr/>
        </p:nvSpPr>
        <p:spPr>
          <a:xfrm>
            <a:off x="548640" y="3108960"/>
            <a:ext cx="548640" cy="548640"/>
          </a:xfrm>
          <a:prstGeom prst="ellipse">
            <a:avLst/>
          </a:prstGeom>
          <a:solidFill>
            <a:srgbClr val="0F2A22"/>
          </a:solidFill>
          <a:ln w="15875">
            <a:solidFill>
              <a:srgbClr val="5EFFC1"/>
            </a:solidFill>
            <a:prstDash val="solid"/>
          </a:ln>
        </p:spPr>
      </p:sp>
      <p:sp>
        <p:nvSpPr>
          <p:cNvPr id="27" name="Text 25"/>
          <p:cNvSpPr/>
          <p:nvPr/>
        </p:nvSpPr>
        <p:spPr>
          <a:xfrm>
            <a:off x="548640" y="3108960"/>
            <a:ext cx="548640" cy="548640"/>
          </a:xfrm>
          <a:prstGeom prst="rect">
            <a:avLst/>
          </a:prstGeom>
          <a:noFill/>
          <a:ln/>
        </p:spPr>
        <p:txBody>
          <a:bodyPr wrap="square" lIns="0" tIns="0" rIns="0" bIns="0" rtlCol="0" anchor="ctr"/>
          <a:lstStyle/>
          <a:p>
            <a:pPr algn="ctr" indent="0" marL="0">
              <a:buNone/>
            </a:pPr>
            <a:r>
              <a:rPr lang="en-US" sz="1600" b="1" dirty="0">
                <a:solidFill>
                  <a:srgbClr val="5EFFC1"/>
                </a:solidFill>
                <a:latin typeface="Consolas" pitchFamily="34" charset="0"/>
                <a:ea typeface="Consolas" pitchFamily="34" charset="-122"/>
                <a:cs typeface="Consolas" pitchFamily="34" charset="-120"/>
              </a:rPr>
              <a:t>2</a:t>
            </a:r>
            <a:endParaRPr lang="en-US" sz="1600" dirty="0"/>
          </a:p>
        </p:txBody>
      </p:sp>
      <p:sp>
        <p:nvSpPr>
          <p:cNvPr id="28" name="Text 26"/>
          <p:cNvSpPr/>
          <p:nvPr/>
        </p:nvSpPr>
        <p:spPr>
          <a:xfrm>
            <a:off x="1325880" y="3081528"/>
            <a:ext cx="9875520" cy="365760"/>
          </a:xfrm>
          <a:prstGeom prst="rect">
            <a:avLst/>
          </a:prstGeom>
          <a:noFill/>
          <a:ln/>
        </p:spPr>
        <p:txBody>
          <a:bodyPr wrap="square" lIns="0" tIns="0" rIns="0" bIns="0" rtlCol="0" anchor="ctr"/>
          <a:lstStyle/>
          <a:p>
            <a:pPr indent="0" marL="0">
              <a:buNone/>
            </a:pPr>
            <a:r>
              <a:rPr lang="en-US" sz="1450" b="1" dirty="0">
                <a:solidFill>
                  <a:srgbClr val="F2F6F8"/>
                </a:solidFill>
                <a:latin typeface="Arial" pitchFamily="34" charset="0"/>
                <a:ea typeface="Arial" pitchFamily="34" charset="-122"/>
                <a:cs typeface="Arial" pitchFamily="34" charset="-120"/>
              </a:rPr>
              <a:t>Click into the top Explainability source</a:t>
            </a:r>
            <a:endParaRPr lang="en-US" sz="1450" dirty="0"/>
          </a:p>
        </p:txBody>
      </p:sp>
      <p:sp>
        <p:nvSpPr>
          <p:cNvPr id="29" name="Text 27"/>
          <p:cNvSpPr/>
          <p:nvPr/>
        </p:nvSpPr>
        <p:spPr>
          <a:xfrm>
            <a:off x="1325880" y="3447288"/>
            <a:ext cx="9875520" cy="457200"/>
          </a:xfrm>
          <a:prstGeom prst="rect">
            <a:avLst/>
          </a:prstGeom>
          <a:noFill/>
          <a:ln/>
        </p:spPr>
        <p:txBody>
          <a:bodyPr wrap="square" lIns="0" tIns="0" rIns="0" bIns="0" rtlCol="0" anchor="ctr"/>
          <a:lstStyle/>
          <a:p>
            <a:pPr indent="0" marL="0">
              <a:lnSpc>
                <a:spcPct val="120000"/>
              </a:lnSpc>
              <a:buNone/>
            </a:pPr>
            <a:r>
              <a:rPr lang="en-US" sz="1100" dirty="0">
                <a:solidFill>
                  <a:srgbClr val="7C93A3"/>
                </a:solidFill>
                <a:latin typeface="Arial" pitchFamily="34" charset="0"/>
                <a:ea typeface="Arial" pitchFamily="34" charset="-122"/>
                <a:cs typeface="Arial" pitchFamily="34" charset="-120"/>
              </a:rPr>
              <a:t>Panel opens first source expanded — confidence, weighted sources, structured reasoning.</a:t>
            </a:r>
            <a:endParaRPr lang="en-US" sz="1100" dirty="0"/>
          </a:p>
        </p:txBody>
      </p:sp>
      <p:sp>
        <p:nvSpPr>
          <p:cNvPr id="30" name="Shape 28"/>
          <p:cNvSpPr/>
          <p:nvPr/>
        </p:nvSpPr>
        <p:spPr>
          <a:xfrm>
            <a:off x="548640" y="4069080"/>
            <a:ext cx="548640" cy="548640"/>
          </a:xfrm>
          <a:prstGeom prst="ellipse">
            <a:avLst/>
          </a:prstGeom>
          <a:solidFill>
            <a:srgbClr val="0F2A22"/>
          </a:solidFill>
          <a:ln w="15875">
            <a:solidFill>
              <a:srgbClr val="5EFFC1"/>
            </a:solidFill>
            <a:prstDash val="solid"/>
          </a:ln>
        </p:spPr>
      </p:sp>
      <p:sp>
        <p:nvSpPr>
          <p:cNvPr id="31" name="Text 29"/>
          <p:cNvSpPr/>
          <p:nvPr/>
        </p:nvSpPr>
        <p:spPr>
          <a:xfrm>
            <a:off x="548640" y="4069080"/>
            <a:ext cx="548640" cy="548640"/>
          </a:xfrm>
          <a:prstGeom prst="rect">
            <a:avLst/>
          </a:prstGeom>
          <a:noFill/>
          <a:ln/>
        </p:spPr>
        <p:txBody>
          <a:bodyPr wrap="square" lIns="0" tIns="0" rIns="0" bIns="0" rtlCol="0" anchor="ctr"/>
          <a:lstStyle/>
          <a:p>
            <a:pPr algn="ctr" indent="0" marL="0">
              <a:buNone/>
            </a:pPr>
            <a:r>
              <a:rPr lang="en-US" sz="1600" b="1" dirty="0">
                <a:solidFill>
                  <a:srgbClr val="5EFFC1"/>
                </a:solidFill>
                <a:latin typeface="Consolas" pitchFamily="34" charset="0"/>
                <a:ea typeface="Consolas" pitchFamily="34" charset="-122"/>
                <a:cs typeface="Consolas" pitchFamily="34" charset="-120"/>
              </a:rPr>
              <a:t>3</a:t>
            </a:r>
            <a:endParaRPr lang="en-US" sz="1600" dirty="0"/>
          </a:p>
        </p:txBody>
      </p:sp>
      <p:sp>
        <p:nvSpPr>
          <p:cNvPr id="32" name="Text 30"/>
          <p:cNvSpPr/>
          <p:nvPr/>
        </p:nvSpPr>
        <p:spPr>
          <a:xfrm>
            <a:off x="1325880" y="4041648"/>
            <a:ext cx="9875520" cy="365760"/>
          </a:xfrm>
          <a:prstGeom prst="rect">
            <a:avLst/>
          </a:prstGeom>
          <a:noFill/>
          <a:ln/>
        </p:spPr>
        <p:txBody>
          <a:bodyPr wrap="square" lIns="0" tIns="0" rIns="0" bIns="0" rtlCol="0" anchor="ctr"/>
          <a:lstStyle/>
          <a:p>
            <a:pPr indent="0" marL="0">
              <a:buNone/>
            </a:pPr>
            <a:r>
              <a:rPr lang="en-US" sz="1450" b="1" dirty="0">
                <a:solidFill>
                  <a:srgbClr val="F2F6F8"/>
                </a:solidFill>
                <a:latin typeface="Arial" pitchFamily="34" charset="0"/>
                <a:ea typeface="Arial" pitchFamily="34" charset="-122"/>
                <a:cs typeface="Arial" pitchFamily="34" charset="-120"/>
              </a:rPr>
              <a:t>Scroll to Exception Queue → click Resolve</a:t>
            </a:r>
            <a:endParaRPr lang="en-US" sz="1450" dirty="0"/>
          </a:p>
        </p:txBody>
      </p:sp>
      <p:sp>
        <p:nvSpPr>
          <p:cNvPr id="33" name="Text 31"/>
          <p:cNvSpPr/>
          <p:nvPr/>
        </p:nvSpPr>
        <p:spPr>
          <a:xfrm>
            <a:off x="1325880" y="4407408"/>
            <a:ext cx="9875520" cy="457200"/>
          </a:xfrm>
          <a:prstGeom prst="rect">
            <a:avLst/>
          </a:prstGeom>
          <a:noFill/>
          <a:ln/>
        </p:spPr>
        <p:txBody>
          <a:bodyPr wrap="square" lIns="0" tIns="0" rIns="0" bIns="0" rtlCol="0" anchor="ctr"/>
          <a:lstStyle/>
          <a:p>
            <a:pPr indent="0" marL="0">
              <a:lnSpc>
                <a:spcPct val="120000"/>
              </a:lnSpc>
              <a:buNone/>
            </a:pPr>
            <a:r>
              <a:rPr lang="en-US" sz="1100" dirty="0">
                <a:solidFill>
                  <a:srgbClr val="7C93A3"/>
                </a:solidFill>
                <a:latin typeface="Arial" pitchFamily="34" charset="0"/>
                <a:ea typeface="Arial" pitchFamily="34" charset="-122"/>
                <a:cs typeface="Arial" pitchFamily="34" charset="-120"/>
              </a:rPr>
              <a:t>Case appears instantly in the Case Queue below, already sitting in Approve/Reject state.</a:t>
            </a:r>
            <a:endParaRPr lang="en-US" sz="1100" dirty="0"/>
          </a:p>
        </p:txBody>
      </p:sp>
      <p:sp>
        <p:nvSpPr>
          <p:cNvPr id="34" name="Shape 32"/>
          <p:cNvSpPr/>
          <p:nvPr/>
        </p:nvSpPr>
        <p:spPr>
          <a:xfrm>
            <a:off x="548640" y="5029200"/>
            <a:ext cx="548640" cy="548640"/>
          </a:xfrm>
          <a:prstGeom prst="ellipse">
            <a:avLst/>
          </a:prstGeom>
          <a:solidFill>
            <a:srgbClr val="0F2A22"/>
          </a:solidFill>
          <a:ln w="15875">
            <a:solidFill>
              <a:srgbClr val="5EFFC1"/>
            </a:solidFill>
            <a:prstDash val="solid"/>
          </a:ln>
        </p:spPr>
      </p:sp>
      <p:sp>
        <p:nvSpPr>
          <p:cNvPr id="35" name="Text 33"/>
          <p:cNvSpPr/>
          <p:nvPr/>
        </p:nvSpPr>
        <p:spPr>
          <a:xfrm>
            <a:off x="548640" y="5029200"/>
            <a:ext cx="548640" cy="548640"/>
          </a:xfrm>
          <a:prstGeom prst="rect">
            <a:avLst/>
          </a:prstGeom>
          <a:noFill/>
          <a:ln/>
        </p:spPr>
        <p:txBody>
          <a:bodyPr wrap="square" lIns="0" tIns="0" rIns="0" bIns="0" rtlCol="0" anchor="ctr"/>
          <a:lstStyle/>
          <a:p>
            <a:pPr algn="ctr" indent="0" marL="0">
              <a:buNone/>
            </a:pPr>
            <a:r>
              <a:rPr lang="en-US" sz="1600" b="1" dirty="0">
                <a:solidFill>
                  <a:srgbClr val="5EFFC1"/>
                </a:solidFill>
                <a:latin typeface="Consolas" pitchFamily="34" charset="0"/>
                <a:ea typeface="Consolas" pitchFamily="34" charset="-122"/>
                <a:cs typeface="Consolas" pitchFamily="34" charset="-120"/>
              </a:rPr>
              <a:t>4</a:t>
            </a:r>
            <a:endParaRPr lang="en-US" sz="1600" dirty="0"/>
          </a:p>
        </p:txBody>
      </p:sp>
      <p:sp>
        <p:nvSpPr>
          <p:cNvPr id="36" name="Text 34"/>
          <p:cNvSpPr/>
          <p:nvPr/>
        </p:nvSpPr>
        <p:spPr>
          <a:xfrm>
            <a:off x="1325880" y="5001768"/>
            <a:ext cx="9875520" cy="365760"/>
          </a:xfrm>
          <a:prstGeom prst="rect">
            <a:avLst/>
          </a:prstGeom>
          <a:noFill/>
          <a:ln/>
        </p:spPr>
        <p:txBody>
          <a:bodyPr wrap="square" lIns="0" tIns="0" rIns="0" bIns="0" rtlCol="0" anchor="ctr"/>
          <a:lstStyle/>
          <a:p>
            <a:pPr indent="0" marL="0">
              <a:buNone/>
            </a:pPr>
            <a:r>
              <a:rPr lang="en-US" sz="1450" b="1" dirty="0">
                <a:solidFill>
                  <a:srgbClr val="F2F6F8"/>
                </a:solidFill>
                <a:latin typeface="Arial" pitchFamily="34" charset="0"/>
                <a:ea typeface="Arial" pitchFamily="34" charset="-122"/>
                <a:cs typeface="Arial" pitchFamily="34" charset="-120"/>
              </a:rPr>
              <a:t>Click ↓ EXPORT CLIENT PACKAGE</a:t>
            </a:r>
            <a:endParaRPr lang="en-US" sz="1450" dirty="0"/>
          </a:p>
        </p:txBody>
      </p:sp>
      <p:sp>
        <p:nvSpPr>
          <p:cNvPr id="37" name="Text 35"/>
          <p:cNvSpPr/>
          <p:nvPr/>
        </p:nvSpPr>
        <p:spPr>
          <a:xfrm>
            <a:off x="1325880" y="5367528"/>
            <a:ext cx="9875520" cy="457200"/>
          </a:xfrm>
          <a:prstGeom prst="rect">
            <a:avLst/>
          </a:prstGeom>
          <a:noFill/>
          <a:ln/>
        </p:spPr>
        <p:txBody>
          <a:bodyPr wrap="square" lIns="0" tIns="0" rIns="0" bIns="0" rtlCol="0" anchor="ctr"/>
          <a:lstStyle/>
          <a:p>
            <a:pPr indent="0" marL="0">
              <a:lnSpc>
                <a:spcPct val="120000"/>
              </a:lnSpc>
              <a:buNone/>
            </a:pPr>
            <a:r>
              <a:rPr lang="en-US" sz="1100" dirty="0">
                <a:solidFill>
                  <a:srgbClr val="7C93A3"/>
                </a:solidFill>
                <a:latin typeface="Arial" pitchFamily="34" charset="0"/>
                <a:ea typeface="Arial" pitchFamily="34" charset="-122"/>
                <a:cs typeface="Arial" pitchFamily="34" charset="-120"/>
              </a:rPr>
              <a:t>JSON downloads in under a second — open it and show the seven sections live.</a:t>
            </a:r>
            <a:endParaRPr lang="en-US" sz="1100" dirty="0"/>
          </a:p>
        </p:txBody>
      </p:sp>
      <p:sp>
        <p:nvSpPr>
          <p:cNvPr id="38" name="Text 36"/>
          <p:cNvSpPr/>
          <p:nvPr/>
        </p:nvSpPr>
        <p:spPr>
          <a:xfrm>
            <a:off x="548640" y="6528816"/>
            <a:ext cx="4572000" cy="256032"/>
          </a:xfrm>
          <a:prstGeom prst="rect">
            <a:avLst/>
          </a:prstGeom>
          <a:noFill/>
          <a:ln/>
        </p:spPr>
        <p:txBody>
          <a:bodyPr wrap="square" lIns="0" tIns="0" rIns="0" bIns="0" rtlCol="0" anchor="ctr"/>
          <a:lstStyle/>
          <a:p>
            <a:pPr indent="0" marL="0">
              <a:buNone/>
            </a:pPr>
            <a:r>
              <a:rPr lang="en-US" sz="800" spc="100" kern="0" dirty="0">
                <a:solidFill>
                  <a:srgbClr val="4A6072"/>
                </a:solidFill>
                <a:latin typeface="Consolas" pitchFamily="34" charset="0"/>
                <a:ea typeface="Consolas" pitchFamily="34" charset="-122"/>
                <a:cs typeface="Consolas" pitchFamily="34" charset="-120"/>
              </a:rPr>
              <a:t>TSM BPO EXECUTIVE PORTAL</a:t>
            </a:r>
            <a:endParaRPr lang="en-US" sz="800" dirty="0"/>
          </a:p>
        </p:txBody>
      </p:sp>
      <p:sp>
        <p:nvSpPr>
          <p:cNvPr id="39" name="Text 37"/>
          <p:cNvSpPr/>
          <p:nvPr/>
        </p:nvSpPr>
        <p:spPr>
          <a:xfrm>
            <a:off x="11185855" y="6528816"/>
            <a:ext cx="457200" cy="256032"/>
          </a:xfrm>
          <a:prstGeom prst="rect">
            <a:avLst/>
          </a:prstGeom>
          <a:noFill/>
          <a:ln/>
        </p:spPr>
        <p:txBody>
          <a:bodyPr wrap="square" lIns="0" tIns="0" rIns="0" bIns="0" rtlCol="0" anchor="ctr"/>
          <a:lstStyle/>
          <a:p>
            <a:pPr algn="r" indent="0" marL="0">
              <a:buNone/>
            </a:pPr>
            <a:r>
              <a:rPr lang="en-US" sz="800" dirty="0">
                <a:solidFill>
                  <a:srgbClr val="4A6072"/>
                </a:solidFill>
                <a:latin typeface="Consolas" pitchFamily="34" charset="0"/>
                <a:ea typeface="Consolas" pitchFamily="34" charset="-122"/>
                <a:cs typeface="Consolas"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1A"/>
        </a:solidFill>
      </p:bgPr>
    </p:bg>
    <p:spTree>
      <p:nvGrpSpPr>
        <p:cNvPr id="1" name=""/>
        <p:cNvGrpSpPr/>
        <p:nvPr/>
      </p:nvGrpSpPr>
      <p:grpSpPr>
        <a:xfrm>
          <a:off x="0" y="0"/>
          <a:ext cx="0" cy="0"/>
          <a:chOff x="0" y="0"/>
          <a:chExt cx="0" cy="0"/>
        </a:xfrm>
      </p:grpSpPr>
      <p:sp>
        <p:nvSpPr>
          <p:cNvPr id="2" name="Shape 0"/>
          <p:cNvSpPr/>
          <p:nvPr/>
        </p:nvSpPr>
        <p:spPr>
          <a:xfrm>
            <a:off x="274320" y="256032"/>
            <a:ext cx="1228649" cy="310896"/>
          </a:xfrm>
          <a:prstGeom prst="roundRect">
            <a:avLst>
              <a:gd name="adj" fmla="val 17647"/>
            </a:avLst>
          </a:prstGeom>
          <a:solidFill>
            <a:srgbClr val="13232F"/>
          </a:solidFill>
          <a:ln w="9525">
            <a:solidFill>
              <a:srgbClr val="1A3A50"/>
            </a:solidFill>
            <a:prstDash val="solid"/>
          </a:ln>
        </p:spPr>
      </p:sp>
      <p:sp>
        <p:nvSpPr>
          <p:cNvPr id="3" name="Text 1">
            <a:hlinkClick r:id="rId1" tooltip="" action="ppaction://hlinksldjump"/>
          </p:cNvPr>
          <p:cNvSpPr/>
          <p:nvPr/>
        </p:nvSpPr>
        <p:spPr>
          <a:xfrm>
            <a:off x="274320"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1" action="ppaction://hlinksldjump" tooltip="">
                  <a:extLst>
                    <a:ext uri="{A12FA001-AC4F-418D-AE19-62706E023703}">
                      <ahyp:hlinkClr xmlns:ahyp="http://schemas.microsoft.com/office/drawing/2018/hyperlinkcolor" val="tx"/>
                    </a:ext>
                  </a:extLst>
                </a:hlinkClick>
              </a:rPr>
              <a:t>AGENDA</a:t>
            </a:r>
            <a:endParaRPr lang="en-US" sz="750" dirty="0"/>
          </a:p>
        </p:txBody>
      </p:sp>
      <p:sp>
        <p:nvSpPr>
          <p:cNvPr id="4" name="Shape 2"/>
          <p:cNvSpPr/>
          <p:nvPr/>
        </p:nvSpPr>
        <p:spPr>
          <a:xfrm>
            <a:off x="1576121" y="256032"/>
            <a:ext cx="1228649" cy="310896"/>
          </a:xfrm>
          <a:prstGeom prst="roundRect">
            <a:avLst>
              <a:gd name="adj" fmla="val 17647"/>
            </a:avLst>
          </a:prstGeom>
          <a:solidFill>
            <a:srgbClr val="13232F"/>
          </a:solidFill>
          <a:ln w="9525">
            <a:solidFill>
              <a:srgbClr val="1A3A50"/>
            </a:solidFill>
            <a:prstDash val="solid"/>
          </a:ln>
        </p:spPr>
      </p:sp>
      <p:sp>
        <p:nvSpPr>
          <p:cNvPr id="5" name="Text 3">
            <a:hlinkClick r:id="rId2" tooltip="" action="ppaction://hlinksldjump"/>
          </p:cNvPr>
          <p:cNvSpPr/>
          <p:nvPr/>
        </p:nvSpPr>
        <p:spPr>
          <a:xfrm>
            <a:off x="1576121"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THE PROBLEM</a:t>
            </a:r>
            <a:endParaRPr lang="en-US" sz="750" dirty="0"/>
          </a:p>
        </p:txBody>
      </p:sp>
      <p:sp>
        <p:nvSpPr>
          <p:cNvPr id="6" name="Shape 4"/>
          <p:cNvSpPr/>
          <p:nvPr/>
        </p:nvSpPr>
        <p:spPr>
          <a:xfrm>
            <a:off x="2877922" y="256032"/>
            <a:ext cx="1228649" cy="310896"/>
          </a:xfrm>
          <a:prstGeom prst="roundRect">
            <a:avLst>
              <a:gd name="adj" fmla="val 17647"/>
            </a:avLst>
          </a:prstGeom>
          <a:solidFill>
            <a:srgbClr val="13232F"/>
          </a:solidFill>
          <a:ln w="9525">
            <a:solidFill>
              <a:srgbClr val="1A3A50"/>
            </a:solidFill>
            <a:prstDash val="solid"/>
          </a:ln>
        </p:spPr>
      </p:sp>
      <p:sp>
        <p:nvSpPr>
          <p:cNvPr id="7" name="Text 5">
            <a:hlinkClick r:id="rId3" tooltip="" action="ppaction://hlinksldjump"/>
          </p:cNvPr>
          <p:cNvSpPr/>
          <p:nvPr/>
        </p:nvSpPr>
        <p:spPr>
          <a:xfrm>
            <a:off x="28779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LIVE WIP</a:t>
            </a:r>
            <a:endParaRPr lang="en-US" sz="750" dirty="0"/>
          </a:p>
        </p:txBody>
      </p:sp>
      <p:sp>
        <p:nvSpPr>
          <p:cNvPr id="8" name="Shape 6"/>
          <p:cNvSpPr/>
          <p:nvPr/>
        </p:nvSpPr>
        <p:spPr>
          <a:xfrm>
            <a:off x="4179722" y="256032"/>
            <a:ext cx="1228649" cy="310896"/>
          </a:xfrm>
          <a:prstGeom prst="roundRect">
            <a:avLst>
              <a:gd name="adj" fmla="val 17647"/>
            </a:avLst>
          </a:prstGeom>
          <a:solidFill>
            <a:srgbClr val="13232F"/>
          </a:solidFill>
          <a:ln w="9525">
            <a:solidFill>
              <a:srgbClr val="1A3A50"/>
            </a:solidFill>
            <a:prstDash val="solid"/>
          </a:ln>
        </p:spPr>
      </p:sp>
      <p:sp>
        <p:nvSpPr>
          <p:cNvPr id="9" name="Text 7">
            <a:hlinkClick r:id="rId4" tooltip="" action="ppaction://hlinksldjump"/>
          </p:cNvPr>
          <p:cNvSpPr/>
          <p:nvPr/>
        </p:nvSpPr>
        <p:spPr>
          <a:xfrm>
            <a:off x="41797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4" action="ppaction://hlinksldjump" tooltip="">
                  <a:extLst>
                    <a:ext uri="{A12FA001-AC4F-418D-AE19-62706E023703}">
                      <ahyp:hlinkClr xmlns:ahyp="http://schemas.microsoft.com/office/drawing/2018/hyperlinkcolor" val="tx"/>
                    </a:ext>
                  </a:extLst>
                </a:hlinkClick>
              </a:rPr>
              <a:t>EXPLAINABILITY</a:t>
            </a:r>
            <a:endParaRPr lang="en-US" sz="750" dirty="0"/>
          </a:p>
        </p:txBody>
      </p:sp>
      <p:sp>
        <p:nvSpPr>
          <p:cNvPr id="10" name="Shape 8"/>
          <p:cNvSpPr/>
          <p:nvPr/>
        </p:nvSpPr>
        <p:spPr>
          <a:xfrm>
            <a:off x="5481523" y="256032"/>
            <a:ext cx="1228649" cy="310896"/>
          </a:xfrm>
          <a:prstGeom prst="roundRect">
            <a:avLst>
              <a:gd name="adj" fmla="val 17647"/>
            </a:avLst>
          </a:prstGeom>
          <a:solidFill>
            <a:srgbClr val="13232F"/>
          </a:solidFill>
          <a:ln w="9525">
            <a:solidFill>
              <a:srgbClr val="1A3A50"/>
            </a:solidFill>
            <a:prstDash val="solid"/>
          </a:ln>
        </p:spPr>
      </p:sp>
      <p:sp>
        <p:nvSpPr>
          <p:cNvPr id="11" name="Text 9">
            <a:hlinkClick r:id="rId5" tooltip="" action="ppaction://hlinksldjump"/>
          </p:cNvPr>
          <p:cNvSpPr/>
          <p:nvPr/>
        </p:nvSpPr>
        <p:spPr>
          <a:xfrm>
            <a:off x="5481523"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5" action="ppaction://hlinksldjump" tooltip="">
                  <a:extLst>
                    <a:ext uri="{A12FA001-AC4F-418D-AE19-62706E023703}">
                      <ahyp:hlinkClr xmlns:ahyp="http://schemas.microsoft.com/office/drawing/2018/hyperlinkcolor" val="tx"/>
                    </a:ext>
                  </a:extLst>
                </a:hlinkClick>
              </a:rPr>
              <a:t>CASE GOVERNANCE</a:t>
            </a:r>
            <a:endParaRPr lang="en-US" sz="750" dirty="0"/>
          </a:p>
        </p:txBody>
      </p:sp>
      <p:sp>
        <p:nvSpPr>
          <p:cNvPr id="12" name="Shape 10"/>
          <p:cNvSpPr/>
          <p:nvPr/>
        </p:nvSpPr>
        <p:spPr>
          <a:xfrm>
            <a:off x="6783324" y="256032"/>
            <a:ext cx="1228649" cy="310896"/>
          </a:xfrm>
          <a:prstGeom prst="roundRect">
            <a:avLst>
              <a:gd name="adj" fmla="val 17647"/>
            </a:avLst>
          </a:prstGeom>
          <a:solidFill>
            <a:srgbClr val="13232F"/>
          </a:solidFill>
          <a:ln w="9525">
            <a:solidFill>
              <a:srgbClr val="1A3A50"/>
            </a:solidFill>
            <a:prstDash val="solid"/>
          </a:ln>
        </p:spPr>
      </p:sp>
      <p:sp>
        <p:nvSpPr>
          <p:cNvPr id="13" name="Text 11">
            <a:hlinkClick r:id="rId6" tooltip="" action="ppaction://hlinksldjump"/>
          </p:cNvPr>
          <p:cNvSpPr/>
          <p:nvPr/>
        </p:nvSpPr>
        <p:spPr>
          <a:xfrm>
            <a:off x="6783324"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6" action="ppaction://hlinksldjump" tooltip="">
                  <a:extLst>
                    <a:ext uri="{A12FA001-AC4F-418D-AE19-62706E023703}">
                      <ahyp:hlinkClr xmlns:ahyp="http://schemas.microsoft.com/office/drawing/2018/hyperlinkcolor" val="tx"/>
                    </a:ext>
                  </a:extLst>
                </a:hlinkClick>
              </a:rPr>
              <a:t>DELIVERY PKG</a:t>
            </a:r>
            <a:endParaRPr lang="en-US" sz="750" dirty="0"/>
          </a:p>
        </p:txBody>
      </p:sp>
      <p:sp>
        <p:nvSpPr>
          <p:cNvPr id="14" name="Shape 12"/>
          <p:cNvSpPr/>
          <p:nvPr/>
        </p:nvSpPr>
        <p:spPr>
          <a:xfrm>
            <a:off x="8085125" y="256032"/>
            <a:ext cx="1228649" cy="310896"/>
          </a:xfrm>
          <a:prstGeom prst="roundRect">
            <a:avLst>
              <a:gd name="adj" fmla="val 17647"/>
            </a:avLst>
          </a:prstGeom>
          <a:solidFill>
            <a:srgbClr val="13232F"/>
          </a:solidFill>
          <a:ln w="9525">
            <a:solidFill>
              <a:srgbClr val="1A3A50"/>
            </a:solidFill>
            <a:prstDash val="solid"/>
          </a:ln>
        </p:spPr>
      </p:sp>
      <p:sp>
        <p:nvSpPr>
          <p:cNvPr id="15" name="Text 13">
            <a:hlinkClick r:id="rId7" tooltip="" action="ppaction://hlinksldjump"/>
          </p:cNvPr>
          <p:cNvSpPr/>
          <p:nvPr/>
        </p:nvSpPr>
        <p:spPr>
          <a:xfrm>
            <a:off x="8085125"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7" action="ppaction://hlinksldjump" tooltip="">
                  <a:extLst>
                    <a:ext uri="{A12FA001-AC4F-418D-AE19-62706E023703}">
                      <ahyp:hlinkClr xmlns:ahyp="http://schemas.microsoft.com/office/drawing/2018/hyperlinkcolor" val="tx"/>
                    </a:ext>
                  </a:extLst>
                </a:hlinkClick>
              </a:rPr>
              <a:t>ONE PLATFORM</a:t>
            </a:r>
            <a:endParaRPr lang="en-US" sz="750" dirty="0"/>
          </a:p>
        </p:txBody>
      </p:sp>
      <p:sp>
        <p:nvSpPr>
          <p:cNvPr id="16" name="Shape 14"/>
          <p:cNvSpPr/>
          <p:nvPr/>
        </p:nvSpPr>
        <p:spPr>
          <a:xfrm>
            <a:off x="9386926" y="256032"/>
            <a:ext cx="1228649" cy="310896"/>
          </a:xfrm>
          <a:prstGeom prst="roundRect">
            <a:avLst>
              <a:gd name="adj" fmla="val 17647"/>
            </a:avLst>
          </a:prstGeom>
          <a:solidFill>
            <a:srgbClr val="13232F"/>
          </a:solidFill>
          <a:ln w="9525">
            <a:solidFill>
              <a:srgbClr val="1A3A50"/>
            </a:solidFill>
            <a:prstDash val="solid"/>
          </a:ln>
        </p:spPr>
      </p:sp>
      <p:sp>
        <p:nvSpPr>
          <p:cNvPr id="17" name="Text 15">
            <a:hlinkClick r:id="rId8" tooltip="" action="ppaction://hlinksldjump"/>
          </p:cNvPr>
          <p:cNvSpPr/>
          <p:nvPr/>
        </p:nvSpPr>
        <p:spPr>
          <a:xfrm>
            <a:off x="93869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8" action="ppaction://hlinksldjump" tooltip="">
                  <a:extLst>
                    <a:ext uri="{A12FA001-AC4F-418D-AE19-62706E023703}">
                      <ahyp:hlinkClr xmlns:ahyp="http://schemas.microsoft.com/office/drawing/2018/hyperlinkcolor" val="tx"/>
                    </a:ext>
                  </a:extLst>
                </a:hlinkClick>
              </a:rPr>
              <a:t>LIVE DEMO</a:t>
            </a:r>
            <a:endParaRPr lang="en-US" sz="750" dirty="0"/>
          </a:p>
        </p:txBody>
      </p:sp>
      <p:sp>
        <p:nvSpPr>
          <p:cNvPr id="18" name="Shape 16"/>
          <p:cNvSpPr/>
          <p:nvPr/>
        </p:nvSpPr>
        <p:spPr>
          <a:xfrm>
            <a:off x="10688726" y="256032"/>
            <a:ext cx="1228649" cy="310896"/>
          </a:xfrm>
          <a:prstGeom prst="roundRect">
            <a:avLst>
              <a:gd name="adj" fmla="val 17647"/>
            </a:avLst>
          </a:prstGeom>
          <a:solidFill>
            <a:srgbClr val="5EFFC1"/>
          </a:solidFill>
          <a:ln w="9525">
            <a:solidFill>
              <a:srgbClr val="5EFFC1"/>
            </a:solidFill>
            <a:prstDash val="solid"/>
          </a:ln>
        </p:spPr>
      </p:sp>
      <p:sp>
        <p:nvSpPr>
          <p:cNvPr id="19" name="Text 17">
            <a:hlinkClick r:id="rId9" tooltip="" action="ppaction://hlinksldjump"/>
          </p:cNvPr>
          <p:cNvSpPr/>
          <p:nvPr/>
        </p:nvSpPr>
        <p:spPr>
          <a:xfrm>
            <a:off x="10688726" y="256032"/>
            <a:ext cx="1228649" cy="310896"/>
          </a:xfrm>
          <a:prstGeom prst="rect">
            <a:avLst/>
          </a:prstGeom>
          <a:noFill/>
          <a:ln/>
        </p:spPr>
        <p:txBody>
          <a:bodyPr wrap="square" lIns="0" tIns="0" rIns="0" bIns="0" rtlCol="0" anchor="ctr"/>
          <a:lstStyle/>
          <a:p>
            <a:pPr algn="ctr" indent="0" marL="0">
              <a:buNone/>
            </a:pPr>
            <a:r>
              <a:rPr lang="en-US" sz="750" b="1" u="sng" spc="50" kern="0" dirty="0">
                <a:solidFill>
                  <a:srgbClr val="07120D"/>
                </a:solidFill>
                <a:latin typeface="Consolas" pitchFamily="34" charset="0"/>
                <a:ea typeface="Consolas" pitchFamily="34" charset="-122"/>
                <a:cs typeface="Consolas" pitchFamily="34" charset="-120"/>
                <a:hlinkClick r:id="rId9" action="ppaction://hlinksldjump" tooltip="">
                  <a:extLst>
                    <a:ext uri="{A12FA001-AC4F-418D-AE19-62706E023703}">
                      <ahyp:hlinkClr xmlns:ahyp="http://schemas.microsoft.com/office/drawing/2018/hyperlinkcolor" val="tx"/>
                    </a:ext>
                  </a:extLst>
                </a:hlinkClick>
              </a:rPr>
              <a:t>THE ASK</a:t>
            </a:r>
            <a:endParaRPr lang="en-US" sz="750" dirty="0"/>
          </a:p>
        </p:txBody>
      </p:sp>
      <p:sp>
        <p:nvSpPr>
          <p:cNvPr id="20" name="Text 18"/>
          <p:cNvSpPr/>
          <p:nvPr/>
        </p:nvSpPr>
        <p:spPr>
          <a:xfrm>
            <a:off x="548640" y="868680"/>
            <a:ext cx="7315200" cy="274320"/>
          </a:xfrm>
          <a:prstGeom prst="rect">
            <a:avLst/>
          </a:prstGeom>
          <a:noFill/>
          <a:ln/>
        </p:spPr>
        <p:txBody>
          <a:bodyPr wrap="square" lIns="0" tIns="0" rIns="0" bIns="0" rtlCol="0" anchor="ctr"/>
          <a:lstStyle/>
          <a:p>
            <a:pPr indent="0" marL="0">
              <a:buNone/>
            </a:pPr>
            <a:r>
              <a:rPr lang="en-US" sz="1100" b="1" spc="200" kern="0" dirty="0">
                <a:solidFill>
                  <a:srgbClr val="5EFFC1"/>
                </a:solidFill>
                <a:latin typeface="Consolas" pitchFamily="34" charset="0"/>
                <a:ea typeface="Consolas" pitchFamily="34" charset="-122"/>
                <a:cs typeface="Consolas" pitchFamily="34" charset="-120"/>
              </a:rPr>
              <a:t>THE BOTTOM LINE</a:t>
            </a:r>
            <a:endParaRPr lang="en-US" sz="1100" dirty="0"/>
          </a:p>
        </p:txBody>
      </p:sp>
      <p:sp>
        <p:nvSpPr>
          <p:cNvPr id="21" name="Text 19"/>
          <p:cNvSpPr/>
          <p:nvPr/>
        </p:nvSpPr>
        <p:spPr>
          <a:xfrm>
            <a:off x="548640" y="1161288"/>
            <a:ext cx="10515600" cy="822960"/>
          </a:xfrm>
          <a:prstGeom prst="rect">
            <a:avLst/>
          </a:prstGeom>
          <a:noFill/>
          <a:ln/>
        </p:spPr>
        <p:txBody>
          <a:bodyPr wrap="square" lIns="0" tIns="0" rIns="0" bIns="0" rtlCol="0" anchor="ctr"/>
          <a:lstStyle/>
          <a:p>
            <a:pPr indent="0" marL="0">
              <a:buNone/>
            </a:pPr>
            <a:r>
              <a:rPr lang="en-US" sz="3000" b="1" dirty="0">
                <a:solidFill>
                  <a:srgbClr val="F2F6F8"/>
                </a:solidFill>
                <a:latin typeface="Arial" pitchFamily="34" charset="0"/>
                <a:ea typeface="Arial" pitchFamily="34" charset="-122"/>
                <a:cs typeface="Arial" pitchFamily="34" charset="-120"/>
              </a:rPr>
              <a:t>You're Not Buying a Model.</a:t>
            </a:r>
            <a:endParaRPr lang="en-US" sz="3000" dirty="0"/>
          </a:p>
          <a:p>
            <a:pPr indent="0" marL="0">
              <a:buNone/>
            </a:pPr>
            <a:r>
              <a:rPr lang="en-US" sz="3000" b="1" dirty="0">
                <a:solidFill>
                  <a:srgbClr val="F2F6F8"/>
                </a:solidFill>
                <a:latin typeface="Arial" pitchFamily="34" charset="0"/>
                <a:ea typeface="Arial" pitchFamily="34" charset="-122"/>
                <a:cs typeface="Arial" pitchFamily="34" charset="-120"/>
              </a:rPr>
              <a:t>You're Buying an Audit Trail.</a:t>
            </a:r>
            <a:endParaRPr lang="en-US" sz="3000" dirty="0"/>
          </a:p>
        </p:txBody>
      </p:sp>
      <p:sp>
        <p:nvSpPr>
          <p:cNvPr id="22" name="Shape 20"/>
          <p:cNvSpPr/>
          <p:nvPr/>
        </p:nvSpPr>
        <p:spPr>
          <a:xfrm>
            <a:off x="548640" y="2103120"/>
            <a:ext cx="11064240" cy="868680"/>
          </a:xfrm>
          <a:prstGeom prst="roundRect">
            <a:avLst>
              <a:gd name="adj" fmla="val 7368"/>
            </a:avLst>
          </a:prstGeom>
          <a:solidFill>
            <a:srgbClr val="0F1B26"/>
          </a:solidFill>
          <a:ln w="12700">
            <a:solidFill>
              <a:srgbClr val="1A3A50"/>
            </a:solidFill>
            <a:prstDash val="solid"/>
          </a:ln>
        </p:spPr>
      </p:sp>
      <p:sp>
        <p:nvSpPr>
          <p:cNvPr id="23" name="Text 21"/>
          <p:cNvSpPr/>
          <p:nvPr/>
        </p:nvSpPr>
        <p:spPr>
          <a:xfrm>
            <a:off x="822960" y="2103120"/>
            <a:ext cx="2194560" cy="868680"/>
          </a:xfrm>
          <a:prstGeom prst="rect">
            <a:avLst/>
          </a:prstGeom>
          <a:noFill/>
          <a:ln/>
        </p:spPr>
        <p:txBody>
          <a:bodyPr wrap="square" lIns="0" tIns="0" rIns="0" bIns="0" rtlCol="0" anchor="ctr"/>
          <a:lstStyle/>
          <a:p>
            <a:pPr indent="0" marL="0">
              <a:buNone/>
            </a:pPr>
            <a:r>
              <a:rPr lang="en-US" sz="1300" b="1" spc="50" kern="0" dirty="0">
                <a:solidFill>
                  <a:srgbClr val="5EFFC1"/>
                </a:solidFill>
                <a:latin typeface="Consolas" pitchFamily="34" charset="0"/>
                <a:ea typeface="Consolas" pitchFamily="34" charset="-122"/>
                <a:cs typeface="Consolas" pitchFamily="34" charset="-120"/>
              </a:rPr>
              <a:t>Trust</a:t>
            </a:r>
            <a:endParaRPr lang="en-US" sz="1300" dirty="0"/>
          </a:p>
        </p:txBody>
      </p:sp>
      <p:sp>
        <p:nvSpPr>
          <p:cNvPr id="24" name="Text 22"/>
          <p:cNvSpPr/>
          <p:nvPr/>
        </p:nvSpPr>
        <p:spPr>
          <a:xfrm>
            <a:off x="3200400" y="2103120"/>
            <a:ext cx="8138160" cy="868680"/>
          </a:xfrm>
          <a:prstGeom prst="rect">
            <a:avLst/>
          </a:prstGeom>
          <a:noFill/>
          <a:ln/>
        </p:spPr>
        <p:txBody>
          <a:bodyPr wrap="square" lIns="0" tIns="0" rIns="0" bIns="0" rtlCol="0" anchor="ctr"/>
          <a:lstStyle/>
          <a:p>
            <a:pPr indent="0" marL="0">
              <a:lnSpc>
                <a:spcPct val="120000"/>
              </a:lnSpc>
              <a:buNone/>
            </a:pPr>
            <a:r>
              <a:rPr lang="en-US" sz="1250" dirty="0">
                <a:solidFill>
                  <a:srgbClr val="F2F6F8"/>
                </a:solidFill>
                <a:latin typeface="Arial" pitchFamily="34" charset="0"/>
                <a:ea typeface="Arial" pitchFamily="34" charset="-122"/>
                <a:cs typeface="Arial" pitchFamily="34" charset="-120"/>
              </a:rPr>
              <a:t>Every number traces to a source. Nothing is a black box a client has to take on faith.</a:t>
            </a:r>
            <a:endParaRPr lang="en-US" sz="1250" dirty="0"/>
          </a:p>
        </p:txBody>
      </p:sp>
      <p:sp>
        <p:nvSpPr>
          <p:cNvPr id="25" name="Shape 23"/>
          <p:cNvSpPr/>
          <p:nvPr/>
        </p:nvSpPr>
        <p:spPr>
          <a:xfrm>
            <a:off x="548640" y="3127248"/>
            <a:ext cx="11064240" cy="868680"/>
          </a:xfrm>
          <a:prstGeom prst="roundRect">
            <a:avLst>
              <a:gd name="adj" fmla="val 7368"/>
            </a:avLst>
          </a:prstGeom>
          <a:solidFill>
            <a:srgbClr val="0F1B26"/>
          </a:solidFill>
          <a:ln w="12700">
            <a:solidFill>
              <a:srgbClr val="1A3A50"/>
            </a:solidFill>
            <a:prstDash val="solid"/>
          </a:ln>
        </p:spPr>
      </p:sp>
      <p:sp>
        <p:nvSpPr>
          <p:cNvPr id="26" name="Text 24"/>
          <p:cNvSpPr/>
          <p:nvPr/>
        </p:nvSpPr>
        <p:spPr>
          <a:xfrm>
            <a:off x="822960" y="3127248"/>
            <a:ext cx="2194560" cy="868680"/>
          </a:xfrm>
          <a:prstGeom prst="rect">
            <a:avLst/>
          </a:prstGeom>
          <a:noFill/>
          <a:ln/>
        </p:spPr>
        <p:txBody>
          <a:bodyPr wrap="square" lIns="0" tIns="0" rIns="0" bIns="0" rtlCol="0" anchor="ctr"/>
          <a:lstStyle/>
          <a:p>
            <a:pPr indent="0" marL="0">
              <a:buNone/>
            </a:pPr>
            <a:r>
              <a:rPr lang="en-US" sz="1300" b="1" spc="50" kern="0" dirty="0">
                <a:solidFill>
                  <a:srgbClr val="5EFFC1"/>
                </a:solidFill>
                <a:latin typeface="Consolas" pitchFamily="34" charset="0"/>
                <a:ea typeface="Consolas" pitchFamily="34" charset="-122"/>
                <a:cs typeface="Consolas" pitchFamily="34" charset="-120"/>
              </a:rPr>
              <a:t>Governance</a:t>
            </a:r>
            <a:endParaRPr lang="en-US" sz="1300" dirty="0"/>
          </a:p>
        </p:txBody>
      </p:sp>
      <p:sp>
        <p:nvSpPr>
          <p:cNvPr id="27" name="Text 25"/>
          <p:cNvSpPr/>
          <p:nvPr/>
        </p:nvSpPr>
        <p:spPr>
          <a:xfrm>
            <a:off x="3200400" y="3127248"/>
            <a:ext cx="8138160" cy="868680"/>
          </a:xfrm>
          <a:prstGeom prst="rect">
            <a:avLst/>
          </a:prstGeom>
          <a:noFill/>
          <a:ln/>
        </p:spPr>
        <p:txBody>
          <a:bodyPr wrap="square" lIns="0" tIns="0" rIns="0" bIns="0" rtlCol="0" anchor="ctr"/>
          <a:lstStyle/>
          <a:p>
            <a:pPr indent="0" marL="0">
              <a:lnSpc>
                <a:spcPct val="120000"/>
              </a:lnSpc>
              <a:buNone/>
            </a:pPr>
            <a:r>
              <a:rPr lang="en-US" sz="1250" dirty="0">
                <a:solidFill>
                  <a:srgbClr val="F2F6F8"/>
                </a:solidFill>
                <a:latin typeface="Arial" pitchFamily="34" charset="0"/>
                <a:ea typeface="Arial" pitchFamily="34" charset="-122"/>
                <a:cs typeface="Arial" pitchFamily="34" charset="-120"/>
              </a:rPr>
              <a:t>Every exception becomes a named, approved case — the record compliance actually asks for.</a:t>
            </a:r>
            <a:endParaRPr lang="en-US" sz="1250" dirty="0"/>
          </a:p>
        </p:txBody>
      </p:sp>
      <p:sp>
        <p:nvSpPr>
          <p:cNvPr id="28" name="Shape 26"/>
          <p:cNvSpPr/>
          <p:nvPr/>
        </p:nvSpPr>
        <p:spPr>
          <a:xfrm>
            <a:off x="548640" y="4151376"/>
            <a:ext cx="11064240" cy="868680"/>
          </a:xfrm>
          <a:prstGeom prst="roundRect">
            <a:avLst>
              <a:gd name="adj" fmla="val 7368"/>
            </a:avLst>
          </a:prstGeom>
          <a:solidFill>
            <a:srgbClr val="0F1B26"/>
          </a:solidFill>
          <a:ln w="12700">
            <a:solidFill>
              <a:srgbClr val="1A3A50"/>
            </a:solidFill>
            <a:prstDash val="solid"/>
          </a:ln>
        </p:spPr>
      </p:sp>
      <p:sp>
        <p:nvSpPr>
          <p:cNvPr id="29" name="Text 27"/>
          <p:cNvSpPr/>
          <p:nvPr/>
        </p:nvSpPr>
        <p:spPr>
          <a:xfrm>
            <a:off x="822960" y="4151376"/>
            <a:ext cx="2194560" cy="868680"/>
          </a:xfrm>
          <a:prstGeom prst="rect">
            <a:avLst/>
          </a:prstGeom>
          <a:noFill/>
          <a:ln/>
        </p:spPr>
        <p:txBody>
          <a:bodyPr wrap="square" lIns="0" tIns="0" rIns="0" bIns="0" rtlCol="0" anchor="ctr"/>
          <a:lstStyle/>
          <a:p>
            <a:pPr indent="0" marL="0">
              <a:buNone/>
            </a:pPr>
            <a:r>
              <a:rPr lang="en-US" sz="1300" b="1" spc="50" kern="0" dirty="0">
                <a:solidFill>
                  <a:srgbClr val="5EFFC1"/>
                </a:solidFill>
                <a:latin typeface="Consolas" pitchFamily="34" charset="0"/>
                <a:ea typeface="Consolas" pitchFamily="34" charset="-122"/>
                <a:cs typeface="Consolas" pitchFamily="34" charset="-120"/>
              </a:rPr>
              <a:t>Speed to close</a:t>
            </a:r>
            <a:endParaRPr lang="en-US" sz="1300" dirty="0"/>
          </a:p>
        </p:txBody>
      </p:sp>
      <p:sp>
        <p:nvSpPr>
          <p:cNvPr id="30" name="Text 28"/>
          <p:cNvSpPr/>
          <p:nvPr/>
        </p:nvSpPr>
        <p:spPr>
          <a:xfrm>
            <a:off x="3200400" y="4151376"/>
            <a:ext cx="8138160" cy="868680"/>
          </a:xfrm>
          <a:prstGeom prst="rect">
            <a:avLst/>
          </a:prstGeom>
          <a:noFill/>
          <a:ln/>
        </p:spPr>
        <p:txBody>
          <a:bodyPr wrap="square" lIns="0" tIns="0" rIns="0" bIns="0" rtlCol="0" anchor="ctr"/>
          <a:lstStyle/>
          <a:p>
            <a:pPr indent="0" marL="0">
              <a:lnSpc>
                <a:spcPct val="120000"/>
              </a:lnSpc>
              <a:buNone/>
            </a:pPr>
            <a:r>
              <a:rPr lang="en-US" sz="1250" dirty="0">
                <a:solidFill>
                  <a:srgbClr val="F2F6F8"/>
                </a:solidFill>
                <a:latin typeface="Arial" pitchFamily="34" charset="0"/>
                <a:ea typeface="Arial" pitchFamily="34" charset="-122"/>
                <a:cs typeface="Arial" pitchFamily="34" charset="-120"/>
              </a:rPr>
              <a:t>No manual PDF stitched together the night before a client review — one click, done.</a:t>
            </a:r>
            <a:endParaRPr lang="en-US" sz="1250" dirty="0"/>
          </a:p>
        </p:txBody>
      </p:sp>
      <p:sp>
        <p:nvSpPr>
          <p:cNvPr id="31" name="Shape 29"/>
          <p:cNvSpPr/>
          <p:nvPr/>
        </p:nvSpPr>
        <p:spPr>
          <a:xfrm>
            <a:off x="548640" y="5175504"/>
            <a:ext cx="11064240" cy="868680"/>
          </a:xfrm>
          <a:prstGeom prst="roundRect">
            <a:avLst>
              <a:gd name="adj" fmla="val 7368"/>
            </a:avLst>
          </a:prstGeom>
          <a:solidFill>
            <a:srgbClr val="0F1B26"/>
          </a:solidFill>
          <a:ln w="12700">
            <a:solidFill>
              <a:srgbClr val="1A3A50"/>
            </a:solidFill>
            <a:prstDash val="solid"/>
          </a:ln>
        </p:spPr>
      </p:sp>
      <p:sp>
        <p:nvSpPr>
          <p:cNvPr id="32" name="Text 30"/>
          <p:cNvSpPr/>
          <p:nvPr/>
        </p:nvSpPr>
        <p:spPr>
          <a:xfrm>
            <a:off x="822960" y="5175504"/>
            <a:ext cx="2194560" cy="868680"/>
          </a:xfrm>
          <a:prstGeom prst="rect">
            <a:avLst/>
          </a:prstGeom>
          <a:noFill/>
          <a:ln/>
        </p:spPr>
        <p:txBody>
          <a:bodyPr wrap="square" lIns="0" tIns="0" rIns="0" bIns="0" rtlCol="0" anchor="ctr"/>
          <a:lstStyle/>
          <a:p>
            <a:pPr indent="0" marL="0">
              <a:buNone/>
            </a:pPr>
            <a:r>
              <a:rPr lang="en-US" sz="1300" b="1" spc="50" kern="0" dirty="0">
                <a:solidFill>
                  <a:srgbClr val="5EFFC1"/>
                </a:solidFill>
                <a:latin typeface="Consolas" pitchFamily="34" charset="0"/>
                <a:ea typeface="Consolas" pitchFamily="34" charset="-122"/>
                <a:cs typeface="Consolas" pitchFamily="34" charset="-120"/>
              </a:rPr>
              <a:t>No rip-and-replace</a:t>
            </a:r>
            <a:endParaRPr lang="en-US" sz="1300" dirty="0"/>
          </a:p>
        </p:txBody>
      </p:sp>
      <p:sp>
        <p:nvSpPr>
          <p:cNvPr id="33" name="Text 31"/>
          <p:cNvSpPr/>
          <p:nvPr/>
        </p:nvSpPr>
        <p:spPr>
          <a:xfrm>
            <a:off x="3200400" y="5175504"/>
            <a:ext cx="8138160" cy="868680"/>
          </a:xfrm>
          <a:prstGeom prst="rect">
            <a:avLst/>
          </a:prstGeom>
          <a:noFill/>
          <a:ln/>
        </p:spPr>
        <p:txBody>
          <a:bodyPr wrap="square" lIns="0" tIns="0" rIns="0" bIns="0" rtlCol="0" anchor="ctr"/>
          <a:lstStyle/>
          <a:p>
            <a:pPr indent="0" marL="0">
              <a:lnSpc>
                <a:spcPct val="120000"/>
              </a:lnSpc>
              <a:buNone/>
            </a:pPr>
            <a:r>
              <a:rPr lang="en-US" sz="1250" dirty="0">
                <a:solidFill>
                  <a:srgbClr val="F2F6F8"/>
                </a:solidFill>
                <a:latin typeface="Arial" pitchFamily="34" charset="0"/>
                <a:ea typeface="Arial" pitchFamily="34" charset="-122"/>
                <a:cs typeface="Arial" pitchFamily="34" charset="-120"/>
              </a:rPr>
              <a:t>Sits alongside your existing systems. No procurement swap, no platform migration.</a:t>
            </a:r>
            <a:endParaRPr lang="en-US" sz="1250" dirty="0"/>
          </a:p>
        </p:txBody>
      </p:sp>
      <p:sp>
        <p:nvSpPr>
          <p:cNvPr id="34" name="Text 32"/>
          <p:cNvSpPr/>
          <p:nvPr/>
        </p:nvSpPr>
        <p:spPr>
          <a:xfrm>
            <a:off x="548640" y="6528816"/>
            <a:ext cx="4572000" cy="256032"/>
          </a:xfrm>
          <a:prstGeom prst="rect">
            <a:avLst/>
          </a:prstGeom>
          <a:noFill/>
          <a:ln/>
        </p:spPr>
        <p:txBody>
          <a:bodyPr wrap="square" lIns="0" tIns="0" rIns="0" bIns="0" rtlCol="0" anchor="ctr"/>
          <a:lstStyle/>
          <a:p>
            <a:pPr indent="0" marL="0">
              <a:buNone/>
            </a:pPr>
            <a:r>
              <a:rPr lang="en-US" sz="800" spc="100" kern="0" dirty="0">
                <a:solidFill>
                  <a:srgbClr val="4A6072"/>
                </a:solidFill>
                <a:latin typeface="Consolas" pitchFamily="34" charset="0"/>
                <a:ea typeface="Consolas" pitchFamily="34" charset="-122"/>
                <a:cs typeface="Consolas" pitchFamily="34" charset="-120"/>
              </a:rPr>
              <a:t>TSM BPO EXECUTIVE PORTAL</a:t>
            </a:r>
            <a:endParaRPr lang="en-US" sz="800" dirty="0"/>
          </a:p>
        </p:txBody>
      </p:sp>
      <p:sp>
        <p:nvSpPr>
          <p:cNvPr id="35" name="Text 33"/>
          <p:cNvSpPr/>
          <p:nvPr/>
        </p:nvSpPr>
        <p:spPr>
          <a:xfrm>
            <a:off x="11185855" y="6528816"/>
            <a:ext cx="457200" cy="256032"/>
          </a:xfrm>
          <a:prstGeom prst="rect">
            <a:avLst/>
          </a:prstGeom>
          <a:noFill/>
          <a:ln/>
        </p:spPr>
        <p:txBody>
          <a:bodyPr wrap="square" lIns="0" tIns="0" rIns="0" bIns="0" rtlCol="0" anchor="ctr"/>
          <a:lstStyle/>
          <a:p>
            <a:pPr algn="r" indent="0" marL="0">
              <a:buNone/>
            </a:pPr>
            <a:r>
              <a:rPr lang="en-US" sz="800" dirty="0">
                <a:solidFill>
                  <a:srgbClr val="4A6072"/>
                </a:solidFill>
                <a:latin typeface="Consolas" pitchFamily="34" charset="0"/>
                <a:ea typeface="Consolas" pitchFamily="34" charset="-122"/>
                <a:cs typeface="Consolas"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1A"/>
        </a:solidFill>
      </p:bgPr>
    </p:bg>
    <p:spTree>
      <p:nvGrpSpPr>
        <p:cNvPr id="1" name=""/>
        <p:cNvGrpSpPr/>
        <p:nvPr/>
      </p:nvGrpSpPr>
      <p:grpSpPr>
        <a:xfrm>
          <a:off x="0" y="0"/>
          <a:ext cx="0" cy="0"/>
          <a:chOff x="0" y="0"/>
          <a:chExt cx="0" cy="0"/>
        </a:xfrm>
      </p:grpSpPr>
      <p:sp>
        <p:nvSpPr>
          <p:cNvPr id="2" name="Shape 0"/>
          <p:cNvSpPr/>
          <p:nvPr/>
        </p:nvSpPr>
        <p:spPr>
          <a:xfrm>
            <a:off x="274320" y="256032"/>
            <a:ext cx="1228649" cy="310896"/>
          </a:xfrm>
          <a:prstGeom prst="roundRect">
            <a:avLst>
              <a:gd name="adj" fmla="val 17647"/>
            </a:avLst>
          </a:prstGeom>
          <a:solidFill>
            <a:srgbClr val="13232F"/>
          </a:solidFill>
          <a:ln w="9525">
            <a:solidFill>
              <a:srgbClr val="1A3A50"/>
            </a:solidFill>
            <a:prstDash val="solid"/>
          </a:ln>
        </p:spPr>
      </p:sp>
      <p:sp>
        <p:nvSpPr>
          <p:cNvPr id="3" name="Text 1">
            <a:hlinkClick r:id="rId1" tooltip="" action="ppaction://hlinksldjump"/>
          </p:cNvPr>
          <p:cNvSpPr/>
          <p:nvPr/>
        </p:nvSpPr>
        <p:spPr>
          <a:xfrm>
            <a:off x="274320"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1" action="ppaction://hlinksldjump" tooltip="">
                  <a:extLst>
                    <a:ext uri="{A12FA001-AC4F-418D-AE19-62706E023703}">
                      <ahyp:hlinkClr xmlns:ahyp="http://schemas.microsoft.com/office/drawing/2018/hyperlinkcolor" val="tx"/>
                    </a:ext>
                  </a:extLst>
                </a:hlinkClick>
              </a:rPr>
              <a:t>AGENDA</a:t>
            </a:r>
            <a:endParaRPr lang="en-US" sz="750" dirty="0"/>
          </a:p>
        </p:txBody>
      </p:sp>
      <p:sp>
        <p:nvSpPr>
          <p:cNvPr id="4" name="Shape 2"/>
          <p:cNvSpPr/>
          <p:nvPr/>
        </p:nvSpPr>
        <p:spPr>
          <a:xfrm>
            <a:off x="1576121" y="256032"/>
            <a:ext cx="1228649" cy="310896"/>
          </a:xfrm>
          <a:prstGeom prst="roundRect">
            <a:avLst>
              <a:gd name="adj" fmla="val 17647"/>
            </a:avLst>
          </a:prstGeom>
          <a:solidFill>
            <a:srgbClr val="13232F"/>
          </a:solidFill>
          <a:ln w="9525">
            <a:solidFill>
              <a:srgbClr val="1A3A50"/>
            </a:solidFill>
            <a:prstDash val="solid"/>
          </a:ln>
        </p:spPr>
      </p:sp>
      <p:sp>
        <p:nvSpPr>
          <p:cNvPr id="5" name="Text 3">
            <a:hlinkClick r:id="rId2" tooltip="" action="ppaction://hlinksldjump"/>
          </p:cNvPr>
          <p:cNvSpPr/>
          <p:nvPr/>
        </p:nvSpPr>
        <p:spPr>
          <a:xfrm>
            <a:off x="1576121"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THE PROBLEM</a:t>
            </a:r>
            <a:endParaRPr lang="en-US" sz="750" dirty="0"/>
          </a:p>
        </p:txBody>
      </p:sp>
      <p:sp>
        <p:nvSpPr>
          <p:cNvPr id="6" name="Shape 4"/>
          <p:cNvSpPr/>
          <p:nvPr/>
        </p:nvSpPr>
        <p:spPr>
          <a:xfrm>
            <a:off x="2877922" y="256032"/>
            <a:ext cx="1228649" cy="310896"/>
          </a:xfrm>
          <a:prstGeom prst="roundRect">
            <a:avLst>
              <a:gd name="adj" fmla="val 17647"/>
            </a:avLst>
          </a:prstGeom>
          <a:solidFill>
            <a:srgbClr val="13232F"/>
          </a:solidFill>
          <a:ln w="9525">
            <a:solidFill>
              <a:srgbClr val="1A3A50"/>
            </a:solidFill>
            <a:prstDash val="solid"/>
          </a:ln>
        </p:spPr>
      </p:sp>
      <p:sp>
        <p:nvSpPr>
          <p:cNvPr id="7" name="Text 5">
            <a:hlinkClick r:id="rId3" tooltip="" action="ppaction://hlinksldjump"/>
          </p:cNvPr>
          <p:cNvSpPr/>
          <p:nvPr/>
        </p:nvSpPr>
        <p:spPr>
          <a:xfrm>
            <a:off x="28779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LIVE WIP</a:t>
            </a:r>
            <a:endParaRPr lang="en-US" sz="750" dirty="0"/>
          </a:p>
        </p:txBody>
      </p:sp>
      <p:sp>
        <p:nvSpPr>
          <p:cNvPr id="8" name="Shape 6"/>
          <p:cNvSpPr/>
          <p:nvPr/>
        </p:nvSpPr>
        <p:spPr>
          <a:xfrm>
            <a:off x="4179722" y="256032"/>
            <a:ext cx="1228649" cy="310896"/>
          </a:xfrm>
          <a:prstGeom prst="roundRect">
            <a:avLst>
              <a:gd name="adj" fmla="val 17647"/>
            </a:avLst>
          </a:prstGeom>
          <a:solidFill>
            <a:srgbClr val="13232F"/>
          </a:solidFill>
          <a:ln w="9525">
            <a:solidFill>
              <a:srgbClr val="1A3A50"/>
            </a:solidFill>
            <a:prstDash val="solid"/>
          </a:ln>
        </p:spPr>
      </p:sp>
      <p:sp>
        <p:nvSpPr>
          <p:cNvPr id="9" name="Text 7">
            <a:hlinkClick r:id="rId4" tooltip="" action="ppaction://hlinksldjump"/>
          </p:cNvPr>
          <p:cNvSpPr/>
          <p:nvPr/>
        </p:nvSpPr>
        <p:spPr>
          <a:xfrm>
            <a:off x="4179722"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4" action="ppaction://hlinksldjump" tooltip="">
                  <a:extLst>
                    <a:ext uri="{A12FA001-AC4F-418D-AE19-62706E023703}">
                      <ahyp:hlinkClr xmlns:ahyp="http://schemas.microsoft.com/office/drawing/2018/hyperlinkcolor" val="tx"/>
                    </a:ext>
                  </a:extLst>
                </a:hlinkClick>
              </a:rPr>
              <a:t>EXPLAINABILITY</a:t>
            </a:r>
            <a:endParaRPr lang="en-US" sz="750" dirty="0"/>
          </a:p>
        </p:txBody>
      </p:sp>
      <p:sp>
        <p:nvSpPr>
          <p:cNvPr id="10" name="Shape 8"/>
          <p:cNvSpPr/>
          <p:nvPr/>
        </p:nvSpPr>
        <p:spPr>
          <a:xfrm>
            <a:off x="5481523" y="256032"/>
            <a:ext cx="1228649" cy="310896"/>
          </a:xfrm>
          <a:prstGeom prst="roundRect">
            <a:avLst>
              <a:gd name="adj" fmla="val 17647"/>
            </a:avLst>
          </a:prstGeom>
          <a:solidFill>
            <a:srgbClr val="13232F"/>
          </a:solidFill>
          <a:ln w="9525">
            <a:solidFill>
              <a:srgbClr val="1A3A50"/>
            </a:solidFill>
            <a:prstDash val="solid"/>
          </a:ln>
        </p:spPr>
      </p:sp>
      <p:sp>
        <p:nvSpPr>
          <p:cNvPr id="11" name="Text 9">
            <a:hlinkClick r:id="rId5" tooltip="" action="ppaction://hlinksldjump"/>
          </p:cNvPr>
          <p:cNvSpPr/>
          <p:nvPr/>
        </p:nvSpPr>
        <p:spPr>
          <a:xfrm>
            <a:off x="5481523"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5" action="ppaction://hlinksldjump" tooltip="">
                  <a:extLst>
                    <a:ext uri="{A12FA001-AC4F-418D-AE19-62706E023703}">
                      <ahyp:hlinkClr xmlns:ahyp="http://schemas.microsoft.com/office/drawing/2018/hyperlinkcolor" val="tx"/>
                    </a:ext>
                  </a:extLst>
                </a:hlinkClick>
              </a:rPr>
              <a:t>CASE GOVERNANCE</a:t>
            </a:r>
            <a:endParaRPr lang="en-US" sz="750" dirty="0"/>
          </a:p>
        </p:txBody>
      </p:sp>
      <p:sp>
        <p:nvSpPr>
          <p:cNvPr id="12" name="Shape 10"/>
          <p:cNvSpPr/>
          <p:nvPr/>
        </p:nvSpPr>
        <p:spPr>
          <a:xfrm>
            <a:off x="6783324" y="256032"/>
            <a:ext cx="1228649" cy="310896"/>
          </a:xfrm>
          <a:prstGeom prst="roundRect">
            <a:avLst>
              <a:gd name="adj" fmla="val 17647"/>
            </a:avLst>
          </a:prstGeom>
          <a:solidFill>
            <a:srgbClr val="13232F"/>
          </a:solidFill>
          <a:ln w="9525">
            <a:solidFill>
              <a:srgbClr val="1A3A50"/>
            </a:solidFill>
            <a:prstDash val="solid"/>
          </a:ln>
        </p:spPr>
      </p:sp>
      <p:sp>
        <p:nvSpPr>
          <p:cNvPr id="13" name="Text 11">
            <a:hlinkClick r:id="rId6" tooltip="" action="ppaction://hlinksldjump"/>
          </p:cNvPr>
          <p:cNvSpPr/>
          <p:nvPr/>
        </p:nvSpPr>
        <p:spPr>
          <a:xfrm>
            <a:off x="6783324"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6" action="ppaction://hlinksldjump" tooltip="">
                  <a:extLst>
                    <a:ext uri="{A12FA001-AC4F-418D-AE19-62706E023703}">
                      <ahyp:hlinkClr xmlns:ahyp="http://schemas.microsoft.com/office/drawing/2018/hyperlinkcolor" val="tx"/>
                    </a:ext>
                  </a:extLst>
                </a:hlinkClick>
              </a:rPr>
              <a:t>DELIVERY PKG</a:t>
            </a:r>
            <a:endParaRPr lang="en-US" sz="750" dirty="0"/>
          </a:p>
        </p:txBody>
      </p:sp>
      <p:sp>
        <p:nvSpPr>
          <p:cNvPr id="14" name="Shape 12"/>
          <p:cNvSpPr/>
          <p:nvPr/>
        </p:nvSpPr>
        <p:spPr>
          <a:xfrm>
            <a:off x="8085125" y="256032"/>
            <a:ext cx="1228649" cy="310896"/>
          </a:xfrm>
          <a:prstGeom prst="roundRect">
            <a:avLst>
              <a:gd name="adj" fmla="val 17647"/>
            </a:avLst>
          </a:prstGeom>
          <a:solidFill>
            <a:srgbClr val="13232F"/>
          </a:solidFill>
          <a:ln w="9525">
            <a:solidFill>
              <a:srgbClr val="1A3A50"/>
            </a:solidFill>
            <a:prstDash val="solid"/>
          </a:ln>
        </p:spPr>
      </p:sp>
      <p:sp>
        <p:nvSpPr>
          <p:cNvPr id="15" name="Text 13">
            <a:hlinkClick r:id="rId7" tooltip="" action="ppaction://hlinksldjump"/>
          </p:cNvPr>
          <p:cNvSpPr/>
          <p:nvPr/>
        </p:nvSpPr>
        <p:spPr>
          <a:xfrm>
            <a:off x="8085125"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7" action="ppaction://hlinksldjump" tooltip="">
                  <a:extLst>
                    <a:ext uri="{A12FA001-AC4F-418D-AE19-62706E023703}">
                      <ahyp:hlinkClr xmlns:ahyp="http://schemas.microsoft.com/office/drawing/2018/hyperlinkcolor" val="tx"/>
                    </a:ext>
                  </a:extLst>
                </a:hlinkClick>
              </a:rPr>
              <a:t>ONE PLATFORM</a:t>
            </a:r>
            <a:endParaRPr lang="en-US" sz="750" dirty="0"/>
          </a:p>
        </p:txBody>
      </p:sp>
      <p:sp>
        <p:nvSpPr>
          <p:cNvPr id="16" name="Shape 14"/>
          <p:cNvSpPr/>
          <p:nvPr/>
        </p:nvSpPr>
        <p:spPr>
          <a:xfrm>
            <a:off x="9386926" y="256032"/>
            <a:ext cx="1228649" cy="310896"/>
          </a:xfrm>
          <a:prstGeom prst="roundRect">
            <a:avLst>
              <a:gd name="adj" fmla="val 17647"/>
            </a:avLst>
          </a:prstGeom>
          <a:solidFill>
            <a:srgbClr val="13232F"/>
          </a:solidFill>
          <a:ln w="9525">
            <a:solidFill>
              <a:srgbClr val="1A3A50"/>
            </a:solidFill>
            <a:prstDash val="solid"/>
          </a:ln>
        </p:spPr>
      </p:sp>
      <p:sp>
        <p:nvSpPr>
          <p:cNvPr id="17" name="Text 15">
            <a:hlinkClick r:id="rId8" tooltip="" action="ppaction://hlinksldjump"/>
          </p:cNvPr>
          <p:cNvSpPr/>
          <p:nvPr/>
        </p:nvSpPr>
        <p:spPr>
          <a:xfrm>
            <a:off x="9386926" y="256032"/>
            <a:ext cx="1228649" cy="310896"/>
          </a:xfrm>
          <a:prstGeom prst="rect">
            <a:avLst/>
          </a:prstGeom>
          <a:noFill/>
          <a:ln/>
        </p:spPr>
        <p:txBody>
          <a:bodyPr wrap="square" lIns="0" tIns="0" rIns="0" bIns="0" rtlCol="0" anchor="ctr"/>
          <a:lstStyle/>
          <a:p>
            <a:pPr algn="ctr" indent="0" marL="0">
              <a:buNone/>
            </a:pPr>
            <a:r>
              <a:rPr lang="en-US" sz="750" u="sng" spc="50" kern="0" dirty="0">
                <a:solidFill>
                  <a:srgbClr val="7C93A3"/>
                </a:solidFill>
                <a:latin typeface="Consolas" pitchFamily="34" charset="0"/>
                <a:ea typeface="Consolas" pitchFamily="34" charset="-122"/>
                <a:cs typeface="Consolas" pitchFamily="34" charset="-120"/>
                <a:hlinkClick r:id="rId8" action="ppaction://hlinksldjump" tooltip="">
                  <a:extLst>
                    <a:ext uri="{A12FA001-AC4F-418D-AE19-62706E023703}">
                      <ahyp:hlinkClr xmlns:ahyp="http://schemas.microsoft.com/office/drawing/2018/hyperlinkcolor" val="tx"/>
                    </a:ext>
                  </a:extLst>
                </a:hlinkClick>
              </a:rPr>
              <a:t>LIVE DEMO</a:t>
            </a:r>
            <a:endParaRPr lang="en-US" sz="750" dirty="0"/>
          </a:p>
        </p:txBody>
      </p:sp>
      <p:sp>
        <p:nvSpPr>
          <p:cNvPr id="18" name="Shape 16"/>
          <p:cNvSpPr/>
          <p:nvPr/>
        </p:nvSpPr>
        <p:spPr>
          <a:xfrm>
            <a:off x="10688726" y="256032"/>
            <a:ext cx="1228649" cy="310896"/>
          </a:xfrm>
          <a:prstGeom prst="roundRect">
            <a:avLst>
              <a:gd name="adj" fmla="val 17647"/>
            </a:avLst>
          </a:prstGeom>
          <a:solidFill>
            <a:srgbClr val="5EFFC1"/>
          </a:solidFill>
          <a:ln w="9525">
            <a:solidFill>
              <a:srgbClr val="5EFFC1"/>
            </a:solidFill>
            <a:prstDash val="solid"/>
          </a:ln>
        </p:spPr>
      </p:sp>
      <p:sp>
        <p:nvSpPr>
          <p:cNvPr id="19" name="Text 17">
            <a:hlinkClick r:id="rId9" tooltip="" action="ppaction://hlinksldjump"/>
          </p:cNvPr>
          <p:cNvSpPr/>
          <p:nvPr/>
        </p:nvSpPr>
        <p:spPr>
          <a:xfrm>
            <a:off x="10688726" y="256032"/>
            <a:ext cx="1228649" cy="310896"/>
          </a:xfrm>
          <a:prstGeom prst="rect">
            <a:avLst/>
          </a:prstGeom>
          <a:noFill/>
          <a:ln/>
        </p:spPr>
        <p:txBody>
          <a:bodyPr wrap="square" lIns="0" tIns="0" rIns="0" bIns="0" rtlCol="0" anchor="ctr"/>
          <a:lstStyle/>
          <a:p>
            <a:pPr algn="ctr" indent="0" marL="0">
              <a:buNone/>
            </a:pPr>
            <a:r>
              <a:rPr lang="en-US" sz="750" b="1" u="sng" spc="50" kern="0" dirty="0">
                <a:solidFill>
                  <a:srgbClr val="07120D"/>
                </a:solidFill>
                <a:latin typeface="Consolas" pitchFamily="34" charset="0"/>
                <a:ea typeface="Consolas" pitchFamily="34" charset="-122"/>
                <a:cs typeface="Consolas" pitchFamily="34" charset="-120"/>
                <a:hlinkClick r:id="rId9" action="ppaction://hlinksldjump" tooltip="">
                  <a:extLst>
                    <a:ext uri="{A12FA001-AC4F-418D-AE19-62706E023703}">
                      <ahyp:hlinkClr xmlns:ahyp="http://schemas.microsoft.com/office/drawing/2018/hyperlinkcolor" val="tx"/>
                    </a:ext>
                  </a:extLst>
                </a:hlinkClick>
              </a:rPr>
              <a:t>THE ASK</a:t>
            </a:r>
            <a:endParaRPr lang="en-US" sz="750" dirty="0"/>
          </a:p>
        </p:txBody>
      </p:sp>
      <p:sp>
        <p:nvSpPr>
          <p:cNvPr id="20" name="Text 18"/>
          <p:cNvSpPr/>
          <p:nvPr/>
        </p:nvSpPr>
        <p:spPr>
          <a:xfrm>
            <a:off x="822960" y="1463040"/>
            <a:ext cx="7315200" cy="320040"/>
          </a:xfrm>
          <a:prstGeom prst="rect">
            <a:avLst/>
          </a:prstGeom>
          <a:noFill/>
          <a:ln/>
        </p:spPr>
        <p:txBody>
          <a:bodyPr wrap="square" lIns="0" tIns="0" rIns="0" bIns="0" rtlCol="0" anchor="ctr"/>
          <a:lstStyle/>
          <a:p>
            <a:pPr indent="0" marL="0">
              <a:buNone/>
            </a:pPr>
            <a:r>
              <a:rPr lang="en-US" sz="1200" b="1" spc="200" kern="0" dirty="0">
                <a:solidFill>
                  <a:srgbClr val="5EFFC1"/>
                </a:solidFill>
                <a:latin typeface="Consolas" pitchFamily="34" charset="0"/>
                <a:ea typeface="Consolas" pitchFamily="34" charset="-122"/>
                <a:cs typeface="Consolas" pitchFamily="34" charset="-120"/>
              </a:rPr>
              <a:t>THE ASK</a:t>
            </a:r>
            <a:endParaRPr lang="en-US" sz="1200" dirty="0"/>
          </a:p>
        </p:txBody>
      </p:sp>
      <p:sp>
        <p:nvSpPr>
          <p:cNvPr id="21" name="Text 19"/>
          <p:cNvSpPr/>
          <p:nvPr/>
        </p:nvSpPr>
        <p:spPr>
          <a:xfrm>
            <a:off x="822960" y="1810512"/>
            <a:ext cx="10058400" cy="1554480"/>
          </a:xfrm>
          <a:prstGeom prst="rect">
            <a:avLst/>
          </a:prstGeom>
          <a:noFill/>
          <a:ln/>
        </p:spPr>
        <p:txBody>
          <a:bodyPr wrap="square" lIns="0" tIns="0" rIns="0" bIns="0" rtlCol="0" anchor="ctr"/>
          <a:lstStyle/>
          <a:p>
            <a:pPr indent="0" marL="0">
              <a:lnSpc>
                <a:spcPct val="108000"/>
              </a:lnSpc>
              <a:buNone/>
            </a:pPr>
            <a:r>
              <a:rPr lang="en-US" sz="3400" b="1" dirty="0">
                <a:solidFill>
                  <a:srgbClr val="F2F6F8"/>
                </a:solidFill>
                <a:latin typeface="Arial" pitchFamily="34" charset="0"/>
                <a:ea typeface="Arial" pitchFamily="34" charset="-122"/>
                <a:cs typeface="Arial" pitchFamily="34" charset="-120"/>
              </a:rPr>
              <a:t>A 30-Day Pilot.</a:t>
            </a:r>
            <a:endParaRPr lang="en-US" sz="3400" dirty="0"/>
          </a:p>
          <a:p>
            <a:pPr indent="0" marL="0">
              <a:lnSpc>
                <a:spcPct val="108000"/>
              </a:lnSpc>
              <a:buNone/>
            </a:pPr>
            <a:r>
              <a:rPr lang="en-US" sz="3400" b="1" dirty="0">
                <a:solidFill>
                  <a:srgbClr val="F2F6F8"/>
                </a:solidFill>
                <a:latin typeface="Arial" pitchFamily="34" charset="0"/>
                <a:ea typeface="Arial" pitchFamily="34" charset="-122"/>
                <a:cs typeface="Arial" pitchFamily="34" charset="-120"/>
              </a:rPr>
              <a:t>No Procurement. No Swap.</a:t>
            </a:r>
            <a:endParaRPr lang="en-US" sz="3400" dirty="0"/>
          </a:p>
        </p:txBody>
      </p:sp>
      <p:sp>
        <p:nvSpPr>
          <p:cNvPr id="22" name="Shape 20"/>
          <p:cNvSpPr/>
          <p:nvPr/>
        </p:nvSpPr>
        <p:spPr>
          <a:xfrm>
            <a:off x="822960" y="3520440"/>
            <a:ext cx="3520440" cy="914400"/>
          </a:xfrm>
          <a:prstGeom prst="roundRect">
            <a:avLst>
              <a:gd name="adj" fmla="val 7000"/>
            </a:avLst>
          </a:prstGeom>
          <a:solidFill>
            <a:srgbClr val="0F1B26"/>
          </a:solidFill>
          <a:ln w="12700">
            <a:solidFill>
              <a:srgbClr val="1A3A50"/>
            </a:solidFill>
            <a:prstDash val="solid"/>
          </a:ln>
        </p:spPr>
      </p:sp>
      <p:sp>
        <p:nvSpPr>
          <p:cNvPr id="23" name="Text 21"/>
          <p:cNvSpPr/>
          <p:nvPr/>
        </p:nvSpPr>
        <p:spPr>
          <a:xfrm>
            <a:off x="1051560" y="3520440"/>
            <a:ext cx="3063240" cy="914400"/>
          </a:xfrm>
          <a:prstGeom prst="rect">
            <a:avLst/>
          </a:prstGeom>
          <a:noFill/>
          <a:ln/>
        </p:spPr>
        <p:txBody>
          <a:bodyPr wrap="square" lIns="0" tIns="0" rIns="0" bIns="0" rtlCol="0" anchor="ctr"/>
          <a:lstStyle/>
          <a:p>
            <a:pPr indent="0" marL="0">
              <a:lnSpc>
                <a:spcPct val="120000"/>
              </a:lnSpc>
              <a:buNone/>
            </a:pPr>
            <a:r>
              <a:rPr lang="en-US" sz="1200" dirty="0">
                <a:solidFill>
                  <a:srgbClr val="F2F6F8"/>
                </a:solidFill>
                <a:latin typeface="Arial" pitchFamily="34" charset="0"/>
                <a:ea typeface="Arial" pitchFamily="34" charset="-122"/>
                <a:cs typeface="Arial" pitchFamily="34" charset="-120"/>
              </a:rPr>
              <a:t>Escalation-to-approval time</a:t>
            </a:r>
            <a:endParaRPr lang="en-US" sz="1200" dirty="0"/>
          </a:p>
        </p:txBody>
      </p:sp>
      <p:sp>
        <p:nvSpPr>
          <p:cNvPr id="24" name="Shape 22"/>
          <p:cNvSpPr/>
          <p:nvPr/>
        </p:nvSpPr>
        <p:spPr>
          <a:xfrm>
            <a:off x="4526280" y="3520440"/>
            <a:ext cx="3520440" cy="914400"/>
          </a:xfrm>
          <a:prstGeom prst="roundRect">
            <a:avLst>
              <a:gd name="adj" fmla="val 7000"/>
            </a:avLst>
          </a:prstGeom>
          <a:solidFill>
            <a:srgbClr val="0F1B26"/>
          </a:solidFill>
          <a:ln w="12700">
            <a:solidFill>
              <a:srgbClr val="1A3A50"/>
            </a:solidFill>
            <a:prstDash val="solid"/>
          </a:ln>
        </p:spPr>
      </p:sp>
      <p:sp>
        <p:nvSpPr>
          <p:cNvPr id="25" name="Text 23"/>
          <p:cNvSpPr/>
          <p:nvPr/>
        </p:nvSpPr>
        <p:spPr>
          <a:xfrm>
            <a:off x="4754880" y="3520440"/>
            <a:ext cx="3063240" cy="914400"/>
          </a:xfrm>
          <a:prstGeom prst="rect">
            <a:avLst/>
          </a:prstGeom>
          <a:noFill/>
          <a:ln/>
        </p:spPr>
        <p:txBody>
          <a:bodyPr wrap="square" lIns="0" tIns="0" rIns="0" bIns="0" rtlCol="0" anchor="ctr"/>
          <a:lstStyle/>
          <a:p>
            <a:pPr indent="0" marL="0">
              <a:lnSpc>
                <a:spcPct val="120000"/>
              </a:lnSpc>
              <a:buNone/>
            </a:pPr>
            <a:r>
              <a:rPr lang="en-US" sz="1200" dirty="0">
                <a:solidFill>
                  <a:srgbClr val="F2F6F8"/>
                </a:solidFill>
                <a:latin typeface="Arial" pitchFamily="34" charset="0"/>
                <a:ea typeface="Arial" pitchFamily="34" charset="-122"/>
                <a:cs typeface="Arial" pitchFamily="34" charset="-120"/>
              </a:rPr>
              <a:t>Exception resolution rate</a:t>
            </a:r>
            <a:endParaRPr lang="en-US" sz="1200" dirty="0"/>
          </a:p>
        </p:txBody>
      </p:sp>
      <p:sp>
        <p:nvSpPr>
          <p:cNvPr id="26" name="Shape 24"/>
          <p:cNvSpPr/>
          <p:nvPr/>
        </p:nvSpPr>
        <p:spPr>
          <a:xfrm>
            <a:off x="8229600" y="3520440"/>
            <a:ext cx="3520440" cy="914400"/>
          </a:xfrm>
          <a:prstGeom prst="roundRect">
            <a:avLst>
              <a:gd name="adj" fmla="val 7000"/>
            </a:avLst>
          </a:prstGeom>
          <a:solidFill>
            <a:srgbClr val="0F1B26"/>
          </a:solidFill>
          <a:ln w="12700">
            <a:solidFill>
              <a:srgbClr val="1A3A50"/>
            </a:solidFill>
            <a:prstDash val="solid"/>
          </a:ln>
        </p:spPr>
      </p:sp>
      <p:sp>
        <p:nvSpPr>
          <p:cNvPr id="27" name="Text 25"/>
          <p:cNvSpPr/>
          <p:nvPr/>
        </p:nvSpPr>
        <p:spPr>
          <a:xfrm>
            <a:off x="8458200" y="3520440"/>
            <a:ext cx="3063240" cy="914400"/>
          </a:xfrm>
          <a:prstGeom prst="rect">
            <a:avLst/>
          </a:prstGeom>
          <a:noFill/>
          <a:ln/>
        </p:spPr>
        <p:txBody>
          <a:bodyPr wrap="square" lIns="0" tIns="0" rIns="0" bIns="0" rtlCol="0" anchor="ctr"/>
          <a:lstStyle/>
          <a:p>
            <a:pPr indent="0" marL="0">
              <a:lnSpc>
                <a:spcPct val="120000"/>
              </a:lnSpc>
              <a:buNone/>
            </a:pPr>
            <a:r>
              <a:rPr lang="en-US" sz="1200" dirty="0">
                <a:solidFill>
                  <a:srgbClr val="F2F6F8"/>
                </a:solidFill>
                <a:latin typeface="Arial" pitchFamily="34" charset="0"/>
                <a:ea typeface="Arial" pitchFamily="34" charset="-122"/>
                <a:cs typeface="Arial" pitchFamily="34" charset="-120"/>
              </a:rPr>
              <a:t>Client report turnaround time</a:t>
            </a:r>
            <a:endParaRPr lang="en-US" sz="1200" dirty="0"/>
          </a:p>
        </p:txBody>
      </p:sp>
      <p:sp>
        <p:nvSpPr>
          <p:cNvPr id="28" name="Text 26"/>
          <p:cNvSpPr/>
          <p:nvPr/>
        </p:nvSpPr>
        <p:spPr>
          <a:xfrm>
            <a:off x="822960" y="4709160"/>
            <a:ext cx="9601200" cy="457200"/>
          </a:xfrm>
          <a:prstGeom prst="rect">
            <a:avLst/>
          </a:prstGeom>
          <a:noFill/>
          <a:ln/>
        </p:spPr>
        <p:txBody>
          <a:bodyPr wrap="square" lIns="0" tIns="0" rIns="0" bIns="0" rtlCol="0" anchor="ctr"/>
          <a:lstStyle/>
          <a:p>
            <a:pPr indent="0" marL="0">
              <a:buNone/>
            </a:pPr>
            <a:r>
              <a:rPr lang="en-US" sz="1300" i="1" dirty="0">
                <a:solidFill>
                  <a:srgbClr val="7C93A3"/>
                </a:solidFill>
                <a:latin typeface="Arial" pitchFamily="34" charset="0"/>
                <a:ea typeface="Arial" pitchFamily="34" charset="-122"/>
                <a:cs typeface="Arial" pitchFamily="34" charset="-120"/>
              </a:rPr>
              <a:t>Measured on the numbers your team already tracks. If it doesn't move them, it costs nothing to walk away from.</a:t>
            </a:r>
            <a:endParaRPr lang="en-US" sz="1300" dirty="0"/>
          </a:p>
        </p:txBody>
      </p:sp>
      <p:sp>
        <p:nvSpPr>
          <p:cNvPr id="29" name="Shape 27"/>
          <p:cNvSpPr/>
          <p:nvPr/>
        </p:nvSpPr>
        <p:spPr>
          <a:xfrm>
            <a:off x="822960" y="5486400"/>
            <a:ext cx="4023360" cy="0"/>
          </a:xfrm>
          <a:prstGeom prst="line">
            <a:avLst/>
          </a:prstGeom>
          <a:noFill/>
          <a:ln w="12700">
            <a:solidFill>
              <a:srgbClr val="1A3A50"/>
            </a:solidFill>
            <a:prstDash val="solid"/>
          </a:ln>
        </p:spPr>
      </p:sp>
      <p:sp>
        <p:nvSpPr>
          <p:cNvPr id="30" name="Text 28"/>
          <p:cNvSpPr/>
          <p:nvPr/>
        </p:nvSpPr>
        <p:spPr>
          <a:xfrm>
            <a:off x="822960" y="5623560"/>
            <a:ext cx="4572000" cy="292608"/>
          </a:xfrm>
          <a:prstGeom prst="rect">
            <a:avLst/>
          </a:prstGeom>
          <a:noFill/>
          <a:ln/>
        </p:spPr>
        <p:txBody>
          <a:bodyPr wrap="square" lIns="0" tIns="0" rIns="0" bIns="0" rtlCol="0" anchor="ctr"/>
          <a:lstStyle/>
          <a:p>
            <a:pPr indent="0" marL="0">
              <a:buNone/>
            </a:pPr>
            <a:r>
              <a:rPr lang="en-US" sz="1100" b="1" spc="100" kern="0" dirty="0">
                <a:solidFill>
                  <a:srgbClr val="F2F6F8"/>
                </a:solidFill>
                <a:latin typeface="Consolas" pitchFamily="34" charset="0"/>
                <a:ea typeface="Consolas" pitchFamily="34" charset="-122"/>
                <a:cs typeface="Consolas" pitchFamily="34" charset="-120"/>
              </a:rPr>
              <a:t>TSM CONSULTZ</a:t>
            </a:r>
            <a:endParaRPr lang="en-US" sz="1100" dirty="0"/>
          </a:p>
        </p:txBody>
      </p:sp>
      <p:sp>
        <p:nvSpPr>
          <p:cNvPr id="31" name="Text 29"/>
          <p:cNvSpPr/>
          <p:nvPr/>
        </p:nvSpPr>
        <p:spPr>
          <a:xfrm>
            <a:off x="822960" y="5925312"/>
            <a:ext cx="6400800" cy="292608"/>
          </a:xfrm>
          <a:prstGeom prst="rect">
            <a:avLst/>
          </a:prstGeom>
          <a:noFill/>
          <a:ln/>
        </p:spPr>
        <p:txBody>
          <a:bodyPr wrap="square" lIns="0" tIns="0" rIns="0" bIns="0" rtlCol="0" anchor="ctr"/>
          <a:lstStyle/>
          <a:p>
            <a:pPr indent="0" marL="0">
              <a:buNone/>
            </a:pPr>
            <a:r>
              <a:rPr lang="en-US" sz="1000" dirty="0">
                <a:solidFill>
                  <a:srgbClr val="7C93A3"/>
                </a:solidFill>
                <a:latin typeface="Consolas" pitchFamily="34" charset="0"/>
                <a:ea typeface="Consolas" pitchFamily="34" charset="-122"/>
                <a:cs typeface="Consolas" pitchFamily="34" charset="-120"/>
              </a:rPr>
              <a:t>latorrey@tsmconsultz.com   ·   tsm-consultz.fly.dev</a:t>
            </a:r>
            <a:endParaRPr lang="en-US" sz="1000" dirty="0"/>
          </a:p>
        </p:txBody>
      </p:sp>
      <p:sp>
        <p:nvSpPr>
          <p:cNvPr id="32" name="Text 30"/>
          <p:cNvSpPr/>
          <p:nvPr/>
        </p:nvSpPr>
        <p:spPr>
          <a:xfrm>
            <a:off x="548640" y="6528816"/>
            <a:ext cx="4572000" cy="256032"/>
          </a:xfrm>
          <a:prstGeom prst="rect">
            <a:avLst/>
          </a:prstGeom>
          <a:noFill/>
          <a:ln/>
        </p:spPr>
        <p:txBody>
          <a:bodyPr wrap="square" lIns="0" tIns="0" rIns="0" bIns="0" rtlCol="0" anchor="ctr"/>
          <a:lstStyle/>
          <a:p>
            <a:pPr indent="0" marL="0">
              <a:buNone/>
            </a:pPr>
            <a:r>
              <a:rPr lang="en-US" sz="800" spc="100" kern="0" dirty="0">
                <a:solidFill>
                  <a:srgbClr val="4A6072"/>
                </a:solidFill>
                <a:latin typeface="Consolas" pitchFamily="34" charset="0"/>
                <a:ea typeface="Consolas" pitchFamily="34" charset="-122"/>
                <a:cs typeface="Consolas" pitchFamily="34" charset="-120"/>
              </a:rPr>
              <a:t>TSM BPO EXECUTIVE PORTAL</a:t>
            </a:r>
            <a:endParaRPr lang="en-US" sz="800" dirty="0"/>
          </a:p>
        </p:txBody>
      </p:sp>
      <p:sp>
        <p:nvSpPr>
          <p:cNvPr id="33" name="Text 31"/>
          <p:cNvSpPr/>
          <p:nvPr/>
        </p:nvSpPr>
        <p:spPr>
          <a:xfrm>
            <a:off x="11185855" y="6528816"/>
            <a:ext cx="457200" cy="256032"/>
          </a:xfrm>
          <a:prstGeom prst="rect">
            <a:avLst/>
          </a:prstGeom>
          <a:noFill/>
          <a:ln/>
        </p:spPr>
        <p:txBody>
          <a:bodyPr wrap="square" lIns="0" tIns="0" rIns="0" bIns="0" rtlCol="0" anchor="ctr"/>
          <a:lstStyle/>
          <a:p>
            <a:pPr algn="r" indent="0" marL="0">
              <a:buNone/>
            </a:pPr>
            <a:r>
              <a:rPr lang="en-US" sz="800" dirty="0">
                <a:solidFill>
                  <a:srgbClr val="4A6072"/>
                </a:solidFill>
                <a:latin typeface="Consolas" pitchFamily="34" charset="0"/>
                <a:ea typeface="Consolas" pitchFamily="34" charset="-122"/>
                <a:cs typeface="Consolas" pitchFamily="34" charset="-120"/>
              </a:rPr>
              <a:t>11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2026-08-21T19:44:49Z</dcterms:created>
  <dcterms:modified xsi:type="dcterms:W3CDTF">2026-08-21T19:44:49Z</dcterms:modified>
</cp:coreProperties>
</file>