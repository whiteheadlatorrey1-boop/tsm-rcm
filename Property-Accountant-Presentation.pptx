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ACCOUNTANT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Stewardship for Real Estate &amp; Construction Portfolios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463040" cy="0"/>
          </a:xfrm>
          <a:prstGeom prst="line">
            <a:avLst/>
          </a:prstGeom>
          <a:noFill/>
          <a:ln w="31750">
            <a:solidFill>
              <a:srgbClr val="B08D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Overview  |  Latorrey Whitehead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Solutions Architect, TSM Consultz LLC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Monday's Teams Meeting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MY BACKGROUND MEETS THIS ROLE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Duties, One Discipline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562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Reporting &amp; GL Integrity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22199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Timely, accurate general ledger and tax data for every assigned property.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6002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080760" y="18562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17647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Month-End Close &amp; Reconciliation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12280" y="222199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and P&amp;L reconciliation, journal entry review, GL account tie-outs.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4107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319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/ AR &amp; Revenue Recognition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7764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Payables approval, receivables review, and revenue posted through the billing cycle.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31546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0760" y="34107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12280" y="3319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Escrow, Mortgage &amp; Draw Administration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12280" y="37764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tax/insurance verification, monthly mortgage processing, draw agreements.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9651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9651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8737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Budgeting &amp; Forecasting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33095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preparation, variance analysis, and forward-looking financial forecasts.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0" y="47091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080760" y="49651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49651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12280" y="48737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Audit Support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12280" y="533095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adherence, annual client audits, and clear client-facing explanations.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6 — Role Alignment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— Property Accountant Candidate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Month-End Close &amp; GL Reconciliation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both cash and accrual principles as each property requires, a disciplined close keeps every ledger correct, current, and defensible — the foundation for everything downstream.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343150" cy="3017520"/>
          </a:xfrm>
          <a:prstGeom prst="roundRect">
            <a:avLst>
              <a:gd name="adj" fmla="val 312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308735" y="2651760"/>
            <a:ext cx="640080" cy="64008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1308735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188595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review journal entries across the general ledger for each assigned property.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27782" y="3749040"/>
            <a:ext cx="274320" cy="182880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1" name="Shape 9"/>
          <p:cNvSpPr/>
          <p:nvPr/>
        </p:nvSpPr>
        <p:spPr>
          <a:xfrm>
            <a:off x="3120390" y="2331720"/>
            <a:ext cx="2343150" cy="3017520"/>
          </a:xfrm>
          <a:prstGeom prst="roundRect">
            <a:avLst>
              <a:gd name="adj" fmla="val 312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971925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971925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48990" y="347472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48990" y="3886200"/>
            <a:ext cx="188595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out balance sheets and profit &amp; loss statements; resolve GL account variances.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90972" y="3749040"/>
            <a:ext cx="274320" cy="182880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7" name="Shape 15"/>
          <p:cNvSpPr/>
          <p:nvPr/>
        </p:nvSpPr>
        <p:spPr>
          <a:xfrm>
            <a:off x="5783580" y="2331720"/>
            <a:ext cx="2343150" cy="3017520"/>
          </a:xfrm>
          <a:prstGeom prst="roundRect">
            <a:avLst>
              <a:gd name="adj" fmla="val 3122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635115" y="2651760"/>
            <a:ext cx="640080" cy="64008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9" name="Text 17"/>
          <p:cNvSpPr/>
          <p:nvPr/>
        </p:nvSpPr>
        <p:spPr>
          <a:xfrm>
            <a:off x="6635115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12180" y="347472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12180" y="3886200"/>
            <a:ext cx="188595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taxes, escrow, and other financial data are correct and current.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54162" y="3749040"/>
            <a:ext cx="274320" cy="182880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23" name="Shape 21"/>
          <p:cNvSpPr/>
          <p:nvPr/>
        </p:nvSpPr>
        <p:spPr>
          <a:xfrm>
            <a:off x="8446770" y="2331720"/>
            <a:ext cx="2343150" cy="3017520"/>
          </a:xfrm>
          <a:prstGeom prst="roundRect">
            <a:avLst>
              <a:gd name="adj" fmla="val 3122"/>
            </a:avLst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298305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298305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75370" y="347472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75370" y="3886200"/>
            <a:ext cx="188595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the close and deliver timely, accurate financial reporting to stakeholders.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6 — Close Discipline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— Property Accountant Candidate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/ AR &amp; the Revenue Cycle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payables and receivables means understanding the full billing cycle, not just the transaction in front of you — the AIA pay-application flow below is the version I've engineered end-to-end in a live system.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41A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963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Pay Application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Cost-code and bill the period against the schedule of values.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81528" y="3781044"/>
            <a:ext cx="237744" cy="164592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233172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41A47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4963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0440" y="32004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/ Architect Certification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0440" y="40233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for approval; retainage is calculated and held automatically.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61888" y="3781044"/>
            <a:ext cx="237744" cy="164592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233172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41A4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4963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0" y="32004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&amp; Post to AR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40233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billings become formal invoices; AR ledger opens, revenue is recognized.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42248" y="3781044"/>
            <a:ext cx="237744" cy="164592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20" name="Shape 18"/>
          <p:cNvSpPr/>
          <p:nvPr/>
        </p:nvSpPr>
        <p:spPr>
          <a:xfrm>
            <a:off x="9098280" y="233172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41A47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4963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81160" y="32004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&amp; Retainage Release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81160" y="40233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is tracked to cash settlement; retainage releases at completion.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6 — Revenue Cycle Fluency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— Property Accountant Candidate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Escrow, Mortgage &amp; Draw Administration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layer of property accounting that touches lenders and owners directly — accuracy and timing both matter.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6675120" cy="896112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505456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23774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Verification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98448" y="269748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property tax and insurance escrow balances are funded and current before deadlines hit.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319272"/>
            <a:ext cx="6675120" cy="896112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3538728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98448" y="341071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Mortgage Processing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98448" y="3730752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clients' monthly mortgage payments and owner distributions on schedule.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352544"/>
            <a:ext cx="6675120" cy="896112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4572000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8448" y="4443984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&amp; Management Agreements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98448" y="4764024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working knowledge of draw agreements and management-agreement terms.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385816"/>
            <a:ext cx="6675120" cy="896112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5605272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5605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47725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Payables &amp; Deposits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98448" y="5797296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payables, deposits, and AR transactions against those terms.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52360" y="2286000"/>
            <a:ext cx="4279392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2487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WATCH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26680" y="2834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a live close I engineered: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26680" y="3291840"/>
            <a:ext cx="3749040" cy="1051560"/>
          </a:xfrm>
          <a:prstGeom prst="roundRect">
            <a:avLst>
              <a:gd name="adj" fmla="val 5217"/>
            </a:avLst>
          </a:prstGeom>
          <a:solidFill>
            <a:srgbClr val="141A47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3401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DUE SOON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09560" y="3657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 escrow deadline approaching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26680" y="45262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this before it becomes a P1 is the job.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6 — Lender &amp; Owner Accuracy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— Property Accountant Candidate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Budgeting, Forecasting &amp; Variance Analysis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variance from a property close dashboard I built — the kind of number a Property Accountant needs to spot, quantify, and explain to a client.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4203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$482,000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228600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254203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$517,400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023360" y="3429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228600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254203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+7.3%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589520" y="3429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(Adverse)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107442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434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TRANSLATES TO THE ROLE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10195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in budget preparation and forecasting with figures owners and lenders can rely on.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balance sheet items directly with clients — plain-language explanations, not just a number.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operations with AP process questions as they come up during the cycle.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adverse trends early enough to act on them during the close, not after.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6 — Variance to Narrative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— Property Accountant Candidate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Management &amp; Audit Readiness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priority-ranked exception queue — one property's open items, triaged the way I'd walk a client or auditor through them.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577840"/>
                <a:gridCol w="2834640"/>
                <a:gridCol w="1828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 out of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/ 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vendor invoice detected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Payable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8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variance requires explanation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8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tax escrow deadline approaching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SOON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8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certificate missing / expired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Retainage release pending owner sign-off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 applies to annual client audits — every figure is traceable back to its source.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of 6 — Triage Discipline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— Property Accountant Candidate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&amp; Technology Proficiency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 PLATFORMS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65760" cy="36576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304288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Yardi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2953512"/>
            <a:ext cx="365760" cy="36576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92608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AppFolio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3575304"/>
            <a:ext cx="365760" cy="36576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54787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Entrata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197096"/>
            <a:ext cx="365760" cy="36576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97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169664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CYMA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4818888"/>
            <a:ext cx="365760" cy="36576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818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791456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Suite (Excel-forward)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852160" y="1600200"/>
            <a:ext cx="58521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I'VE ENGINEERED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331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Revenue-cycle dashboards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72200" y="266090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budget-vs-actual KPIs, AIA billing steps, and retainage tracking.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2200" y="32644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queues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172200" y="35935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Priority-ranked P1/P2/P3 triage feeding executive-level reporting.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419709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Close-analysis automation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172200" y="4526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synthesis of variance, AP, and escrow status into a close brief.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51297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Cross-system data relays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172200" y="54589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Property-level close data flowing into a shared executive reporting layer.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of the same discipline: platform fluency and system design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— Property Accountant Candidate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Property Close Dashboard I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Desert Ridge Commercial Center, July 2026 close. Illustrates how I structure the exact information this role is responsible for.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ACCOUNTING — REVENUE CYCLE     •     Status: EXCEPTIONS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328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$482,000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0815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2423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25328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$517,400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56432" y="30815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7064" y="2423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25328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27064" y="30815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97696" y="2423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8997696" y="25328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$24,100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97696" y="30815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Retainage Held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CYCLE PROGRESS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114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Pay App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56432" y="4114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456432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Certification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27064" y="4114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CE2F5"/>
          </a:solidFill>
          <a:ln/>
        </p:spPr>
      </p:sp>
      <p:sp>
        <p:nvSpPr>
          <p:cNvPr id="26" name="Text 24"/>
          <p:cNvSpPr/>
          <p:nvPr/>
        </p:nvSpPr>
        <p:spPr>
          <a:xfrm>
            <a:off x="6227064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 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97696" y="4114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CE2F5"/>
          </a:solidFill>
          <a:ln/>
        </p:spPr>
      </p:sp>
      <p:sp>
        <p:nvSpPr>
          <p:cNvPr id="28" name="Text 26"/>
          <p:cNvSpPr/>
          <p:nvPr/>
        </p:nvSpPr>
        <p:spPr>
          <a:xfrm>
            <a:off x="8997696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Retainage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8280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QUEUE (7 open)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" y="516636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B23A48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1663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25880" y="51480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out of balance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5800" y="550468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B23A48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5046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325880" y="54864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vendor invoice detected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5800" y="584301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B08D57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8430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25880" y="582472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certificate missing / expired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01000" y="4828032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183880" y="4965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CLOSE ANALYSIS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83880" y="52852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synthesizes variance, AP, and escrow status into a client-ready brief.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system design applied to real accounting workflows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— Property Accountant Candidate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A FIT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Books. Clear Communication.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That Scale.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discipline: reconciled ledgers, resolved variances, on-time reporting.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revenue-cycle fluency, from draft pay application through retainage release.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with escrow, mortgage, and draw administration under real deadlines.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just use accounting systems — I design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743200" cy="0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Latorrey Whitehead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torreyw94@tsmatter.com   |   latorreyw99@gmail.com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any of this live.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2026-08-07T23:02:49Z</dcterms:created>
  <dcterms:modified xsi:type="dcterms:W3CDTF">2026-08-07T23:02:49Z</dcterms:modified>
</cp:coreProperties>
</file>