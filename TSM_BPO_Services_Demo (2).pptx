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3DDC84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2860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BPO Services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supplier crisis in the inbox to an executive-ready decision —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live, end to end.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89204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121A2E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892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423160" y="48920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489204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121A2E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4892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34840" y="48920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54880" y="489204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121A2E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4892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Strategize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48920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66560" y="489204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121A2E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4892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58200" y="48920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78240" y="489204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121A2E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4892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152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platform walkthrough  ·  Synthetic demonstration scenario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Ops-critical events don’t wait for a triage meeting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57600" cy="3931920"/>
          </a:xfrm>
          <a:prstGeom prst="roundRect">
            <a:avLst>
              <a:gd name="adj" fmla="val 3000"/>
            </a:avLst>
          </a:prstGeom>
          <a:solidFill>
            <a:srgbClr val="121A2E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31720"/>
            <a:ext cx="777240" cy="777240"/>
          </a:xfrm>
          <a:prstGeom prst="ellipse">
            <a:avLst/>
          </a:prstGeom>
          <a:solidFill>
            <a:srgbClr val="182238"/>
          </a:solidFill>
          <a:ln w="15875">
            <a:solidFill>
              <a:srgbClr val="FF5470"/>
            </a:solidFill>
            <a:prstDash val="solid"/>
          </a:ln>
        </p:spPr>
      </p:sp>
      <p:pic>
        <p:nvPicPr>
          <p:cNvPr id="6" name="Image 0" descr="/home/claude/bpo-deck/icon_alerttriang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5146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337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signal arrives buried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40233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supplier notice, a denial letter, a change order — critical exposure sits inside plain text, PDFs, and email threads until someone reads it closely enough to notice.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26280" y="1965960"/>
            <a:ext cx="3657600" cy="3931920"/>
          </a:xfrm>
          <a:prstGeom prst="roundRect">
            <a:avLst>
              <a:gd name="adj" fmla="val 3000"/>
            </a:avLst>
          </a:prstGeom>
          <a:solidFill>
            <a:srgbClr val="121A2E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2331720"/>
            <a:ext cx="777240" cy="777240"/>
          </a:xfrm>
          <a:prstGeom prst="ellipse">
            <a:avLst/>
          </a:prstGeom>
          <a:solidFill>
            <a:srgbClr val="182238"/>
          </a:solidFill>
          <a:ln w="15875">
            <a:solidFill>
              <a:srgbClr val="F5A623"/>
            </a:solidFill>
            <a:prstDash val="solid"/>
          </a:ln>
        </p:spPr>
      </p:sp>
      <p:pic>
        <p:nvPicPr>
          <p:cNvPr id="11" name="Image 1" descr="/home/claude/bpo-deck/icon_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5146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3337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hour of delay compounds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846320" y="40233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lines, client SLAs, and revenue commitments keep running while the document waits in a queue for a human to triage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503920" y="1965960"/>
            <a:ext cx="3657600" cy="3931920"/>
          </a:xfrm>
          <a:prstGeom prst="roundRect">
            <a:avLst>
              <a:gd name="adj" fmla="val 3000"/>
            </a:avLst>
          </a:prstGeom>
          <a:solidFill>
            <a:srgbClr val="121A2E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823960" y="2331720"/>
            <a:ext cx="777240" cy="777240"/>
          </a:xfrm>
          <a:prstGeom prst="ellipse">
            <a:avLst/>
          </a:prstGeom>
          <a:solidFill>
            <a:srgbClr val="182238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6" name="Image 2" descr="/home/claude/bpo-deck/icon_ey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25146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23960" y="3337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get made without a trail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823960" y="40233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calls and hallway decisions leave no evidence chain — nothing an executive, auditor, or client can point to after the fact.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was never built for this volume or this speed.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503920" y="6528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· BPO Services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TSM ANSWER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from raw document to tracked mission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468880"/>
            <a:ext cx="1874520" cy="2148840"/>
          </a:xfrm>
          <a:prstGeom prst="roundRect">
            <a:avLst>
              <a:gd name="adj" fmla="val 4878"/>
            </a:avLst>
          </a:prstGeom>
          <a:solidFill>
            <a:srgbClr val="121A2E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9012" y="2788920"/>
            <a:ext cx="768096" cy="768096"/>
          </a:xfrm>
          <a:prstGeom prst="ellipse">
            <a:avLst/>
          </a:prstGeom>
          <a:solidFill>
            <a:srgbClr val="182238"/>
          </a:solidFill>
          <a:ln w="15875">
            <a:solidFill>
              <a:srgbClr val="3DDC84"/>
            </a:solidFill>
            <a:prstDash val="solid"/>
          </a:ln>
        </p:spPr>
      </p:sp>
      <p:pic>
        <p:nvPicPr>
          <p:cNvPr id="6" name="Image 0" descr="/home/claude/bpo-deck/icon_filetext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604" y="295351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7033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560320" y="2468880"/>
            <a:ext cx="3840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944368" y="2468880"/>
            <a:ext cx="1874520" cy="2148840"/>
          </a:xfrm>
          <a:prstGeom prst="roundRect">
            <a:avLst>
              <a:gd name="adj" fmla="val 4878"/>
            </a:avLst>
          </a:prstGeom>
          <a:solidFill>
            <a:srgbClr val="121A2E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97580" y="2788920"/>
            <a:ext cx="768096" cy="768096"/>
          </a:xfrm>
          <a:prstGeom prst="ellipse">
            <a:avLst/>
          </a:prstGeom>
          <a:solidFill>
            <a:srgbClr val="182238"/>
          </a:solidFill>
          <a:ln w="15875">
            <a:solidFill>
              <a:srgbClr val="3DDC84"/>
            </a:solidFill>
            <a:prstDash val="solid"/>
          </a:ln>
        </p:spPr>
      </p:sp>
      <p:pic>
        <p:nvPicPr>
          <p:cNvPr id="11" name="Image 1" descr="/home/claude/bpo-deck/icon_zap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172" y="2953512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35808" y="37033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Evidence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18888" y="2468880"/>
            <a:ext cx="3840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202936" y="2468880"/>
            <a:ext cx="1874520" cy="2148840"/>
          </a:xfrm>
          <a:prstGeom prst="roundRect">
            <a:avLst>
              <a:gd name="adj" fmla="val 4878"/>
            </a:avLst>
          </a:prstGeom>
          <a:solidFill>
            <a:srgbClr val="121A2E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56148" y="2788920"/>
            <a:ext cx="768096" cy="768096"/>
          </a:xfrm>
          <a:prstGeom prst="ellipse">
            <a:avLst/>
          </a:prstGeom>
          <a:solidFill>
            <a:srgbClr val="182238"/>
          </a:solidFill>
          <a:ln w="15875">
            <a:solidFill>
              <a:srgbClr val="3DDC84"/>
            </a:solidFill>
            <a:prstDash val="solid"/>
          </a:ln>
        </p:spPr>
      </p:sp>
      <p:pic>
        <p:nvPicPr>
          <p:cNvPr id="16" name="Image 2" descr="/home/claude/bpo-deck/icon_trendingup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2953512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94376" y="37033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077456" y="2468880"/>
            <a:ext cx="3840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7461504" y="2468880"/>
            <a:ext cx="1874520" cy="2148840"/>
          </a:xfrm>
          <a:prstGeom prst="roundRect">
            <a:avLst>
              <a:gd name="adj" fmla="val 4878"/>
            </a:avLst>
          </a:prstGeom>
          <a:solidFill>
            <a:srgbClr val="121A2E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14716" y="2788920"/>
            <a:ext cx="768096" cy="768096"/>
          </a:xfrm>
          <a:prstGeom prst="ellipse">
            <a:avLst/>
          </a:prstGeom>
          <a:solidFill>
            <a:srgbClr val="182238"/>
          </a:solidFill>
          <a:ln w="15875">
            <a:solidFill>
              <a:srgbClr val="3DDC84"/>
            </a:solidFill>
            <a:prstDash val="solid"/>
          </a:ln>
        </p:spPr>
      </p:sp>
      <p:pic>
        <p:nvPicPr>
          <p:cNvPr id="21" name="Image 3" descr="/home/claude/bpo-deck/icon_checkcircle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308" y="2953512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52944" y="37033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336024" y="2468880"/>
            <a:ext cx="3840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9720072" y="2468880"/>
            <a:ext cx="1874520" cy="2148840"/>
          </a:xfrm>
          <a:prstGeom prst="roundRect">
            <a:avLst>
              <a:gd name="adj" fmla="val 4878"/>
            </a:avLst>
          </a:prstGeom>
          <a:solidFill>
            <a:srgbClr val="121A2E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273284" y="2788920"/>
            <a:ext cx="768096" cy="768096"/>
          </a:xfrm>
          <a:prstGeom prst="ellipse">
            <a:avLst/>
          </a:prstGeom>
          <a:solidFill>
            <a:srgbClr val="182238"/>
          </a:solidFill>
          <a:ln w="15875">
            <a:solidFill>
              <a:srgbClr val="3DDC84"/>
            </a:solidFill>
            <a:prstDash val="solid"/>
          </a:ln>
        </p:spPr>
      </p:sp>
      <p:pic>
        <p:nvPicPr>
          <p:cNvPr id="26" name="Image 4" descr="/home/claude/bpo-deck/icon_activity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7876" y="2953512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11512" y="37033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writes to the same evidence chain — nothing is re-typed, nothing is lost in a handoff.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used across every TSM vertical — BPO Services is shown next, live.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8503920" y="6528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· BPO Services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lands in the BPO Recovery Desk this morning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21A2E"/>
          </a:solidFill>
          <a:ln w="15875">
            <a:solidFill>
              <a:srgbClr val="FF54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933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SHUTDOWN NOTICE — 08:17 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“GlobalParts Inc is filing Chapter 11 bankruptcy effective immediately. All open purchase orders totaling $2.3M are frozen. Production lines A, B, and C will be impacted within 6 days of inventory depletion. 17 customer commitments are at risk totaling $8.2M in contracted revenue.”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182238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840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5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$2.3M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365760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182238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3840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926080" y="4526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lines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0" y="365760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182238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3840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212080" y="4526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commitments at risk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0" y="365760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182238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3840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5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$8.2M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498080" y="4526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revenue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92640" y="365760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182238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0" y="3840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days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784080" y="4526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before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depletes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demonstration scenario — not a real customer, supplier, or transaction.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03920" y="6528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· BPO Services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 FACTOR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reads the document before anyone opens a spreadsheet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03520" cy="4160520"/>
          </a:xfrm>
          <a:prstGeom prst="roundRect">
            <a:avLst>
              <a:gd name="adj" fmla="val 2198"/>
            </a:avLst>
          </a:prstGeom>
          <a:solidFill>
            <a:srgbClr val="121A2E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PANEL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Document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60520" y="25603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60520" y="2560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Classification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60520" y="30632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30632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35204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Signals Detected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60520" y="356616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35661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" y="4023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Engine Relay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60520" y="40690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4069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 Pre-computation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60520" y="45720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12700">
            <a:solidFill>
              <a:srgbClr val="8B96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45720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" y="51663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Sector, document type, and risk signals are classified automatically — the same evidence trail an auditor sees later starts building the second the document lands.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26480" y="1874520"/>
            <a:ext cx="5486400" cy="4160520"/>
          </a:xfrm>
          <a:prstGeom prst="roundRect">
            <a:avLst>
              <a:gd name="adj" fmla="val 2198"/>
            </a:avLst>
          </a:prstGeom>
          <a:solidFill>
            <a:srgbClr val="121A2E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057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18120" y="2606040"/>
            <a:ext cx="1920240" cy="1920240"/>
          </a:xfrm>
          <a:prstGeom prst="ellipse">
            <a:avLst/>
          </a:prstGeom>
          <a:solidFill>
            <a:srgbClr val="182238"/>
          </a:solidFill>
          <a:ln w="38100">
            <a:solidFill>
              <a:srgbClr val="3DDC8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18120" y="30632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D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400800" y="47091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automatically from extraction completeness and evidence strength — not a manual guess entered by whoever triaged it fastest.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0" y="5669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spreadsheet. No manual re-typing. The extraction engine fires the moment the document is loaded.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Wow: zero manual data entry between "document arrives" and "case is structured."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0" y="6528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· BPO Services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 FACTOR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fully-costed response options — not just one AI guess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57600" cy="4297680"/>
          </a:xfrm>
          <a:prstGeom prst="roundRect">
            <a:avLst>
              <a:gd name="adj" fmla="val 2500"/>
            </a:avLst>
          </a:prstGeom>
          <a:solidFill>
            <a:srgbClr val="121A2E"/>
          </a:solidFill>
          <a:ln w="22225">
            <a:solidFill>
              <a:srgbClr val="3DDC8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88920" y="2011680"/>
            <a:ext cx="1234440" cy="320040"/>
          </a:xfrm>
          <a:prstGeom prst="roundRect">
            <a:avLst>
              <a:gd name="adj" fmla="val 48571"/>
            </a:avLst>
          </a:prstGeom>
          <a:solidFill>
            <a:srgbClr val="3DDC84"/>
          </a:solidFill>
          <a:ln/>
        </p:spPr>
      </p:sp>
      <p:sp>
        <p:nvSpPr>
          <p:cNvPr id="6" name="Text 4"/>
          <p:cNvSpPr/>
          <p:nvPr/>
        </p:nvSpPr>
        <p:spPr>
          <a:xfrm>
            <a:off x="2788920" y="20116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 — Activate Contingency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backup supplier, divert production, expedite inventory.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37744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4165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time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377440" y="44165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8554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risk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77440" y="48554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2943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held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377440" y="52943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43400" y="1874520"/>
            <a:ext cx="3657600" cy="4297680"/>
          </a:xfrm>
          <a:prstGeom prst="roundRect">
            <a:avLst>
              <a:gd name="adj" fmla="val 2500"/>
            </a:avLst>
          </a:prstGeom>
          <a:solidFill>
            <a:srgbClr val="121A2E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423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 — Partial Mitigation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17720" y="3063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supplier substitution with delayed production ramp.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7220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7720" y="44165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time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72200" y="44165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Hrs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17720" y="48554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risk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172200" y="48554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17720" y="52943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held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72200" y="52943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138160" y="1874520"/>
            <a:ext cx="3657600" cy="4297680"/>
          </a:xfrm>
          <a:prstGeom prst="roundRect">
            <a:avLst>
              <a:gd name="adj" fmla="val 2500"/>
            </a:avLst>
          </a:prstGeom>
          <a:solidFill>
            <a:srgbClr val="121A2E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2423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C — No Action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412480" y="3063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 the disruption and manage client relationships reactively.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96696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$6.1M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12480" y="44165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time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966960" y="44165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 Days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412480" y="48554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risk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966960" y="48554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12480" y="52943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held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966960" y="52943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strategist ranks all three by outcome — the human still makes the call.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03920" y="6528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· BPO Services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 FACTOR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click turns analysis into an executive-ready brief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121A2E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PORTAL — KPIs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No-action exposure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2606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5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$8.2M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Contained exposure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3291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DD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3977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Hrs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4663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probability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4663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DD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92040" y="1874520"/>
            <a:ext cx="6720840" cy="4206240"/>
          </a:xfrm>
          <a:prstGeom prst="roundRect">
            <a:avLst>
              <a:gd name="adj" fmla="val 2174"/>
            </a:avLst>
          </a:prstGeom>
          <a:solidFill>
            <a:srgbClr val="121A2E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20574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— WHY THIS RECOMMENDATION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66360" y="246888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bankruptcy filed. $8.2M revenue at risk across 3 production lines and 17 customers. 6-day inventory runway before critical failure.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Contingency Plan (Option A): switch to backup supplier, divert production, expedite inventory. 92% probability of full recovery within 48 hours, containing exposure to approximately $1.2M.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VP owns supplier activation. Plant Manager owns production diversion. Operations Director owns inventory expediting. Customer Success Director owns proactive client notification.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this slide traces back to the source document — nothing is asserted without evidence.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0" y="6528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· BPO Services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 FACTOR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doesn’t end at the brief — it becomes a tracked mission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743200" cy="393192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685800" cy="685800"/>
          </a:xfrm>
          <a:prstGeom prst="ellipse">
            <a:avLst/>
          </a:prstGeom>
          <a:solidFill>
            <a:srgbClr val="182238"/>
          </a:solidFill>
          <a:ln w="15875">
            <a:solidFill>
              <a:srgbClr val="3DDC84"/>
            </a:solidFill>
            <a:prstDash val="solid"/>
          </a:ln>
        </p:spPr>
      </p:sp>
      <p:pic>
        <p:nvPicPr>
          <p:cNvPr id="6" name="Image 0" descr="/home/claude/bpo-deck/icon_checkcircle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4505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54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HITL Approval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human approves the recommended action before anything executes — the AI proposes, a person decides.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11296" y="1965960"/>
            <a:ext cx="2743200" cy="393192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85616" y="2286000"/>
            <a:ext cx="685800" cy="685800"/>
          </a:xfrm>
          <a:prstGeom prst="ellipse">
            <a:avLst/>
          </a:prstGeom>
          <a:solidFill>
            <a:srgbClr val="182238"/>
          </a:solidFill>
          <a:ln w="15875">
            <a:solidFill>
              <a:srgbClr val="3DDC84"/>
            </a:solidFill>
            <a:prstDash val="solid"/>
          </a:ln>
        </p:spPr>
      </p:sp>
      <p:pic>
        <p:nvPicPr>
          <p:cNvPr id="11" name="Image 1" descr="/home/claude/bpo-deck/icon_activity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208" y="245059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85616" y="3154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Tracking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785616" y="379476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approved action becomes a tracked mission with an owner, a due date, and a status — not a decision that evaporates after the meeting.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73952" y="1965960"/>
            <a:ext cx="2743200" cy="393192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748272" y="2286000"/>
            <a:ext cx="685800" cy="685800"/>
          </a:xfrm>
          <a:prstGeom prst="ellipse">
            <a:avLst/>
          </a:prstGeom>
          <a:solidFill>
            <a:srgbClr val="182238"/>
          </a:solidFill>
          <a:ln w="15875">
            <a:solidFill>
              <a:srgbClr val="3DDC84"/>
            </a:solidFill>
            <a:prstDash val="solid"/>
          </a:ln>
        </p:spPr>
      </p:sp>
      <p:pic>
        <p:nvPicPr>
          <p:cNvPr id="16" name="Image 2" descr="/home/claude/bpo-deck/icon_layers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4" y="245059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48272" y="3154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Package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748272" y="379476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package — situation, recommendation, ownership, evidence — is generated automatically for the record.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436608" y="1965960"/>
            <a:ext cx="2743200" cy="393192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710928" y="2286000"/>
            <a:ext cx="685800" cy="685800"/>
          </a:xfrm>
          <a:prstGeom prst="ellipse">
            <a:avLst/>
          </a:prstGeom>
          <a:solidFill>
            <a:srgbClr val="182238"/>
          </a:solidFill>
          <a:ln w="15875">
            <a:solidFill>
              <a:srgbClr val="3DDC84"/>
            </a:solidFill>
            <a:prstDash val="solid"/>
          </a:ln>
        </p:spPr>
      </p:sp>
      <p:pic>
        <p:nvPicPr>
          <p:cNvPr id="21" name="Image 3" descr="/home/claude/bpo-deck/icon_shield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245059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10928" y="3154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Audit-Ready Trail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710928" y="379476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step, from document ingest to executive sign-off, is timestamped and evidence-linked for compliance review.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inbox to auditable outcome, in one continuous chain.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503920" y="6528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· BPO Services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for the BPO Recovery Desk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94360" cy="594360"/>
          </a:xfrm>
          <a:prstGeom prst="ellipse">
            <a:avLst/>
          </a:prstGeom>
          <a:solidFill>
            <a:srgbClr val="121A2E"/>
          </a:solidFill>
          <a:ln w="15875">
            <a:solidFill>
              <a:srgbClr val="3DDC84"/>
            </a:solidFill>
            <a:prstDash val="solid"/>
          </a:ln>
        </p:spPr>
      </p:sp>
      <p:pic>
        <p:nvPicPr>
          <p:cNvPr id="5" name="Image 0" descr="/home/claude/bpo-deck/icon_zap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1031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202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document to structured case in real time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71600" y="22860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Extraction, classification, and evidence-building start the moment a document is loaded — no queue, no re-typing.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594360" cy="594360"/>
          </a:xfrm>
          <a:prstGeom prst="ellipse">
            <a:avLst/>
          </a:prstGeom>
          <a:solidFill>
            <a:srgbClr val="121A2E"/>
          </a:solidFill>
          <a:ln w="15875">
            <a:solidFill>
              <a:srgbClr val="3DDC84"/>
            </a:solidFill>
            <a:prstDash val="solid"/>
          </a:ln>
        </p:spPr>
      </p:sp>
      <p:pic>
        <p:nvPicPr>
          <p:cNvPr id="9" name="Image 1" descr="/home/claude/bpo-deck/icon_trendingup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31546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9718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recommendation comes with alternatives and numbers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71600" y="33375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AI guess — ranked options with revenue impact, recovery time, and risk, so the human decision-maker can compare.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069080"/>
            <a:ext cx="594360" cy="594360"/>
          </a:xfrm>
          <a:prstGeom prst="ellipse">
            <a:avLst/>
          </a:prstGeom>
          <a:solidFill>
            <a:srgbClr val="121A2E"/>
          </a:solidFill>
          <a:ln w="15875">
            <a:solidFill>
              <a:srgbClr val="3DDC84"/>
            </a:solidFill>
            <a:prstDash val="solid"/>
          </a:ln>
        </p:spPr>
      </p:sp>
      <p:pic>
        <p:nvPicPr>
          <p:cNvPr id="13" name="Image 2" descr="/home/claude/bpo-deck/icon_shield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2062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0233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asserted without an evidence trail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71600" y="43891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is built in, not bolted on — every figure in an executive brief traces back to the source document.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5120640"/>
            <a:ext cx="594360" cy="594360"/>
          </a:xfrm>
          <a:prstGeom prst="ellipse">
            <a:avLst/>
          </a:prstGeom>
          <a:solidFill>
            <a:srgbClr val="121A2E"/>
          </a:solidFill>
          <a:ln w="15875">
            <a:solidFill>
              <a:srgbClr val="3DDC84"/>
            </a:solidFill>
            <a:prstDash val="solid"/>
          </a:ln>
        </p:spPr>
      </p:sp>
      <p:pic>
        <p:nvPicPr>
          <p:cNvPr id="17" name="Image 3" descr="/home/claude/bpo-deck/icon_target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25780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5074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becomes a tracked, owned mission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371600" y="54406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owners, and due dates persist after the meeting ends — the platform tracks follow-through, not just the recommendation.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503920" y="6528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· BPO Services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DESK 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Aligned incentives — we’re only paid when you recover dollars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486400" cy="3566160"/>
          </a:xfrm>
          <a:prstGeom prst="roundRect">
            <a:avLst>
              <a:gd name="adj" fmla="val 3077"/>
            </a:avLst>
          </a:prstGeom>
          <a:solidFill>
            <a:srgbClr val="121A2E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3DD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2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FEE ON RECOVERED DOLLARS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4805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monthly fee for this desk. If the platform doesn’t recover exposure, there’s no bill.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210312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182238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RECOVERED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2743200"/>
            <a:ext cx="4754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exposure that would otherwise have been lost, per the contained-vs-no-action delta shown on the executive brief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the platform’s own no-action baseline for that case, not an external estimate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and approved by your team before any fee is invoiced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shown throughout this deck are from a synthetic demonstration scenario.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03920" y="6528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· BPO Services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3DDC84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ON YOUR OWN DOCUMENT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a real case.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We’ll run it live.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41605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us a redacted supplier notice, denial letter, or change order. We’ll walk it through ingest, extraction, strategist options, and an executive brief — the same pipeline shown in this deck, on your own data.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5394960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121A2E"/>
          </a:solidFill>
          <a:ln w="12700">
            <a:solidFill>
              <a:srgbClr val="243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Consultz LLC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5760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app.tsmatter.com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0" y="6528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· BPO Services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2026-08-22T14:56:21Z</dcterms:created>
  <dcterms:modified xsi:type="dcterms:W3CDTF">2026-08-22T14:56:21Z</dcterms:modified>
</cp:coreProperties>
</file>