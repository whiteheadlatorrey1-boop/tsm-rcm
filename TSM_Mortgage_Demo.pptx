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MORTGAGE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Mortgage Origination Command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application to clear-to-close — every loan file, every UW condition, every compliance flag, watched in real time so nothing slips past a rate lock.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ENTERPRISE LAB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LOAN FILES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546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$4.07M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1546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PIPELINE VALUE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UW CONDITIONS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83880" y="5120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83880" y="5715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COMPLIANCE FLAGS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 loan file can stall in five different places — and nobody sees it until closing is at risk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Processing, underwriting, conditions, compliance, and closing each run on their own tracking. By the time a file surfaces as “at risk,” the rate lock is already in jeopardy.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6090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69748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Stacked-flag files hide in plain 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file can be sitting on an appraisal gap, a title lien, and open UW conditions simultaneously — each tracked separately, none of them visible together until someone goes looking.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8673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8673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62331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exceptions surface 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62331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TRID tolerance cures, RESPA/AfBA disclosure reviews, and HMDA/LAR data flags are opened by different desks and rarely rolled up until an audit asks for them.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1256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1256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454914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SLA breaches are discovered, not prevented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54914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Stage SLAs exist on paper (48–96 hours per stage) but there's no live view of which files have already blown through theirs.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38394"/>
            <a:ext cx="10789920" cy="761238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38394"/>
            <a:ext cx="822960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5474970"/>
            <a:ext cx="32918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UW / manual overlays add friction underwriters can't see coming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5474970"/>
            <a:ext cx="6035040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 downgrades, jumbo overlays, and DSCR shortfalls each require a different compensating-factor review — with no shared queue for underwriters to work from.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02 —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CASE WALKTHROUGH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LOAN-DK-022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James &amp; Patricia Lowell — Conventional, $445,000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file every mortgage shop has at least one of: three stacked flags, 110 hours in stage, and a closing date that won't move itself.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STAGE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8529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25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46888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SEVERITY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46120" y="28529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4D6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LOAN AMOUNT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41330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$445,000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74904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TIME IN STAGE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6120" y="41330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4D6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110 hrs (SLA: 96)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OWNER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54132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Processor 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5029200"/>
            <a:ext cx="2423160" cy="11430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CONDITIONS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46120" y="54132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(title payoff, ROV)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5699455" cy="38404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5176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NOTES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72200" y="3017520"/>
            <a:ext cx="52422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“Multi-flag file: appraisal gap, title lien, and UW conditions stacked.”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COND-DK-01 — Title lien payoff confirmation: under review, title company confirming payoff amount (30 hrs).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COND-DK-02 — Reconsideration of value: ROV package being assembled (18 hrs).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Also carrying the pipeline's two highest-severity compliance exceptions: TRID-014 (fee tolerance cure required before the CD can be redisclosed) and RESPA-015 (title/escrow affiliation disclosure under review).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03 —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THE ENGINES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Six engines, one loan file, one view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open file is scored across all six at once — not sequentially, and not only when someone remembers to check.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SLA Breach Monitor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Flags any file that has exceeded its stage's SLA window (48–96 hrs depending on stage) before it becomes a closing emergency.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2148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607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607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Condition Tracker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607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Watches every open UW condition from issuance through clearance — title payoffs, ROVs, VOE updates — across every file at once.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94320" y="214884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8912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58912" y="260604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Exception Engine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58912" y="306324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Surfaces TRID tolerance breaches, RESPA/AfBA disclosure flags, and HMDA/LAR data-quality issues the moment they're opened.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Denial Risk Scoring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Flags files trending toward denial — DTI over limit, alternative-program review — while there's still time to act.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2148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607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607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Closing-at-Risk Detector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8607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Cross-references rate-lock expiration against open conditions and exceptions to flag files that won't close on time as-is.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94320" y="4343400"/>
            <a:ext cx="3444240" cy="196596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8912" y="4471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58912" y="480060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&amp; Manual-UW Review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58912" y="5257800"/>
            <a:ext cx="3115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Routes AUS downgrades, jumbo overlay shortfalls, and fraud-review flags to the right desk with the compensating factors already attached.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04 —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Pipeline by stage — 10 open loan files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Conditions is the current bottleneck: 4 of 10 files, including the pipeline's only two HIGH-severity records.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Conditions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381829"/>
            <a:ext cx="6035040" cy="366126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2381829"/>
            <a:ext cx="6035040" cy="366126"/>
          </a:xfrm>
          <a:prstGeom prst="rect">
            <a:avLst/>
          </a:prstGeom>
          <a:solidFill>
            <a:srgbClr val="E8C2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2148840"/>
            <a:ext cx="1463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4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80944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Underwriting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3213933"/>
            <a:ext cx="6035040" cy="366126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3213933"/>
            <a:ext cx="4526280" cy="36612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2980944"/>
            <a:ext cx="1463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3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13048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to Close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4046037"/>
            <a:ext cx="6035040" cy="366126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4046037"/>
            <a:ext cx="1508760" cy="366126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3813048"/>
            <a:ext cx="1463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45152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4878141"/>
            <a:ext cx="6035040" cy="366126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1920" y="4878141"/>
            <a:ext cx="1508760" cy="366126"/>
          </a:xfrm>
          <a:prstGeom prst="rect">
            <a:avLst/>
          </a:prstGeom>
          <a:solidFill>
            <a:srgbClr val="8CA0AD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4645152"/>
            <a:ext cx="1463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477256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Denied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5710245"/>
            <a:ext cx="6035040" cy="366126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29" name="Shape 27"/>
          <p:cNvSpPr/>
          <p:nvPr/>
        </p:nvSpPr>
        <p:spPr>
          <a:xfrm>
            <a:off x="3931920" y="5710245"/>
            <a:ext cx="1508760" cy="36612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9840" y="5477256"/>
            <a:ext cx="1463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1 files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05 —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sits behind the pipeline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open file carries both a loan-amount exposure and a compliance-exposure estimate — modeled from severity, not guessed.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868680"/>
            <a:ext cx="4114800" cy="1737360"/>
          </a:xfrm>
          <a:prstGeom prst="rect">
            <a:avLst/>
          </a:prstGeom>
          <a:solidFill>
            <a:srgbClr val="1119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TOTAL OPEN PIPELINE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5236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$4,074,000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exposure — HIGH severity (2 exceptions: TRID-014, FRAUD-RK-006)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$30,000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74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exposure — MEDIUM severity (RESPA-015)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$5,000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exposure — LOW severity (HMDA-016)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$1,000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Modeled closing-delay cost, per day per stalled file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0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$350 / day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0789920" cy="0"/>
          </a:xfrm>
          <a:prstGeom prst="line">
            <a:avLst/>
          </a:prstGeom>
          <a:noFill/>
          <a:ln w="9525">
            <a:solidFill>
              <a:srgbClr val="1E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Largest single-file exposure (JUMBO-010, reserve shortfall under review)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5257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$1,250,000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C707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Estimate model for planning/reporting only — rates should be configured to match real investor overlays and regulatory exposure before external use.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06 —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COMPLIANCE &amp; EXCEPTIONS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Four open compliance flags, ranked by severity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on the same file (DK-022) — exactly the kind of stacking that's invisible until it's rolled up like this.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73152" cy="89382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9456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TRID-014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TRID Tolerance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 tolerance cure required before the CD can be redisclosed. Loan DK-022, under review 40 hrs.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95560" y="219456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3469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34690"/>
            <a:ext cx="73152" cy="89382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3469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FRAUD-RK-006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323469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23469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File-review flags on VOE and pay stub under investigation. Loan DENY-SJ-001, under review 50 hrs.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95560" y="323469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D6D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27482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74820"/>
            <a:ext cx="73152" cy="893826"/>
          </a:xfrm>
          <a:prstGeom prst="rect">
            <a:avLst/>
          </a:prstGeom>
          <a:solidFill>
            <a:srgbClr val="E8C2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7482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RESPA-015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68880" y="427482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RESPA / AfBA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427482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Title/escrow affiliation disclosure under compliance review. Loan DK-022, flagged 12 hrs.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95560" y="427482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C25A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314950"/>
            <a:ext cx="10789920" cy="893826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14950"/>
            <a:ext cx="73152" cy="893826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314950"/>
            <a:ext cx="1554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HMDA-016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68880" y="5314950"/>
            <a:ext cx="274320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HMDA / LAR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5314950"/>
            <a:ext cx="484632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Rate spread field flagged for QC recheck. Loan CRED-MR-002, flagged 8 hrs.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95560" y="5314950"/>
            <a:ext cx="105156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07 —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ESCALATION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From flagged file to cleared condition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file's escalation path is visible end to end — nothing waits for someone to remember to forward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 Room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Loan file lands with stage, severity, and time-in-stage already scored across all six engines.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9295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0327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043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4043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 Queue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4043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Routed to the assigned desk — Processor, UW Desk, or Closer — with every open condition and exception attached.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4758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5790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506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506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Strategist Synthesis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9506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Conditions, exceptions, and SLA status synthesized into one file-level recommendation.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02218" y="374904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12530" y="2331720"/>
            <a:ext cx="2526030" cy="329184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9690" y="246888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49690" y="288036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Executive Portal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49690" y="3566160"/>
            <a:ext cx="22517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Portfolio-level pipeline value, SLA breaches, and compliance exposure surfaced for leadership — live, not requested.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08 —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EXECUTIVE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What leadership sees, live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same six KPIs the mortgage-model schema was built to track — populated from the real open 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LOAN FILES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22148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436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LOANS OVER SLA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436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04360" y="37261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DK-022 — 110 hrs vs. 96-hr SLA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94320" y="228600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77200" y="245059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CTC READY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7200" y="278892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77200" y="37261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CTC-020, final conditions cleared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PIPELINE VALUE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$4.07M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22148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436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UW CONDITIONS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0436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25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894320" y="4411980"/>
            <a:ext cx="3444240" cy="189738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7200" y="4576572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OPEN COMPLIANCE FLAGS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7200" y="49149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D6D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077200" y="58521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HIGH, 1 MEDIUM, 1 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09 —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Bring this to your own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Same six-engine model, wired to your LOS and your investor overlays.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413760" cy="41148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WAR ROOM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Loan file + condition + exception dashboard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SLA breach monitoring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Single-branch rollout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36720" y="2194560"/>
            <a:ext cx="3413760" cy="4114800"/>
          </a:xfrm>
          <a:prstGeom prst="rect">
            <a:avLst/>
          </a:prstGeom>
          <a:solidFill>
            <a:srgbClr val="0F1B12"/>
          </a:solidFill>
          <a:ln w="15875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960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DDC84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WAR ROOM + EXECUTIVE PORTAL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1960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Standard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1960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in War Room Only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portfolio KPIs for leadership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Compliance exposure modeling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Multi-branch rollout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24800" y="2194560"/>
            <a:ext cx="3413760" cy="4114800"/>
          </a:xfrm>
          <a:prstGeom prst="rect">
            <a:avLst/>
          </a:prstGeom>
          <a:solidFill>
            <a:srgbClr val="111922"/>
          </a:solidFill>
          <a:ln w="9525">
            <a:solidFill>
              <a:srgbClr val="1E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7680" y="237744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FULL ENTERPRISE LAB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07680" y="278892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Custom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07680" y="3429000"/>
            <a:ext cx="3048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in Standard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+ investor-overlay integration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 SLA + exposure configuration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Cross-vertical rollout (Mortgage + Real Estate + Insurance)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99855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C707C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MORTGAGE  //  10 —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0D13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131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E5FF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TSM CONSULTZ  //  MORTGAGE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Every file, every flag, every SLA — in one room.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CA0A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TSM Consultz brings the same command-center model already live for Real Estate and Insurance to your mortgage pipeline.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3291840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0000"/>
                </a:solidFill>
                <a:latin typeface="Share Tech Mono" pitchFamily="34" charset="0"/>
                <a:ea typeface="Share Tech Mono" pitchFamily="34" charset="-122"/>
                <a:cs typeface="Share Tech Mono" pitchFamily="34" charset="-120"/>
              </a:rPr>
              <a:t>LET'S TALK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TSM Consultz — Mortgage Origination Command</dc:title>
  <dc:subject>PptxGenJS Presentation</dc:subject>
  <dc:creator>TSM Consultz LLC</dc:creator>
  <cp:lastModifiedBy>TSM Consultz LLC</cp:lastModifiedBy>
  <cp:revision>1</cp:revision>
  <dcterms:created xsi:type="dcterms:W3CDTF">2026-08-22T16:07:33Z</dcterms:created>
  <dcterms:modified xsi:type="dcterms:W3CDTF">2026-08-22T16:07:33Z</dcterms:modified>
</cp:coreProperties>
</file>