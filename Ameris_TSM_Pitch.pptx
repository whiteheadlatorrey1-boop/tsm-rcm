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428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AMERIS CONSTRUCTION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17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Already Trust Our Work.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Here's the Other Half of What We Do.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walkthrough of TSM Consultz's Construction and Legal intelligence platform — built for general contractors doing exactly the kind of pre-development, entitlement, and field-to-close work Ameris runs every day.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5120640"/>
            <a:ext cx="914400" cy="0"/>
          </a:xfrm>
          <a:prstGeom prst="line">
            <a:avLst/>
          </a:prstGeom>
          <a:noFill/>
          <a:ln w="19050">
            <a:solidFill>
              <a:srgbClr val="4B535A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02920" y="5422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489204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11" name="Shape 9"/>
          <p:cNvSpPr/>
          <p:nvPr/>
        </p:nvSpPr>
        <p:spPr>
          <a:xfrm>
            <a:off x="2651760" y="5120640"/>
            <a:ext cx="914400" cy="0"/>
          </a:xfrm>
          <a:prstGeom prst="line">
            <a:avLst/>
          </a:prstGeom>
          <a:noFill/>
          <a:ln w="19050">
            <a:solidFill>
              <a:srgbClr val="4B535A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874520" y="5422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489204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46120" y="5422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  •  Latorrey “Tron” Whitehead, Founder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REACHING OUT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Standard. Different Room.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49377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560320"/>
            <a:ext cx="640080" cy="64008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2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Already Know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8404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been on your site. We show up, we do the unglamorous work well, and we don't need to be managed. That's not a sales pitch — it's a track record you've already tested.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194560"/>
            <a:ext cx="4937760" cy="3291840"/>
          </a:xfrm>
          <a:prstGeom prst="roundRect">
            <a:avLst>
              <a:gd name="adj" fmla="val 2222"/>
            </a:avLst>
          </a:prstGeom>
          <a:solidFill>
            <a:srgbClr val="24282C"/>
          </a:solidFill>
          <a:ln/>
        </p:spPr>
      </p:sp>
      <p:sp>
        <p:nvSpPr>
          <p:cNvPr id="10" name="Shape 8"/>
          <p:cNvSpPr/>
          <p:nvPr/>
        </p:nvSpPr>
        <p:spPr>
          <a:xfrm>
            <a:off x="6766560" y="256032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24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2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Don't Know Yet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38404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cleaning contract, TSM Consultz builds software — a project-intelligence platform used by construction and legal teams to catch budget and contract risk before it becomes a real problem.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is the 20 minutes we'd love to earn.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PROJECTS LIKE YOURS LEAK TIME AND MONEY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Places the Details Get Away From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47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variance found too late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7627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drift gets caught at month-end, not the week it started.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715768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68833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Retainage &amp; lien waivers in spreadsheets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0175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by memory and email threads instead of one source of truth.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557016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5295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Pay-app matching eats close-day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8587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accountant reconciling three systems by hand, every cycle.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398264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3708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&amp; contract risk, invisible day-to-day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70001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exposure sits in a folder, not in front of the people managing the job.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5239512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212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updates built by hand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54126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rebuilds the same report from scratch every time ownership asks.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55280" y="187452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4F1E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0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familiar?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260604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4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unique to Ameris — it's the standard cost of running pre-development, entitlement, and general contracting under one roof. It's also exactly what our platform was built to close.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PLATFORM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Connected Chain, Not Three Separate Tools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“what's happening on the ground,” “what does it mean,” and “what does leadership decide” are three tools and three people. Here it's one chain — and nothing gets re-typed between screens.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2C3136"/>
          </a:solidFill>
          <a:ln w="19050">
            <a:solidFill>
              <a:srgbClr val="3E44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383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 Room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7764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&amp; FIELD OPS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1148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engines run against real project data — the operator's desk.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3813048"/>
            <a:ext cx="320040" cy="32918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26060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2C3136"/>
          </a:solidFill>
          <a:ln w="19050">
            <a:solidFill>
              <a:srgbClr val="3E44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383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Strategist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7764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HANDOFF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41148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findings become a scoped report, inheriting real context automatically.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3813048"/>
            <a:ext cx="320040" cy="32918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26060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2C3136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383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Portal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7764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DECISION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41148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gets made and a client-ready package exports — one click.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VERTICAL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Command Deck for Every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246120" cy="1051560"/>
          </a:xfrm>
          <a:prstGeom prst="roundRect">
            <a:avLst>
              <a:gd name="adj" fmla="val 6087"/>
            </a:avLst>
          </a:prstGeom>
          <a:solidFill>
            <a:srgbClr val="F4F1EC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084832"/>
            <a:ext cx="530352" cy="530352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8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8288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Variance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246120" cy="1051560"/>
          </a:xfrm>
          <a:prstGeom prst="roundRect">
            <a:avLst>
              <a:gd name="adj" fmla="val 6087"/>
            </a:avLst>
          </a:prstGeom>
          <a:solidFill>
            <a:srgbClr val="F4F1EC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2084832"/>
            <a:ext cx="530352" cy="530352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8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8288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Retainage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246120" cy="1051560"/>
          </a:xfrm>
          <a:prstGeom prst="roundRect">
            <a:avLst>
              <a:gd name="adj" fmla="val 6087"/>
            </a:avLst>
          </a:prstGeom>
          <a:solidFill>
            <a:srgbClr val="F4F1EC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3880" y="2084832"/>
            <a:ext cx="530352" cy="530352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8388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8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18288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Waivers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3154680"/>
            <a:ext cx="3246120" cy="1051560"/>
          </a:xfrm>
          <a:prstGeom prst="roundRect">
            <a:avLst>
              <a:gd name="adj" fmla="val 6087"/>
            </a:avLst>
          </a:prstGeom>
          <a:solidFill>
            <a:srgbClr val="F4F1E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1560" y="3410712"/>
            <a:ext cx="530352" cy="530352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" y="34107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8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31546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Pay-App Matching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389120" y="3154680"/>
            <a:ext cx="3246120" cy="1051560"/>
          </a:xfrm>
          <a:prstGeom prst="roundRect">
            <a:avLst>
              <a:gd name="adj" fmla="val 6087"/>
            </a:avLst>
          </a:prstGeom>
          <a:solidFill>
            <a:srgbClr val="F4F1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617720" y="3410712"/>
            <a:ext cx="530352" cy="530352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17720" y="34107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8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31546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Reconciliation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955280" y="3154680"/>
            <a:ext cx="3246120" cy="1051560"/>
          </a:xfrm>
          <a:prstGeom prst="roundRect">
            <a:avLst>
              <a:gd name="adj" fmla="val 6087"/>
            </a:avLst>
          </a:prstGeom>
          <a:solidFill>
            <a:srgbClr val="F4F1EC"/>
          </a:solidFill>
          <a:ln/>
        </p:spPr>
      </p:sp>
      <p:sp>
        <p:nvSpPr>
          <p:cNvPr id="25" name="Shape 23"/>
          <p:cNvSpPr/>
          <p:nvPr/>
        </p:nvSpPr>
        <p:spPr>
          <a:xfrm>
            <a:off x="8183880" y="3410712"/>
            <a:ext cx="530352" cy="530352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83880" y="34107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8" dirty="0"/>
          </a:p>
        </p:txBody>
      </p:sp>
      <p:sp>
        <p:nvSpPr>
          <p:cNvPr id="27" name="Text 25"/>
          <p:cNvSpPr txBox="1"/>
          <p:nvPr/>
        </p:nvSpPr>
        <p:spPr>
          <a:xfrm>
            <a:off x="8869680" y="31546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572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“FIRE ALL 6 ENGINES” runs all six together — the same close-day workload a project accountant runs by hand across three systems, done in one pass.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" y="5623560"/>
            <a:ext cx="3383280" cy="914400"/>
          </a:xfrm>
          <a:prstGeom prst="rect">
            <a:avLst/>
          </a:prstGeom>
          <a:solidFill>
            <a:srgbClr val="24282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51560" y="5715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60076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state change — it flips the decision item's status and unlocks the client export.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80560" y="5623560"/>
            <a:ext cx="3383280" cy="914400"/>
          </a:xfrm>
          <a:prstGeom prst="rect">
            <a:avLst/>
          </a:prstGeom>
          <a:solidFill>
            <a:srgbClr val="24282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09160" y="5715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CLIENT PACKAGE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60076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produces a board-ready delivery, built from the same session data start to finish.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VERTICAL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Built for Entitlement-Heavy Growth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Pre-development and entitlement work carries real legal exposure long before a shovel hits the ground. This is the only vertical on the platform with two altitudes of escalation — because a single case and portfolio-wide risk aren't the same conversation.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260604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2C3136"/>
          </a:solidFill>
          <a:ln w="19050">
            <a:solidFill>
              <a:srgbClr val="3E44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Strategist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2004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matter’s findings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87952" y="3191256"/>
            <a:ext cx="365760" cy="292608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260604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2C3136"/>
          </a:solidFill>
          <a:ln w="19050">
            <a:solidFill>
              <a:srgbClr val="3E44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Chief Strategist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2004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Portfolio-wide legal risk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99832" y="3191256"/>
            <a:ext cx="365760" cy="292608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260604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2C3136"/>
          </a:solidFill>
          <a:ln w="19050">
            <a:solidFill>
              <a:srgbClr val="3E44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Portal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32004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+ client package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05840" y="4572000"/>
            <a:ext cx="10149840" cy="1234440"/>
          </a:xfrm>
          <a:prstGeom prst="roundRect">
            <a:avLst>
              <a:gd name="adj" fmla="val 5185"/>
            </a:avLst>
          </a:prstGeom>
          <a:solidFill>
            <a:srgbClr val="2C3136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8016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isn’t generic.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0749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tied to a named, case-specific action — e.g. “Discovery Expansion” — logged with that exact label in the audit trail. For a firm managing entitlement risk and subcontractor disputes side by side, that's the difference between “trust us” and a record you can hand to counsel or an insurer.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PAIRING, SPECIFICALLY FOR AMERIS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Job Site. One Legal Exposure. One Platform.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96596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2402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PLATFORMS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606040"/>
            <a:ext cx="4434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4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construction ops and legal risk as two separate systems — different logins, different data, no shared thread when a pay-app dispute turns into a discovery request.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2402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06040"/>
            <a:ext cx="4434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4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Construction and Legal on the same relay architecture. A lien issue flagged on a pay-app can escalate straight into the Legal chain — same case, same data, no re-entry.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firm doing pre-development, entitlement, and general contracting under one name, that connection isn't a nice-to-have — it's the whole point.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BEHIND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Someone Who's Already Been on Your 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9339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Founder-led delivery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39572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 is built and run by Latorrey “Tron” Whitehead — the person you'd actually work with, not a sales layer in front of an offshore team.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4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3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36499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IT operations background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76732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L1 support experience on an enterprise account (AECOM, via Infosys) — built for uptime and accuracy, not demo polish.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754880"/>
            <a:ext cx="502920" cy="50292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3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73659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earned, not promised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13892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already tested our reliability through the cleaning contract. This is the same standard, applied to your data instead of your floors.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9A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4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Put 20 Minutes on the Calendar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5146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slides, no pressure — a live walkthrough of the Construction and Legal chain using a sample project close to the size and shape of what Ameris runs. If it's not useful, you've lost 20 minutes.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7863840" cy="1737360"/>
          </a:xfrm>
          <a:prstGeom prst="roundRect">
            <a:avLst>
              <a:gd name="adj" fmla="val 4211"/>
            </a:avLst>
          </a:prstGeom>
          <a:solidFill>
            <a:srgbClr val="2428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3977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Latorrey “Tron” Whitehead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3708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TSM Consultz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8006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latorrey@tsmconsultz.com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51206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tsm-consultz.fly.dev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2026-08-27T16:15:59Z</dcterms:created>
  <dcterms:modified xsi:type="dcterms:W3CDTF">2026-08-27T16:15:59Z</dcterms:modified>
</cp:coreProperties>
</file>