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2.png"/><Relationship Id="rId4" Type="http://schemas.openxmlformats.org/officeDocument/2006/relationships/image" Target="../media/image-7-2.png"/><Relationship Id="rId5" Type="http://schemas.openxmlformats.org/officeDocument/2006/relationships/image" Target="../media/image-7-2.png"/><Relationship Id="rId6" Type="http://schemas.openxmlformats.org/officeDocument/2006/relationships/image" Target="../media/image-7-2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12188952" cy="4572"/>
          </a:xfrm>
          <a:prstGeom prst="rect">
            <a:avLst/>
          </a:prstGeom>
          <a:solidFill>
            <a:srgbClr val="1C2E1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52728"/>
            <a:ext cx="12188952" cy="4572"/>
          </a:xfrm>
          <a:prstGeom prst="rect">
            <a:avLst/>
          </a:prstGeom>
          <a:solidFill>
            <a:srgbClr val="1C2E1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682496"/>
            <a:ext cx="12188952" cy="4572"/>
          </a:xfrm>
          <a:prstGeom prst="rect">
            <a:avLst/>
          </a:prstGeom>
          <a:solidFill>
            <a:srgbClr val="1C2E1C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2112264"/>
            <a:ext cx="12188952" cy="4572"/>
          </a:xfrm>
          <a:prstGeom prst="rect">
            <a:avLst/>
          </a:prstGeom>
          <a:solidFill>
            <a:srgbClr val="1C2E1C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2542032"/>
            <a:ext cx="12188952" cy="4572"/>
          </a:xfrm>
          <a:prstGeom prst="rect">
            <a:avLst/>
          </a:prstGeom>
          <a:solidFill>
            <a:srgbClr val="1C2E1C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2971800"/>
            <a:ext cx="12188952" cy="4572"/>
          </a:xfrm>
          <a:prstGeom prst="rect">
            <a:avLst/>
          </a:prstGeom>
          <a:solidFill>
            <a:srgbClr val="1C2E1C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3401568"/>
            <a:ext cx="12188952" cy="4572"/>
          </a:xfrm>
          <a:prstGeom prst="rect">
            <a:avLst/>
          </a:prstGeom>
          <a:solidFill>
            <a:srgbClr val="1C2E1C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3831336"/>
            <a:ext cx="12188952" cy="4572"/>
          </a:xfrm>
          <a:prstGeom prst="rect">
            <a:avLst/>
          </a:prstGeom>
          <a:solidFill>
            <a:srgbClr val="1C2E1C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4261104"/>
            <a:ext cx="12188952" cy="4572"/>
          </a:xfrm>
          <a:prstGeom prst="rect">
            <a:avLst/>
          </a:prstGeom>
          <a:solidFill>
            <a:srgbClr val="1C2E1C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4690872"/>
            <a:ext cx="12188952" cy="4572"/>
          </a:xfrm>
          <a:prstGeom prst="rect">
            <a:avLst/>
          </a:prstGeom>
          <a:solidFill>
            <a:srgbClr val="1C2E1C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5120640"/>
            <a:ext cx="12188952" cy="4572"/>
          </a:xfrm>
          <a:prstGeom prst="rect">
            <a:avLst/>
          </a:prstGeom>
          <a:solidFill>
            <a:srgbClr val="1C2E1C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550408"/>
            <a:ext cx="12188952" cy="4572"/>
          </a:xfrm>
          <a:prstGeom prst="rect">
            <a:avLst/>
          </a:prstGeom>
          <a:solidFill>
            <a:srgbClr val="1C2E1C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980176"/>
            <a:ext cx="12188952" cy="4572"/>
          </a:xfrm>
          <a:prstGeom prst="rect">
            <a:avLst/>
          </a:prstGeom>
          <a:solidFill>
            <a:srgbClr val="1C2E1C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6409944"/>
            <a:ext cx="12188952" cy="4572"/>
          </a:xfrm>
          <a:prstGeom prst="rect">
            <a:avLst/>
          </a:prstGeom>
          <a:solidFill>
            <a:srgbClr val="1C2E1C"/>
          </a:solidFill>
          <a:ln/>
        </p:spPr>
      </p:sp>
      <p:pic>
        <p:nvPicPr>
          <p:cNvPr id="16" name="Image 0" descr="icons/heart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457200" cy="4572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234440" y="6217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FF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TSM HEALTHCARE RCM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40080" y="1965960"/>
            <a:ext cx="9601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Denial &amp; Appeal</a:t>
            </a:r>
            <a:endParaRPr lang="en-US" sz="5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War Room</a:t>
            </a:r>
            <a:endParaRPr lang="en-US" sz="5400" dirty="0"/>
          </a:p>
        </p:txBody>
      </p:sp>
      <p:sp>
        <p:nvSpPr>
          <p:cNvPr id="19" name="Text 16"/>
          <p:cNvSpPr/>
          <p:nvPr/>
        </p:nvSpPr>
        <p:spPr>
          <a:xfrm>
            <a:off x="658368" y="3977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D8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Five AI engines take a denied claim from raw document to a submitted appeal — in minutes, not weeks.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9006840" y="1965960"/>
            <a:ext cx="2560320" cy="2880360"/>
          </a:xfrm>
          <a:prstGeom prst="roundRect">
            <a:avLst>
              <a:gd name="adj" fmla="val 2857"/>
            </a:avLst>
          </a:prstGeom>
          <a:solidFill>
            <a:srgbClr val="0C1109"/>
          </a:solidFill>
          <a:ln w="12700">
            <a:solidFill>
              <a:srgbClr val="1C2E1C"/>
            </a:solidFill>
            <a:prstDash val="solid"/>
          </a:ln>
        </p:spPr>
      </p:sp>
      <p:pic>
        <p:nvPicPr>
          <p:cNvPr id="21" name="Image 1" descr="icons/alert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60" y="2212848"/>
            <a:ext cx="384048" cy="38404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9006840" y="26517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5A7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DENIAL CRISIS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9006840" y="28803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4455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 in 5</a:t>
            </a:r>
            <a:endParaRPr lang="en-US" sz="3400" dirty="0"/>
          </a:p>
        </p:txBody>
      </p:sp>
      <p:sp>
        <p:nvSpPr>
          <p:cNvPr id="24" name="Text 20"/>
          <p:cNvSpPr/>
          <p:nvPr/>
        </p:nvSpPr>
        <p:spPr>
          <a:xfrm>
            <a:off x="9006840" y="3520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D8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clean claims denied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8D8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industry-wide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9235440" y="4041648"/>
            <a:ext cx="2103120" cy="0"/>
          </a:xfrm>
          <a:prstGeom prst="line">
            <a:avLst/>
          </a:prstGeom>
          <a:noFill/>
          <a:ln w="12700">
            <a:solidFill>
              <a:srgbClr val="1C2E1C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9006840" y="4160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AA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65%</a:t>
            </a:r>
            <a:endParaRPr lang="en-US" sz="2000" dirty="0"/>
          </a:p>
        </p:txBody>
      </p:sp>
      <p:sp>
        <p:nvSpPr>
          <p:cNvPr id="27" name="Text 23"/>
          <p:cNvSpPr/>
          <p:nvPr/>
        </p:nvSpPr>
        <p:spPr>
          <a:xfrm>
            <a:off x="9006840" y="4526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D8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of denied claims are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8D8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never appealed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658368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7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Prospect walkthrough  ·  synthetic case data  ·  live engine demo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/ 11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A7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TSM HEALTHCARE RCM INTELLIGENCE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44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8229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Denials are a revenue leak your team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can’t manually plug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21792" y="23317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0C1109"/>
          </a:solidFill>
          <a:ln w="12700">
            <a:solidFill>
              <a:srgbClr val="1C2E1C"/>
            </a:solidFill>
            <a:prstDash val="solid"/>
          </a:ln>
        </p:spPr>
      </p:sp>
      <p:pic>
        <p:nvPicPr>
          <p:cNvPr id="5" name="Image 0" descr="icons/clock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624328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77824" y="3291840"/>
            <a:ext cx="2093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Manual triage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77824" y="3840480"/>
            <a:ext cx="209397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8D8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Billing staff spend hours per claim tracing denial codes back to root cause before any appeal work begins.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456432" y="23317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0C1109"/>
          </a:solidFill>
          <a:ln w="12700">
            <a:solidFill>
              <a:srgbClr val="1C2E1C"/>
            </a:solidFill>
            <a:prstDash val="solid"/>
          </a:ln>
        </p:spPr>
      </p:sp>
      <p:pic>
        <p:nvPicPr>
          <p:cNvPr id="9" name="Image 1" descr="icons/alert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464" y="2624328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712464" y="3291840"/>
            <a:ext cx="2093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Missed deadlines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712464" y="3840480"/>
            <a:ext cx="209397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8D8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Timely-filing windows close while claims sit in a queue waiting for a human to get to them.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291072" y="23317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0C1109"/>
          </a:solidFill>
          <a:ln w="12700">
            <a:solidFill>
              <a:srgbClr val="1C2E1C"/>
            </a:solidFill>
            <a:prstDash val="solid"/>
          </a:ln>
        </p:spPr>
      </p:sp>
      <p:pic>
        <p:nvPicPr>
          <p:cNvPr id="13" name="Image 2" descr="icons/route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4" y="2624328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547104" y="3291840"/>
            <a:ext cx="2093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No clear owner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547104" y="3840480"/>
            <a:ext cx="209397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8D8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Appeals stall between billing, coding, and front-office roles with no single routing decision.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9125712" y="23317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0C1109"/>
          </a:solidFill>
          <a:ln w="12700">
            <a:solidFill>
              <a:srgbClr val="1C2E1C"/>
            </a:solidFill>
            <a:prstDash val="solid"/>
          </a:ln>
        </p:spPr>
      </p:sp>
      <p:pic>
        <p:nvPicPr>
          <p:cNvPr id="17" name="Image 3" descr="icons/dollar_pur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1744" y="2624328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381744" y="3291840"/>
            <a:ext cx="2093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Silent revenue loss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9381744" y="3840480"/>
            <a:ext cx="209397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8D8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Every unappealed denial is revenue the practice already earned and will never collect.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11</a:t>
            </a:r>
            <a:endParaRPr lang="en-US" sz="800" dirty="0"/>
          </a:p>
        </p:txBody>
      </p:sp>
      <p:sp>
        <p:nvSpPr>
          <p:cNvPr id="21" name="Text 15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A7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TSM HEALTHCARE RCM INTELLIGENCE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E5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LIVE WALKTHROUGH CASE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Desert Horizon Medical Group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2618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Synthetic prospect scenario — multi-specialty group, 4 offices, Q3 billing cycle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1792" y="18745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0C1109"/>
          </a:solidFill>
          <a:ln w="12700">
            <a:solidFill>
              <a:srgbClr val="1C2E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57400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4455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21.6%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2624328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A7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DENIAL RATE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2898648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D8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CMS threshold 15%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22960" y="3227832"/>
            <a:ext cx="2203704" cy="54864"/>
          </a:xfrm>
          <a:prstGeom prst="rect">
            <a:avLst/>
          </a:prstGeom>
          <a:solidFill>
            <a:srgbClr val="1C2E1C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3227832"/>
            <a:ext cx="1586667" cy="54864"/>
          </a:xfrm>
          <a:prstGeom prst="rect">
            <a:avLst/>
          </a:prstGeom>
          <a:solidFill>
            <a:srgbClr val="FF4455"/>
          </a:solidFill>
          <a:ln/>
        </p:spPr>
      </p:sp>
      <p:sp>
        <p:nvSpPr>
          <p:cNvPr id="11" name="Shape 9"/>
          <p:cNvSpPr/>
          <p:nvPr/>
        </p:nvSpPr>
        <p:spPr>
          <a:xfrm>
            <a:off x="3456432" y="18745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0C1109"/>
          </a:solidFill>
          <a:ln w="12700">
            <a:solidFill>
              <a:srgbClr val="1C2E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2057400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AA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$86K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657600" y="2624328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A7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REVENUE AT RISK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0" y="2898648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D8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312 denied claims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91072" y="18745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0C1109"/>
          </a:solidFill>
          <a:ln w="12700">
            <a:solidFill>
              <a:srgbClr val="1C2E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057400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855F7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52%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492240" y="2624328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A7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TOP DRIVER: CO-197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92240" y="2898648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D8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auth/precert absent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125712" y="18745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0C1109"/>
          </a:solidFill>
          <a:ln w="12700">
            <a:solidFill>
              <a:srgbClr val="1C2E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0" y="2057400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E5C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9 days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326880" y="2624328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A7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AVG. TIME-TO-APPEAL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326880" y="2898648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D8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timely-filing limit: 30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21792" y="3749040"/>
            <a:ext cx="10927080" cy="2331720"/>
          </a:xfrm>
          <a:prstGeom prst="roundRect">
            <a:avLst>
              <a:gd name="adj" fmla="val 3137"/>
            </a:avLst>
          </a:prstGeom>
          <a:solidFill>
            <a:srgbClr val="101510"/>
          </a:solidFill>
          <a:ln w="12700">
            <a:solidFill>
              <a:srgbClr val="1C2E1C"/>
            </a:solidFill>
            <a:prstDash val="solid"/>
          </a:ln>
        </p:spPr>
      </p:sp>
      <p:pic>
        <p:nvPicPr>
          <p:cNvPr id="24" name="Image 0" descr="icons/document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977640"/>
            <a:ext cx="365760" cy="36576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371600" y="4023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E5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SOURCE DOCUMENT — CLAIM #DH-44201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868680" y="443484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8D8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Payer: Blue Cross AZ  ·  CPT 99214 + 96372  ·  Billed $1,240  ·  Denial code CO-197 (precertification/authorization absent)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8D8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Prior-auth was obtained — but filed against a different CPT code than what was ultimately billed, triggering an automatic payer-side mismatch denial.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8D8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This is the 2nd denial on this account this quarter. Practice-wide CO-197 volume is up 34% over the prior quarter.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11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A7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TSM HEALTHCARE RCM INTELLIGENCE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FF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Five engines, one continuous pipeline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Each engine hands its structured output to the next — no re-keying, no lost context.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1792" y="1965960"/>
            <a:ext cx="2029968" cy="3611880"/>
          </a:xfrm>
          <a:prstGeom prst="roundRect">
            <a:avLst>
              <a:gd name="adj" fmla="val 3604"/>
            </a:avLst>
          </a:prstGeom>
          <a:solidFill>
            <a:srgbClr val="0C1109"/>
          </a:solidFill>
          <a:ln w="12700">
            <a:solidFill>
              <a:srgbClr val="1C2E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21305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A7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E1</a:t>
            </a:r>
            <a:endParaRPr lang="en-US" sz="1100" dirty="0"/>
          </a:p>
        </p:txBody>
      </p:sp>
      <p:pic>
        <p:nvPicPr>
          <p:cNvPr id="7" name="Image 0" descr="icons/document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25146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86384" y="3136392"/>
            <a:ext cx="1700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Document Intel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86384" y="3794760"/>
            <a:ext cx="17007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8D8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Ingests the claim doc; extracts Claim ID, CPT/denial codes, payer, and billed amount in under 10 seconds.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660904" y="3703320"/>
            <a:ext cx="128016" cy="27432"/>
          </a:xfrm>
          <a:prstGeom prst="rect">
            <a:avLst/>
          </a:prstGeom>
          <a:solidFill>
            <a:srgbClr val="5A7A5A"/>
          </a:solidFill>
          <a:ln/>
        </p:spPr>
      </p:sp>
      <p:sp>
        <p:nvSpPr>
          <p:cNvPr id="11" name="Shape 8"/>
          <p:cNvSpPr/>
          <p:nvPr/>
        </p:nvSpPr>
        <p:spPr>
          <a:xfrm>
            <a:off x="2798064" y="1965960"/>
            <a:ext cx="2029968" cy="3611880"/>
          </a:xfrm>
          <a:prstGeom prst="roundRect">
            <a:avLst>
              <a:gd name="adj" fmla="val 3604"/>
            </a:avLst>
          </a:prstGeom>
          <a:solidFill>
            <a:srgbClr val="0C1109"/>
          </a:solidFill>
          <a:ln w="12700">
            <a:solidFill>
              <a:srgbClr val="1C2E1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962656" y="21305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A7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E2</a:t>
            </a:r>
            <a:endParaRPr lang="en-US" sz="1100" dirty="0"/>
          </a:p>
        </p:txBody>
      </p:sp>
      <p:pic>
        <p:nvPicPr>
          <p:cNvPr id="13" name="Image 1" descr="icons/search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2656" y="251460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962656" y="3136392"/>
            <a:ext cx="1700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Root Cause Analyst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2962656" y="3794760"/>
            <a:ext cx="17007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8D8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Identifies the exact denial root cause — policy violation, documentation gap, or coding error.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837176" y="3703320"/>
            <a:ext cx="128016" cy="27432"/>
          </a:xfrm>
          <a:prstGeom prst="rect">
            <a:avLst/>
          </a:prstGeom>
          <a:solidFill>
            <a:srgbClr val="5A7A5A"/>
          </a:solidFill>
          <a:ln/>
        </p:spPr>
      </p:sp>
      <p:sp>
        <p:nvSpPr>
          <p:cNvPr id="17" name="Shape 13"/>
          <p:cNvSpPr/>
          <p:nvPr/>
        </p:nvSpPr>
        <p:spPr>
          <a:xfrm>
            <a:off x="4974336" y="1965960"/>
            <a:ext cx="2029968" cy="3611880"/>
          </a:xfrm>
          <a:prstGeom prst="roundRect">
            <a:avLst>
              <a:gd name="adj" fmla="val 3604"/>
            </a:avLst>
          </a:prstGeom>
          <a:solidFill>
            <a:srgbClr val="0C1109"/>
          </a:solidFill>
          <a:ln w="12700">
            <a:solidFill>
              <a:srgbClr val="1C2E1C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138928" y="21305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A7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E3</a:t>
            </a:r>
            <a:endParaRPr lang="en-US" sz="1100" dirty="0"/>
          </a:p>
        </p:txBody>
      </p:sp>
      <p:pic>
        <p:nvPicPr>
          <p:cNvPr id="19" name="Image 2" descr="icons/dollar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928" y="251460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138928" y="3136392"/>
            <a:ext cx="1700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Financial Impact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5138928" y="3794760"/>
            <a:ext cx="17007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8D8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Calculates total revenue at risk and timely-filing exposure across every open denial.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7013448" y="3703320"/>
            <a:ext cx="128016" cy="27432"/>
          </a:xfrm>
          <a:prstGeom prst="rect">
            <a:avLst/>
          </a:prstGeom>
          <a:solidFill>
            <a:srgbClr val="5A7A5A"/>
          </a:solidFill>
          <a:ln/>
        </p:spPr>
      </p:sp>
      <p:sp>
        <p:nvSpPr>
          <p:cNvPr id="23" name="Shape 18"/>
          <p:cNvSpPr/>
          <p:nvPr/>
        </p:nvSpPr>
        <p:spPr>
          <a:xfrm>
            <a:off x="7150608" y="1965960"/>
            <a:ext cx="2029968" cy="3611880"/>
          </a:xfrm>
          <a:prstGeom prst="roundRect">
            <a:avLst>
              <a:gd name="adj" fmla="val 3604"/>
            </a:avLst>
          </a:prstGeom>
          <a:solidFill>
            <a:srgbClr val="0C1109"/>
          </a:solidFill>
          <a:ln w="12700">
            <a:solidFill>
              <a:srgbClr val="1C2E1C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7315200" y="21305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A7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E4</a:t>
            </a:r>
            <a:endParaRPr lang="en-US" sz="1100" dirty="0"/>
          </a:p>
        </p:txBody>
      </p:sp>
      <p:pic>
        <p:nvPicPr>
          <p:cNvPr id="25" name="Image 3" descr="icons/clipboard_pur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514600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315200" y="3136392"/>
            <a:ext cx="1700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Recovery Plan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7315200" y="3794760"/>
            <a:ext cx="17007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8D8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Builds a step-by-step appeal: required documents, talking points, and submission deadline.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9189720" y="3703320"/>
            <a:ext cx="128016" cy="27432"/>
          </a:xfrm>
          <a:prstGeom prst="rect">
            <a:avLst/>
          </a:prstGeom>
          <a:solidFill>
            <a:srgbClr val="5A7A5A"/>
          </a:solidFill>
          <a:ln/>
        </p:spPr>
      </p:sp>
      <p:sp>
        <p:nvSpPr>
          <p:cNvPr id="29" name="Shape 23"/>
          <p:cNvSpPr/>
          <p:nvPr/>
        </p:nvSpPr>
        <p:spPr>
          <a:xfrm>
            <a:off x="9326880" y="1965960"/>
            <a:ext cx="2029968" cy="3611880"/>
          </a:xfrm>
          <a:prstGeom prst="roundRect">
            <a:avLst>
              <a:gd name="adj" fmla="val 3604"/>
            </a:avLst>
          </a:prstGeom>
          <a:solidFill>
            <a:srgbClr val="0C1109"/>
          </a:solidFill>
          <a:ln w="12700">
            <a:solidFill>
              <a:srgbClr val="1C2E1C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9491472" y="21305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A7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E5</a:t>
            </a:r>
            <a:endParaRPr lang="en-US" sz="1100" dirty="0"/>
          </a:p>
        </p:txBody>
      </p:sp>
      <p:pic>
        <p:nvPicPr>
          <p:cNvPr id="31" name="Image 4" descr="icons/route_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1472" y="2514600"/>
            <a:ext cx="457200" cy="45720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491472" y="3136392"/>
            <a:ext cx="1700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Recovery Navigator</a:t>
            </a:r>
            <a:endParaRPr lang="en-US" sz="1350" dirty="0"/>
          </a:p>
        </p:txBody>
      </p:sp>
      <p:sp>
        <p:nvSpPr>
          <p:cNvPr id="33" name="Text 26"/>
          <p:cNvSpPr/>
          <p:nvPr/>
        </p:nvSpPr>
        <p:spPr>
          <a:xfrm>
            <a:off x="9491472" y="3794760"/>
            <a:ext cx="17007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8D8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Routes the next action to Billing, Office Manager, or Appeals Specialist with priority order.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11</a:t>
            </a:r>
            <a:endParaRPr lang="en-US" sz="800" dirty="0"/>
          </a:p>
        </p:txBody>
      </p:sp>
      <p:sp>
        <p:nvSpPr>
          <p:cNvPr id="35" name="Text 28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A7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TSM HEALTHCARE RCM INTELLIGENCE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AA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E2 OUTPUT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Root cause, ranked by dollar exposure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21792" y="2148840"/>
            <a:ext cx="10927080" cy="1051560"/>
          </a:xfrm>
          <a:prstGeom prst="roundRect">
            <a:avLst>
              <a:gd name="adj" fmla="val 5217"/>
            </a:avLst>
          </a:prstGeom>
          <a:solidFill>
            <a:srgbClr val="0C1109"/>
          </a:solidFill>
          <a:ln w="12700">
            <a:solidFill>
              <a:srgbClr val="1C2E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3134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4455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CO-197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7157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8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Precertification / authorization absent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577840" y="2560320"/>
            <a:ext cx="3931920" cy="109728"/>
          </a:xfrm>
          <a:prstGeom prst="rect">
            <a:avLst/>
          </a:prstGeom>
          <a:solidFill>
            <a:srgbClr val="1C2E1C"/>
          </a:solidFill>
          <a:ln/>
        </p:spPr>
      </p:sp>
      <p:sp>
        <p:nvSpPr>
          <p:cNvPr id="8" name="Shape 6"/>
          <p:cNvSpPr/>
          <p:nvPr/>
        </p:nvSpPr>
        <p:spPr>
          <a:xfrm>
            <a:off x="5577840" y="2560320"/>
            <a:ext cx="2044598" cy="109728"/>
          </a:xfrm>
          <a:prstGeom prst="rect">
            <a:avLst/>
          </a:prstGeom>
          <a:solidFill>
            <a:srgbClr val="FF4455"/>
          </a:solidFill>
          <a:ln/>
        </p:spPr>
      </p:sp>
      <p:sp>
        <p:nvSpPr>
          <p:cNvPr id="9" name="Text 7"/>
          <p:cNvSpPr/>
          <p:nvPr/>
        </p:nvSpPr>
        <p:spPr>
          <a:xfrm>
            <a:off x="5577840" y="22768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52% of denial volume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784080" y="24414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$44.7K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1792" y="3429000"/>
            <a:ext cx="10927080" cy="1051560"/>
          </a:xfrm>
          <a:prstGeom prst="roundRect">
            <a:avLst>
              <a:gd name="adj" fmla="val 5217"/>
            </a:avLst>
          </a:prstGeom>
          <a:solidFill>
            <a:srgbClr val="0C1109"/>
          </a:solidFill>
          <a:ln w="12700">
            <a:solidFill>
              <a:srgbClr val="1C2E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59359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AA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CO-50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68680" y="39959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8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Service deemed not medically necessary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77840" y="3840480"/>
            <a:ext cx="3931920" cy="109728"/>
          </a:xfrm>
          <a:prstGeom prst="rect">
            <a:avLst/>
          </a:prstGeom>
          <a:solidFill>
            <a:srgbClr val="1C2E1C"/>
          </a:solidFill>
          <a:ln/>
        </p:spPr>
      </p:sp>
      <p:sp>
        <p:nvSpPr>
          <p:cNvPr id="15" name="Shape 13"/>
          <p:cNvSpPr/>
          <p:nvPr/>
        </p:nvSpPr>
        <p:spPr>
          <a:xfrm>
            <a:off x="5577840" y="3840480"/>
            <a:ext cx="1022299" cy="109728"/>
          </a:xfrm>
          <a:prstGeom prst="rect">
            <a:avLst/>
          </a:prstGeom>
          <a:solidFill>
            <a:srgbClr val="FFAA00"/>
          </a:solidFill>
          <a:ln/>
        </p:spPr>
      </p:sp>
      <p:sp>
        <p:nvSpPr>
          <p:cNvPr id="16" name="Text 14"/>
          <p:cNvSpPr/>
          <p:nvPr/>
        </p:nvSpPr>
        <p:spPr>
          <a:xfrm>
            <a:off x="5577840" y="35570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26% of denial volume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784080" y="372160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$22.4K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21792" y="4709160"/>
            <a:ext cx="10927080" cy="1051560"/>
          </a:xfrm>
          <a:prstGeom prst="roundRect">
            <a:avLst>
              <a:gd name="adj" fmla="val 5217"/>
            </a:avLst>
          </a:prstGeom>
          <a:solidFill>
            <a:srgbClr val="0C1109"/>
          </a:solidFill>
          <a:ln w="12700">
            <a:solidFill>
              <a:srgbClr val="1C2E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48737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855F7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PR-204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68680" y="52760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8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Service not covered under plan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577840" y="5120640"/>
            <a:ext cx="3931920" cy="109728"/>
          </a:xfrm>
          <a:prstGeom prst="rect">
            <a:avLst/>
          </a:prstGeom>
          <a:solidFill>
            <a:srgbClr val="1C2E1C"/>
          </a:solidFill>
          <a:ln/>
        </p:spPr>
      </p:sp>
      <p:sp>
        <p:nvSpPr>
          <p:cNvPr id="22" name="Shape 20"/>
          <p:cNvSpPr/>
          <p:nvPr/>
        </p:nvSpPr>
        <p:spPr>
          <a:xfrm>
            <a:off x="5577840" y="5120640"/>
            <a:ext cx="865022" cy="10972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3" name="Text 21"/>
          <p:cNvSpPr/>
          <p:nvPr/>
        </p:nvSpPr>
        <p:spPr>
          <a:xfrm>
            <a:off x="5577840" y="48371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22% of denial volume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784080" y="50017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$18.9K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40080" y="6126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7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Synthetic figures for walkthrough purposes — live engine run replaces these with your actual claim data.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11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A7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TSM HEALTHCARE RCM INTELLIGENCE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A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E3 OUTPUT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Every day of delay has a dollar cost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21792" y="1965960"/>
            <a:ext cx="5212080" cy="3657600"/>
          </a:xfrm>
          <a:prstGeom prst="roundRect">
            <a:avLst>
              <a:gd name="adj" fmla="val 2000"/>
            </a:avLst>
          </a:prstGeom>
          <a:solidFill>
            <a:srgbClr val="0C1109"/>
          </a:solidFill>
          <a:ln w="12700">
            <a:solidFill>
              <a:srgbClr val="1C2E1C"/>
            </a:solidFill>
            <a:prstDash val="solid"/>
          </a:ln>
        </p:spPr>
      </p:sp>
      <p:pic>
        <p:nvPicPr>
          <p:cNvPr id="5" name="Image 0" descr="icons/dollar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945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22677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A7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TOTAL REVENUE AT RISK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68680" y="269748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AA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$86,000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68680" y="33832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8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across 312 open denials, Q3 billing cycle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868680" y="3840480"/>
            <a:ext cx="4709160" cy="0"/>
          </a:xfrm>
          <a:prstGeom prst="line">
            <a:avLst/>
          </a:prstGeom>
          <a:noFill/>
          <a:ln w="12700">
            <a:solidFill>
              <a:srgbClr val="1C2E1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4023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8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Avg. staff hours lost / month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206240" y="4023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78 hrs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68680" y="4526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8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Avg. denial-to-appeal lag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206240" y="4526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9 days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68680" y="5029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8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Claims past 20-day mark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206240" y="5029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61 claims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080760" y="1965960"/>
            <a:ext cx="5468112" cy="3657600"/>
          </a:xfrm>
          <a:prstGeom prst="roundRect">
            <a:avLst>
              <a:gd name="adj" fmla="val 2000"/>
            </a:avLst>
          </a:prstGeom>
          <a:solidFill>
            <a:srgbClr val="101510"/>
          </a:solidFill>
          <a:ln w="12700">
            <a:solidFill>
              <a:srgbClr val="FF4455"/>
            </a:solidFill>
            <a:prstDash val="solid"/>
          </a:ln>
        </p:spPr>
      </p:sp>
      <p:pic>
        <p:nvPicPr>
          <p:cNvPr id="17" name="Image 1" descr="icons/clock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2194560"/>
            <a:ext cx="411480" cy="4114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830568" y="22677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A7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TIMELY-FILING EXPOSURE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6327648" y="2606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8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30-day appeal window · Blue Cross AZ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327648" y="3200400"/>
            <a:ext cx="128016" cy="128016"/>
          </a:xfrm>
          <a:prstGeom prst="rect">
            <a:avLst/>
          </a:prstGeom>
          <a:solidFill>
            <a:srgbClr val="5A7A5A"/>
          </a:solidFill>
          <a:ln/>
        </p:spPr>
      </p:sp>
      <p:sp>
        <p:nvSpPr>
          <p:cNvPr id="21" name="Text 17"/>
          <p:cNvSpPr/>
          <p:nvPr/>
        </p:nvSpPr>
        <p:spPr>
          <a:xfrm>
            <a:off x="6583680" y="3063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8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Denial received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9829800" y="30632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A7A5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Day 0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6327648" y="3767328"/>
            <a:ext cx="128016" cy="128016"/>
          </a:xfrm>
          <a:prstGeom prst="rect">
            <a:avLst/>
          </a:prstGeom>
          <a:solidFill>
            <a:srgbClr val="FFAA00"/>
          </a:solidFill>
          <a:ln/>
        </p:spPr>
      </p:sp>
      <p:sp>
        <p:nvSpPr>
          <p:cNvPr id="24" name="Text 20"/>
          <p:cNvSpPr/>
          <p:nvPr/>
        </p:nvSpPr>
        <p:spPr>
          <a:xfrm>
            <a:off x="6583680" y="36301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8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Manual queue (current state)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9829800" y="36301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AA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Day 9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6327648" y="4334256"/>
            <a:ext cx="128016" cy="128016"/>
          </a:xfrm>
          <a:prstGeom prst="rect">
            <a:avLst/>
          </a:prstGeom>
          <a:solidFill>
            <a:srgbClr val="FF4455"/>
          </a:solidFill>
          <a:ln/>
        </p:spPr>
      </p:sp>
      <p:sp>
        <p:nvSpPr>
          <p:cNvPr id="27" name="Text 23"/>
          <p:cNvSpPr/>
          <p:nvPr/>
        </p:nvSpPr>
        <p:spPr>
          <a:xfrm>
            <a:off x="6583680" y="419709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8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Filing deadline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9829800" y="419709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4455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Day 30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6327648" y="4901184"/>
            <a:ext cx="128016" cy="128016"/>
          </a:xfrm>
          <a:prstGeom prst="rect">
            <a:avLst/>
          </a:prstGeom>
          <a:solidFill>
            <a:srgbClr val="00FF64"/>
          </a:solidFill>
          <a:ln/>
        </p:spPr>
      </p:sp>
      <p:sp>
        <p:nvSpPr>
          <p:cNvPr id="30" name="Text 26"/>
          <p:cNvSpPr/>
          <p:nvPr/>
        </p:nvSpPr>
        <p:spPr>
          <a:xfrm>
            <a:off x="6583680" y="476402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8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TSM engine appeal drafted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9829800" y="476402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FF64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Day 1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11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A7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TSM HEALTHCARE RCM INTELLIGENCE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855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E4 OUTPUT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 ready-to-file appeal, not a to-do list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21792" y="1874520"/>
            <a:ext cx="5212080" cy="3840480"/>
          </a:xfrm>
          <a:prstGeom prst="roundRect">
            <a:avLst>
              <a:gd name="adj" fmla="val 1905"/>
            </a:avLst>
          </a:prstGeom>
          <a:solidFill>
            <a:srgbClr val="0C1109"/>
          </a:solidFill>
          <a:ln w="12700">
            <a:solidFill>
              <a:srgbClr val="1C2E1C"/>
            </a:solidFill>
            <a:prstDash val="solid"/>
          </a:ln>
        </p:spPr>
      </p:sp>
      <p:pic>
        <p:nvPicPr>
          <p:cNvPr id="5" name="Image 0" descr="icons/clipboard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0312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217627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855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APPEAL PACKAGE — CLAIM #DH-44201</a:t>
            </a:r>
            <a:endParaRPr lang="en-US" sz="900" dirty="0"/>
          </a:p>
        </p:txBody>
      </p:sp>
      <p:pic>
        <p:nvPicPr>
          <p:cNvPr id="7" name="Image 1" descr="icons/check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606040"/>
            <a:ext cx="219456" cy="219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07008" y="257860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8D8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Corrected CPT-to-authorization crosswalk attached</a:t>
            </a:r>
            <a:endParaRPr lang="en-US" sz="1000" dirty="0"/>
          </a:p>
        </p:txBody>
      </p:sp>
      <p:pic>
        <p:nvPicPr>
          <p:cNvPr id="9" name="Image 2" descr="icons/check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172968"/>
            <a:ext cx="219456" cy="2194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07008" y="3145536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8D8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Payer policy citation: BCBS AZ precert bulletin §4.2</a:t>
            </a:r>
            <a:endParaRPr lang="en-US" sz="1000" dirty="0"/>
          </a:p>
        </p:txBody>
      </p:sp>
      <p:pic>
        <p:nvPicPr>
          <p:cNvPr id="11" name="Image 3" descr="icons/check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739896"/>
            <a:ext cx="219456" cy="21945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07008" y="371246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8D8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Original prior-auth confirmation number referenced</a:t>
            </a:r>
            <a:endParaRPr lang="en-US" sz="1000" dirty="0"/>
          </a:p>
        </p:txBody>
      </p:sp>
      <p:pic>
        <p:nvPicPr>
          <p:cNvPr id="13" name="Image 4" descr="icons/check_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306824"/>
            <a:ext cx="219456" cy="21945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207008" y="427939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8D8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Provider attestation letter drafted, ready to sign</a:t>
            </a:r>
            <a:endParaRPr lang="en-US" sz="1000" dirty="0"/>
          </a:p>
        </p:txBody>
      </p:sp>
      <p:pic>
        <p:nvPicPr>
          <p:cNvPr id="15" name="Image 5" descr="icons/check_gree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4873752"/>
            <a:ext cx="219456" cy="219456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207008" y="484632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8D8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Submission target: Blue Cross AZ provider portal</a:t>
            </a:r>
            <a:endParaRPr lang="en-US" sz="1000" dirty="0"/>
          </a:p>
        </p:txBody>
      </p:sp>
      <p:sp>
        <p:nvSpPr>
          <p:cNvPr id="17" name="Shape 9"/>
          <p:cNvSpPr/>
          <p:nvPr/>
        </p:nvSpPr>
        <p:spPr>
          <a:xfrm>
            <a:off x="6080760" y="1874520"/>
            <a:ext cx="5468112" cy="3840480"/>
          </a:xfrm>
          <a:prstGeom prst="roundRect">
            <a:avLst>
              <a:gd name="adj" fmla="val 1905"/>
            </a:avLst>
          </a:prstGeom>
          <a:solidFill>
            <a:srgbClr val="101510"/>
          </a:solidFill>
          <a:ln w="12700">
            <a:solidFill>
              <a:srgbClr val="1C2E1C"/>
            </a:solidFill>
            <a:prstDash val="solid"/>
          </a:ln>
        </p:spPr>
      </p:sp>
      <p:pic>
        <p:nvPicPr>
          <p:cNvPr id="18" name="Image 6" descr="icons/chart_te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7648" y="2103120"/>
            <a:ext cx="384048" cy="384048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6830568" y="2176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E5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WHY THIS MATTERS</a:t>
            </a:r>
            <a:endParaRPr lang="en-US" sz="900" dirty="0"/>
          </a:p>
        </p:txBody>
      </p:sp>
      <p:sp>
        <p:nvSpPr>
          <p:cNvPr id="20" name="Text 11"/>
          <p:cNvSpPr/>
          <p:nvPr/>
        </p:nvSpPr>
        <p:spPr>
          <a:xfrm>
            <a:off x="6327648" y="2606040"/>
            <a:ext cx="4937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8D8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Manually, this appeal takes a billing coordinator 45–90 minutes: pulling the auth record, matching payer policy language, and drafting the letter from scratch.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8D8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E4 produces the same package in under a minute, pre-populated with the specific policy citation and auth reference — the coordinator reviews and submits instead of drafting.</a:t>
            </a:r>
            <a:endParaRPr lang="en-US" sz="1100" dirty="0"/>
          </a:p>
        </p:txBody>
      </p:sp>
      <p:sp>
        <p:nvSpPr>
          <p:cNvPr id="21" name="Text 12"/>
          <p:cNvSpPr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11</a:t>
            </a:r>
            <a:endParaRPr lang="en-US" sz="800" dirty="0"/>
          </a:p>
        </p:txBody>
      </p:sp>
      <p:sp>
        <p:nvSpPr>
          <p:cNvPr id="22" name="Text 13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A7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TSM HEALTHCARE RCM INTELLIGENCE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FF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E5 OUTPUT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right person, the right priority, automatically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21792" y="2103120"/>
            <a:ext cx="10927080" cy="1234440"/>
          </a:xfrm>
          <a:prstGeom prst="roundRect">
            <a:avLst>
              <a:gd name="adj" fmla="val 4444"/>
            </a:avLst>
          </a:prstGeom>
          <a:solidFill>
            <a:srgbClr val="0C1109"/>
          </a:solidFill>
          <a:ln w="12700">
            <a:solidFill>
              <a:srgbClr val="1C2E1C"/>
            </a:solidFill>
            <a:prstDash val="solid"/>
          </a:ln>
        </p:spPr>
      </p:sp>
      <p:pic>
        <p:nvPicPr>
          <p:cNvPr id="5" name="Image 0" descr="icons/users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42316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2286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Billing Coordinator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600200" y="269748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8D8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CO-197 crosswalk fixes — batch of 14 similar claims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9738360" y="2542032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10151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738360" y="254203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A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HIGH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21792" y="3520440"/>
            <a:ext cx="10927080" cy="1234440"/>
          </a:xfrm>
          <a:prstGeom prst="roundRect">
            <a:avLst>
              <a:gd name="adj" fmla="val 4444"/>
            </a:avLst>
          </a:prstGeom>
          <a:solidFill>
            <a:srgbClr val="0C1109"/>
          </a:solidFill>
          <a:ln w="12700">
            <a:solidFill>
              <a:srgbClr val="1C2E1C"/>
            </a:solidFill>
            <a:prstDash val="solid"/>
          </a:ln>
        </p:spPr>
      </p:sp>
      <p:pic>
        <p:nvPicPr>
          <p:cNvPr id="11" name="Image 1" descr="icons/gavel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84048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3703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Appeals Specialist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600200" y="411480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8D8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Claim #DH-44201 — filing deadline in 21 days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9738360" y="3959352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101510"/>
          </a:solidFill>
          <a:ln w="12700">
            <a:solidFill>
              <a:srgbClr val="FF445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738360" y="39593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44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URGENT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21792" y="4937760"/>
            <a:ext cx="10927080" cy="1234440"/>
          </a:xfrm>
          <a:prstGeom prst="roundRect">
            <a:avLst>
              <a:gd name="adj" fmla="val 4444"/>
            </a:avLst>
          </a:prstGeom>
          <a:solidFill>
            <a:srgbClr val="0C1109"/>
          </a:solidFill>
          <a:ln w="12700">
            <a:solidFill>
              <a:srgbClr val="1C2E1C"/>
            </a:solidFill>
            <a:prstDash val="solid"/>
          </a:ln>
        </p:spPr>
      </p:sp>
      <p:pic>
        <p:nvPicPr>
          <p:cNvPr id="17" name="Image 2" descr="icons/shield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257800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00200" y="5120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Office Manager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600200" y="553212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8D8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Payer policy alert — BCBS AZ precert bulletin update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9738360" y="5376672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101510"/>
          </a:solidFill>
          <a:ln w="12700">
            <a:solidFill>
              <a:srgbClr val="00FF64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9738360" y="537667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0FF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REVIEW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11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A7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TSM HEALTHCARE RCM INTELLIGENCE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0C0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ABOVE THE WAR ROOM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One executive view across every office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BNCA rollup synthesizes every engine run across all offices into a single decision queue for leadership.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1792" y="196596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109"/>
          </a:solidFill>
          <a:ln w="12700">
            <a:solidFill>
              <a:srgbClr val="1C2E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1031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64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4/4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04672" y="2743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A7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OFFICES REPORTING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456432" y="196596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109"/>
          </a:solidFill>
          <a:ln w="12700">
            <a:solidFill>
              <a:srgbClr val="1C2E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39312" y="21031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4455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21.6%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639312" y="2743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A7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DENIAL HOTSPOT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291072" y="196596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109"/>
          </a:solidFill>
          <a:ln w="12700">
            <a:solidFill>
              <a:srgbClr val="1C2E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3952" y="21031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AA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$86K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473952" y="2743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A7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REVENUE AT RISK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125712" y="196596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109"/>
          </a:solidFill>
          <a:ln w="12700">
            <a:solidFill>
              <a:srgbClr val="1C2E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08592" y="21031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855F7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78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308592" y="2743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A7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STRATEGIST SCORE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1792" y="3429000"/>
            <a:ext cx="10927080" cy="2194560"/>
          </a:xfrm>
          <a:prstGeom prst="roundRect">
            <a:avLst>
              <a:gd name="adj" fmla="val 3333"/>
            </a:avLst>
          </a:prstGeom>
          <a:solidFill>
            <a:srgbClr val="101510"/>
          </a:solidFill>
          <a:ln w="12700">
            <a:solidFill>
              <a:srgbClr val="F0C040"/>
            </a:solidFill>
            <a:prstDash val="solid"/>
          </a:ln>
        </p:spPr>
      </p:sp>
      <p:pic>
        <p:nvPicPr>
          <p:cNvPr id="18" name="Image 0" descr="icons/bell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657600"/>
            <a:ext cx="365760" cy="36576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371600" y="37307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0C0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BNCA RECOMMENDED ACTION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68680" y="411480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8D8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CO-197 volume is up 34% quarter-over-quarter and concentrated at 2 of 4 offices. Root cause is a front-desk prior-auth intake step that doesn’t confirm final CPT before scheduling. One workflow fix at those two offices would prevent an estimated $44K/quarter in new denials — before appealing a single existing claim.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/ 11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A7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TSM HEALTHCARE RCM INTELLIGENCE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E5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INVESTMENT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ROI in plain language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21792" y="1874520"/>
            <a:ext cx="5212080" cy="3749040"/>
          </a:xfrm>
          <a:prstGeom prst="roundRect">
            <a:avLst>
              <a:gd name="adj" fmla="val 1951"/>
            </a:avLst>
          </a:prstGeom>
          <a:solidFill>
            <a:srgbClr val="0C1109"/>
          </a:solidFill>
          <a:ln w="12700">
            <a:solidFill>
              <a:srgbClr val="1C2E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A7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MANUAL COORDINATION TODAY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D8B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$9,360–$14,000/mo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68680" y="30632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D8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estimated cost of billing-staff time spent on manual denial triage, auth calls, and appeal drafting across 4 offices.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68680" y="4114800"/>
            <a:ext cx="4709160" cy="0"/>
          </a:xfrm>
          <a:prstGeom prst="line">
            <a:avLst/>
          </a:prstGeom>
          <a:noFill/>
          <a:ln w="12700">
            <a:solidFill>
              <a:srgbClr val="1C2E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251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A7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WHAT’S LOST BEHIND IT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68680" y="4553712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44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65% of denials never appealed — revenue already earned, written off by default.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80760" y="1874520"/>
            <a:ext cx="5468112" cy="3749040"/>
          </a:xfrm>
          <a:prstGeom prst="roundRect">
            <a:avLst>
              <a:gd name="adj" fmla="val 1951"/>
            </a:avLst>
          </a:prstGeom>
          <a:solidFill>
            <a:srgbClr val="101510"/>
          </a:solidFill>
          <a:ln w="12700">
            <a:solidFill>
              <a:srgbClr val="00FF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27648" y="21031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FF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TSM HEALTHCARE RCM SUITE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327648" y="242316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FF64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$2,250/month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327648" y="306324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D8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 apps · billing, compliance, financial, grants, insurance, legal, medical, operations, pharmacy, strategist, tax, vendors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327648" y="3886200"/>
            <a:ext cx="4937760" cy="0"/>
          </a:xfrm>
          <a:prstGeom prst="line">
            <a:avLst/>
          </a:prstGeom>
          <a:noFill/>
          <a:ln w="12700">
            <a:solidFill>
              <a:srgbClr val="1C2E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27648" y="40233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0FF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First prevented claim denial covers 1–2 months of subscription cost.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327648" y="47091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B8D8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30-day pilot available — live on your own claim data, no long-term commitment.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/ 11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A7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TSM HEALTHCARE RCM INTELLIGENCE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heart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4440" y="6217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FF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TSM HEALTHCARE RCM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40080" y="192024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At this point, it’s just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how you want to start.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40080" y="397764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0C1109"/>
          </a:solidFill>
          <a:ln w="12700">
            <a:solidFill>
              <a:srgbClr val="1C2E1C"/>
            </a:solidFill>
            <a:prstDash val="solid"/>
          </a:ln>
        </p:spPr>
      </p:sp>
      <p:pic>
        <p:nvPicPr>
          <p:cNvPr id="6" name="Image 1" descr="icons/bolt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233672"/>
            <a:ext cx="411480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8680" y="47548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30-day pilot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868680" y="512064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B8D8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Run the 5-engine pipeline live on your own denied claims, no commitment.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4297680" y="397764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0C1109"/>
          </a:solidFill>
          <a:ln w="12700">
            <a:solidFill>
              <a:srgbClr val="1C2E1C"/>
            </a:solidFill>
            <a:prstDash val="solid"/>
          </a:ln>
        </p:spPr>
      </p:sp>
      <p:pic>
        <p:nvPicPr>
          <p:cNvPr id="10" name="Image 2" descr="icons/chart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4233672"/>
            <a:ext cx="411480" cy="411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526280" y="47548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Live team walkthrough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4526280" y="512064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B8D8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working session with your billing team on their actual denial queue.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7955280" y="397764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0C1109"/>
          </a:solidFill>
          <a:ln w="12700">
            <a:solidFill>
              <a:srgbClr val="1C2E1C"/>
            </a:solidFill>
            <a:prstDash val="solid"/>
          </a:ln>
        </p:spPr>
      </p:sp>
      <p:pic>
        <p:nvPicPr>
          <p:cNvPr id="14" name="Image 3" descr="icons/send_pur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0" y="4233672"/>
            <a:ext cx="411480" cy="4114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183880" y="47548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Straight to onboarding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8183880" y="512064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B8D8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Ready to move now — we can have office #1 live within a week.</a:t>
            </a:r>
            <a:endParaRPr lang="en-US" sz="950" dirty="0"/>
          </a:p>
        </p:txBody>
      </p:sp>
      <p:sp>
        <p:nvSpPr>
          <p:cNvPr id="17" name="Text 11"/>
          <p:cNvSpPr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/ 11</a:t>
            </a:r>
            <a:endParaRPr lang="en-US" sz="800" dirty="0"/>
          </a:p>
        </p:txBody>
      </p:sp>
      <p:sp>
        <p:nvSpPr>
          <p:cNvPr id="18" name="Text 12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A7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TSM HEALTHCARE RCM INTELLIGENCE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2026-08-22T15:22:51Z</dcterms:created>
  <dcterms:modified xsi:type="dcterms:W3CDTF">2026-08-22T15:22:51Z</dcterms:modified>
</cp:coreProperties>
</file>